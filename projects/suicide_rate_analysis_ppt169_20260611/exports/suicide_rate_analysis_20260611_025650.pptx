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안녕하세요. 오늘은 전세계 자살률 데이터를 분석한 결과를 발표하겠습니다. 1985년부터 2016년까지 32년간, 101개국에서 수집된 2만 7천 8백여 건의 데이터를 머신러닝으로 분석했습니다. 결론부터 말씀드리면, 자살 위험은 데이터로 예측 가능합니다. 저희가 만든 모델은 약 80퍼센트의 정확도로 고위험 집단을 가려냈고, 그 과정에서 두 가지 중요한 발견이 있었습니다. 가장 취약한 집단은 75세 이상 남성이라는 것, 그리고 잘사는 나라일수록 오히려 자살률이 높아지는 역설이 존재한다는 것입니다.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발표는 다섯 부분으로 진행됩니다. 먼저 어떤 데이터로 무엇을 분석했는지 개요를 말씀드리고, 두 번째로 데이터를 탐색하면서 발견한 기본 패턴을 보여드립니다. 세 번째는 머신러닝 분석 과정과 결과입니다. 차원 축소, 군집 분석, 그리고 네 가지 분류 모델을 비교했습니다. 네 번째는 이 분석에서 나온 두 가지 핵심 인사이트이고, 마지막으로 이 결과를 어디에 쓸 수 있는지, 그리고 어디까지 믿어야 하는지 한계까지 솔직하게 말씀드리겠습니다.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먼저 데이터 소개입니다. 캐글에 공개된 전세계 자살률 데이터셋으로, 세계보건기구와 유엔개발계획, 세계은행의 자료를 결합한 것입니다. 1985년부터 2016년까지 32년간 101개국, 총 2만 7천 8백 20건의 기록이고, 각 기록에는 국가, 연도, 성별, 연령대, 자살자 수, 인구, GDP, 인간개발지수 같은 12개 변수가 담겨 있습니다. 분석 목표는 명확합니다. 인구 10만 명당 자살률이 중앙값인 5.99명 이상이면 고위험, 미만이면 저위험으로 나누고, 어떤 특성이 이 둘을 가르는지 머신러닝으로 찾아내는 것입니다.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본격적인 모델링 전에 데이터를 탐색하면서 네 가지 큰 그림을 확인했습니다. 첫째, 성별 격차가 매우 큽니다. 남성의 평균 자살률은 10만 명당 약 21명으로 여성의 3.5배입니다. 둘째, 나이가 들수록 위험이 커집니다. 75세 이상이 가장 높고, 5세에서 14세 어린이의 40배에 달합니다. 셋째, 시간 추이를 보면 1995년경 정점을 찍은 뒤 전세계적으로 하락하는 추세입니다. 마지막으로 가장 흥미로운 부분인데, 1인당 GDP와 자살률의 상관계수는 0.06으로 사실상 아무 관계가 없었습니다. 돈이 많은 나라라고 안전한 게 아니라는 첫 번째 신호입니다.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국가별로 보면 패턴이 더 분명해집니다. 평균 자살률 1위는 리투아니아로 10만 명당 40명이 넘고, 러시아, 헝가리, 벨라루스 등 상위권 대부분이 구소련과 동유럽 국가들입니다. 이 나라들의 공통점은 1990년대 사회주의 체제가 무너지면서 사회 안전망이 한꺼번에 붕괴된 경험이 있다는 것입니다. 실제로 이 지역의 자살률 정점은 체제전환기와 정확히 겹칩니다. 국가 간 격차가 40배 이상 벌어진다는 것은, 자살률이 어디서나 비슷한 보편 현상이 아니라 사회 구조의 산물이라는 뜻입니다.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이제 머신러닝 분석 과정을 설명드리겠습니다. 전체 과정은 네 단계입니다. 첫째, 전처리 단계에서 결측치가 70퍼센트나 되는 인간개발지수를 중앙값으로 채우고, 성별과 연령 같은 범주형 변수를 숫자로 바꿔 18개 입력 변수를 만들었습니다. 둘째, PCA라는 차원 축소 기법으로 18차원 데이터를 2차원으로 압축해 눈으로 볼 수 있게 했습니다. 셋째, K-Means 군집 분석으로 정답 라벨 없이 데이터를 세 그룹으로 자동 분류했습니다. 마지막으로 네 가지 분류 알고리즘을 같은 조건에서 학습시켜 성능을 비교했습니다. 앞 단계의 산출물이 다음 단계의 입력이 되는 구조입니다.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왼쪽 그림이 PCA로 데이터를 2차원에 펼친 결과입니다. 파란 점이 저위험, 빨간 점이 고위험인데, 완전히는 아니지만 두 집단이 영역을 달리하며 갈라지는 게 보입니다. 오른쪽은 K-Means 군집 분석 결과입니다. 여기서 중요한 점은, 이 알고리즘은 자살률 정보를 전혀 모른 채 인구통계와 경제지표만으로 그룹을 나눴다는 것입니다. 그런데 나눠진 세 군집의 실제 자살률을 확인해 보니 19.7명, 12.3명, 4.4명으로 최대 4.5배나 차이가 났습니다. 라벨 없이도 위험 수준이 다른 집단이 자연스럽게 분리된다는 것은, 인구 구조 정보만으로 위험 계층화가 가능하다는 강력한 증거입니다.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네 가지 분류 모델을 비교한 결과, 결정 트리가 정확도 80.18퍼센트로 가장 우수했습니다. KNN과 로지스틱 회귀도 78퍼센트 안팎으로 나쁘지 않았지만 결정 트리가 일관되게 앞섰습니다. 오른쪽 혼동행렬을 보면 모델의 강점과 약점이 함께 보입니다. 테스트 데이터 5천 5백여 건 중 고위험을 고위험으로 맞춘 게 2천 2백여 건인 반면, 실제로는 고위험인데 저위험으로 잘못 판단한 경우가 566건 있었습니다. 자살 예방이라는 맥락에서는 위험을 놓치는 이 오류의 비용이 가장 크기 때문에, 향후 개선의 최우선 과제로 남겨두었습니다.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그렇다면 모델은 무엇을 보고 위험을 판단했을까요. 결정 트리의 변수 중요도를 보면 답이 명확합니다. 1위는 5세에서 14세 연령대 여부로 중요도 0.37, 2위는 남성 여부로 0.30입니다. 어린이는 거의 전부 저위험이고 남성은 고위험 쪽으로 쏠리기 때문에, 이 두 변수만으로 분류의 3분의 2가 결정됩니다. 연령과 성별을 합친 인구통계 변수의 중요도가 약 67퍼센트인 반면, GDP와 인간개발지수 같은 경제 변수는 24퍼센트에 그쳤습니다. 다시 말해, 위험을 가르는 것은 그 나라가 얼마나 부유한가가 아니라, 그 사람이 누구인가라는 것입니다.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이 분석에서 가장 또렷하게 드러난 사실 하나를 꼽으라면 바로 이 숫자입니다. 75세 이상 남성의 자살률은 10만 명당 38명. 같은 연령대 여성의 3.8배, 전체 평균의 3배입니다. 흔히 자살 문제라고 하면 청소년이나 청년을 먼저 떠올리지만, 데이터가 가리키는 가장 위험한 집단은 고령의 남성입니다. 은퇴 후의 사회적 고립, 경제력 상실, 그리고 도움을 청하지 않는 성향이 겹친 결과로 해석됩니다. 자살 예방 자원을 어디에 먼저 배치해야 하는지, 데이터는 분명하게 말하고 있습니다. 노인 남성의 정신건강 지원이 최우선 과제입니다.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두 번째 인사이트는 다소 충격적인 역설입니다. 인간개발지수, 즉 소득과 교육과 기대수명을 종합한 발전 수준이 높은 나라일수록 자살률이 오히려 높았습니다. 저개발 국가가 10만 명당 8.5명인 데 비해 중상위는 13명, 고개발 국가는 13.5명으로 단조롭게 증가합니다. 경제가 성장하면 자살이 줄어들 것이라는 통념과 정반대입니다. 발전 과정에서 커지는 경쟁 압력, 공동체 해체, 고립이 영향을 미쳤다고 해석할 수 있습니다. 정책적 함의는 분명합니다. 경제 성장 정책이 정신건강 정책을 대신할 수 없으며, 두 가지는 별도의 트랙으로 함께 가야 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이 분석이 실제로 어떤 가치를 만들 수 있을까요. 기대효과는 세 가지입니다. 80퍼센트 정확도의 모델로 개입이 필요한 고위험 집단을 사전에 식별할 수 있고, 연령과 성별이라는 명확한 기준 덕분에 예방 자원의 타게팅 효율을 크게 높일 수 있으며, 세 개의 위험 군집 구분으로 국가 특성별 맞춤 정책 설계가 가능해집니다. 활용방안으로는 국가와 지자체의 자살예방 정책 우선순위 지표 수립, 고위험 집단 우선의 보건 예산 배분 시뮬레이션, 그리고 노인 남성 대상 정신건강 조기 스크리닝 프로그램의 설계 근거로 쓸 수 있습니다.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다만 이 결과를 쓰실 때 반드시 알아두셔야 할 한계가 있습니다. 가장 중요한 것은 생태학적 오류입니다. 이 데이터는 국가 단위 집계이기 때문에, 집단의 경향을 특정 개인의 위험 예측에 그대로 적용해서는 안 됩니다. 또 인간개발지수는 70퍼센트가 결측이어서 중앙값으로 채웠는데, 이 때문에 발전의 역설 해석은 보수적으로 접근할 필요가 있습니다. 데이터가 2016년까지라 코로나 이후 변화가 반영되지 않았고, 나라마다 자살 집계 기준이 달라 과소보고 가능성도 있습니다. 마지막으로 이것은 매우 민감한 주제입니다. 특정 집단에 낙인을 찍는 방식의 해석과 공개는 피해야 하며, 활용 시 윤리 검토가 반드시 필요합니다.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정리하겠습니다. 32년, 101개국의 데이터를 분석한 결과, 자살 위험은 80퍼센트의 정확도로 예측 가능했고, 위험을 가르는 핵심은 경제력이 아니라 연령과 성별이었습니다. 이에 따라 세 가지를 제언합니다. 첫째, 전체 평균의 3배 위험에 노출된 75세 이상 남성을 위한 자살 예방 프로그램을 최우선으로 강화해야 합니다. 둘째, 경제 성장이 정신건강을 대신하지 못한다는 역설을 받아들여, 성장 정책과 정신건강 지원을 별도의 정책 트랙으로 운영해야 합니다. 셋째, 본 분석의 위험 군집 구분을 국가별 맞춤 자살 예방 지표 수립에 활용하시기를 제안합니다. 데이터는 이미 어디에 자원을 보내야 하는지 알고 있습니다. 이상으로 발표를 마치겠습니다.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1b0fda441eaf15b.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feac554eb98aaac.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5246570a62a89c4.png"/>
  <Relationship Id="rId3" Type="http://schemas.openxmlformats.org/officeDocument/2006/relationships/image" Target="../media/image_be70f46a72fc22c2.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7fc1098e4eb03fb.png"/>
  <Relationship Id="rId3" Type="http://schemas.openxmlformats.org/officeDocument/2006/relationships/image" Target="../media/image_a63239ef4631657e.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ab7dfecbb8eb65a.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7e24389f9f971f3.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1E3A5F"/>
                </a:gs>
                <a:gs pos="100000">
                  <a:srgbClr val="16293F"/>
                </a:gs>
              </a:gsLst>
              <a:lin ang="2700000" scaled="1"/>
            </a:gradFill>
            <a:ln>
              <a:noFill/>
            </a:ln>
          </p:spPr>
        </p:sp>
        <p:sp>
          <p:nvSpPr>
            <p:cNvPr id="3" name="Rectangle 3"/>
            <p:cNvSpPr/>
            <p:nvPr/>
          </p:nvSpPr>
          <p:spPr>
            <a:xfrm>
              <a:off x="0" y="0"/>
              <a:ext cx="12192000" cy="6858000"/>
            </a:xfrm>
            <a:prstGeom prst="rect">
              <a:avLst/>
            </a:prstGeom>
            <a:gradFill>
              <a:gsLst>
                <a:gs pos="0">
                  <a:srgbClr val="457B9D">
                    <a:alpha val="35000"/>
                  </a:srgbClr>
                </a:gs>
                <a:gs pos="100000">
                  <a:srgbClr val="457B9D">
                    <a:alpha val="0"/>
                  </a:srgbClr>
                </a:gs>
              </a:gsLst>
              <a:path path="circle">
                <a:fillToRect l="50000" t="50000" r="50000" b="50000"/>
              </a:path>
            </a:gradFill>
            <a:ln>
              <a:noFill/>
            </a:ln>
          </p:spPr>
        </p:sp>
      </p:grpSp>
      <p:grpSp>
        <p:nvGrpSpPr>
          <p:cNvPr id="10" name="Group 10"/>
          <p:cNvGrpSpPr/>
          <p:nvPr/>
        </p:nvGrpSpPr>
        <p:grpSpPr>
          <a:xfrm>
            <a:off x="-571500" y="-666750"/>
            <a:ext cx="13144500" cy="8572500"/>
            <a:chOff x="-571500" y="-666750"/>
            <a:chExt cx="13144500" cy="8572500"/>
          </a:xfrm>
        </p:grpSpPr>
        <p:sp>
          <p:nvSpPr>
            <p:cNvPr id="5" name="Ellipse 5"/>
            <p:cNvSpPr/>
            <p:nvPr/>
          </p:nvSpPr>
          <p:spPr>
            <a:xfrm>
              <a:off x="8763000" y="-666750"/>
              <a:ext cx="3810000" cy="3810000"/>
            </a:xfrm>
            <a:prstGeom prst="ellipse">
              <a:avLst/>
            </a:prstGeom>
            <a:solidFill>
              <a:srgbClr val="457B9D">
                <a:alpha val="10000"/>
              </a:srgbClr>
            </a:solidFill>
            <a:ln>
              <a:noFill/>
            </a:ln>
          </p:spPr>
        </p:sp>
        <p:sp>
          <p:nvSpPr>
            <p:cNvPr id="6" name="Ellipse 6"/>
            <p:cNvSpPr/>
            <p:nvPr/>
          </p:nvSpPr>
          <p:spPr>
            <a:xfrm>
              <a:off x="9429750" y="0"/>
              <a:ext cx="2476500" cy="2476500"/>
            </a:xfrm>
            <a:prstGeom prst="ellipse">
              <a:avLst/>
            </a:prstGeom>
            <a:solidFill>
              <a:srgbClr val="457B9D">
                <a:alpha val="10000"/>
              </a:srgbClr>
            </a:solidFill>
            <a:ln>
              <a:noFill/>
            </a:ln>
          </p:spPr>
        </p:sp>
        <p:sp>
          <p:nvSpPr>
            <p:cNvPr id="7" name="Ellipse 7"/>
            <p:cNvSpPr/>
            <p:nvPr/>
          </p:nvSpPr>
          <p:spPr>
            <a:xfrm>
              <a:off x="-571500" y="4476750"/>
              <a:ext cx="3429000" cy="3429000"/>
            </a:xfrm>
            <a:prstGeom prst="ellipse">
              <a:avLst/>
            </a:prstGeom>
            <a:solidFill>
              <a:srgbClr val="E63946">
                <a:alpha val="6000"/>
              </a:srgbClr>
            </a:solidFill>
            <a:ln>
              <a:noFill/>
            </a:ln>
          </p:spPr>
        </p:sp>
        <p:sp>
          <p:nvSpPr>
            <p:cNvPr id="8" name="Ellipse 8"/>
            <p:cNvSpPr/>
            <p:nvPr/>
          </p:nvSpPr>
          <p:spPr>
            <a:xfrm>
              <a:off x="857250" y="4857750"/>
              <a:ext cx="1714500" cy="1714500"/>
            </a:xfrm>
            <a:prstGeom prst="ellipse">
              <a:avLst/>
            </a:prstGeom>
            <a:solidFill>
              <a:srgbClr val="457B9D">
                <a:alpha val="8000"/>
              </a:srgbClr>
            </a:solidFill>
            <a:ln>
              <a:noFill/>
            </a:ln>
          </p:spPr>
        </p:sp>
        <p:sp>
          <p:nvSpPr>
            <p:cNvPr id="9" name="Line 9"/>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FFFFFF">
                  <a:alpha val="8000"/>
                </a:srgbClr>
              </a:solidFill>
            </a:ln>
          </p:spPr>
        </p:sp>
      </p:grpSp>
      <p:grpSp>
        <p:nvGrpSpPr>
          <p:cNvPr id="13" name="Group 13"/>
          <p:cNvGrpSpPr/>
          <p:nvPr/>
        </p:nvGrpSpPr>
        <p:grpSpPr>
          <a:xfrm>
            <a:off x="762000" y="1714500"/>
            <a:ext cx="2667000" cy="342900"/>
            <a:chOff x="762000" y="1714500"/>
            <a:chExt cx="2667000" cy="342900"/>
          </a:xfrm>
        </p:grpSpPr>
        <p:sp>
          <p:nvSpPr>
            <p:cNvPr id="11" name="Rectangle 11"/>
            <p:cNvSpPr/>
            <p:nvPr/>
          </p:nvSpPr>
          <p:spPr>
            <a:xfrm>
              <a:off x="762000" y="1714500"/>
              <a:ext cx="2667000" cy="342900"/>
            </a:xfrm>
            <a:prstGeom prst="roundRect">
              <a:avLst>
                <a:gd name="adj" fmla="val 50000"/>
              </a:avLst>
            </a:prstGeom>
            <a:solidFill>
              <a:srgbClr val="E63946">
                <a:alpha val="16000"/>
              </a:srgbClr>
            </a:solidFill>
            <a:ln>
              <a:noFill/>
            </a:ln>
          </p:spPr>
        </p:sp>
        <p:sp>
          <p:nvSpPr>
            <p:cNvPr id="12" name="TextBox 12"/>
            <p:cNvSpPr txBox="1"/>
            <p:nvPr/>
          </p:nvSpPr>
          <p:spPr>
            <a:xfrm>
              <a:off x="1214854" y="1821656"/>
              <a:ext cx="1761292" cy="228600"/>
            </a:xfrm>
            <a:prstGeom prst="rect">
              <a:avLst/>
            </a:prstGeom>
            <a:noFill/>
            <a:ln>
              <a:noFill/>
            </a:ln>
          </p:spPr>
          <p:txBody>
            <a:bodyPr wrap="none" lIns="0" tIns="0" rIns="0" bIns="0" anchor="t" anchorCtr="0">
              <a:spAutoFit/>
            </a:bodyPr>
            <a:lstStyle/>
            <a:p>
              <a:pPr algn="ctr"/>
              <a:r>
                <a:rPr lang="zh-CN" sz="1125" b="1" dirty="0">
                  <a:solidFill>
                    <a:srgbClr val="F4A7AE"/>
                  </a:solidFill>
                  <a:latin typeface="Apple SD Gothic Neo"/>
                  <a:ea typeface="Malgun Gothic"/>
                  <a:cs typeface="Apple SD Gothic Neo"/>
                </a:rPr>
                <a:t>DATA ANALYSIS PROJECT</a:t>
              </a:r>
            </a:p>
          </p:txBody>
        </p:sp>
      </p:grpSp>
      <p:grpSp>
        <p:nvGrpSpPr>
          <p:cNvPr id="17" name="Group 17"/>
          <p:cNvGrpSpPr/>
          <p:nvPr/>
        </p:nvGrpSpPr>
        <p:grpSpPr>
          <a:xfrm>
            <a:off x="708660" y="2404110"/>
            <a:ext cx="4193791" cy="1863090"/>
            <a:chOff x="708660" y="2404110"/>
            <a:chExt cx="4193791" cy="1863090"/>
          </a:xfrm>
        </p:grpSpPr>
        <p:sp>
          <p:nvSpPr>
            <p:cNvPr id="14" name="TextBox 14"/>
            <p:cNvSpPr txBox="1"/>
            <p:nvPr/>
          </p:nvSpPr>
          <p:spPr>
            <a:xfrm>
              <a:off x="708660" y="2404110"/>
              <a:ext cx="4193791" cy="853440"/>
            </a:xfrm>
            <a:prstGeom prst="rect">
              <a:avLst/>
            </a:prstGeom>
            <a:noFill/>
            <a:ln>
              <a:noFill/>
            </a:ln>
          </p:spPr>
          <p:txBody>
            <a:bodyPr wrap="none" lIns="0" tIns="0" rIns="0" bIns="0" anchor="t" anchorCtr="0">
              <a:spAutoFit/>
            </a:bodyPr>
            <a:lstStyle/>
            <a:p>
              <a:pPr algn="l"/>
              <a:r>
                <a:rPr lang="zh-CN" sz="4200" b="1" dirty="0">
                  <a:solidFill>
                    <a:srgbClr val="FFFFFF"/>
                  </a:solidFill>
                  <a:latin typeface="Apple SD Gothic Neo"/>
                  <a:ea typeface="Malgun Gothic"/>
                  <a:cs typeface="Apple SD Gothic Neo"/>
                </a:rPr>
                <a:t>전세계 자살률 데이터 분석</a:t>
              </a:r>
            </a:p>
          </p:txBody>
        </p:sp>
        <p:sp>
          <p:nvSpPr>
            <p:cNvPr id="15" name="Rectangle 15"/>
            <p:cNvSpPr/>
            <p:nvPr/>
          </p:nvSpPr>
          <p:spPr>
            <a:xfrm>
              <a:off x="800100" y="3143250"/>
              <a:ext cx="1714500" cy="57150"/>
            </a:xfrm>
            <a:prstGeom prst="roundRect">
              <a:avLst>
                <a:gd name="adj" fmla="val 50000"/>
              </a:avLst>
            </a:prstGeom>
            <a:gradFill>
              <a:gsLst>
                <a:gs pos="0">
                  <a:srgbClr val="E63946"/>
                </a:gs>
                <a:gs pos="100000">
                  <a:srgbClr val="457B9D"/>
                </a:gs>
              </a:gsLst>
              <a:lin ang="0" scaled="1"/>
            </a:gradFill>
            <a:ln>
              <a:noFill/>
            </a:ln>
          </p:spPr>
        </p:sp>
        <p:sp>
          <p:nvSpPr>
            <p:cNvPr id="16" name="TextBox 16"/>
            <p:cNvSpPr txBox="1"/>
            <p:nvPr/>
          </p:nvSpPr>
          <p:spPr>
            <a:xfrm>
              <a:off x="739140" y="3539490"/>
              <a:ext cx="3646170" cy="727710"/>
            </a:xfrm>
            <a:prstGeom prst="rect">
              <a:avLst/>
            </a:prstGeom>
            <a:noFill/>
            <a:ln>
              <a:noFill/>
            </a:ln>
          </p:spPr>
          <p:txBody>
            <a:bodyPr wrap="square" lIns="0" tIns="0" rIns="0" bIns="0" anchor="t" anchorCtr="0"/>
            <a:lstStyle/>
            <a:p>
              <a:pPr algn="l">
                <a:lnSpc>
                  <a:spcPts val="2850"/>
                </a:lnSpc>
              </a:pPr>
              <a:r>
                <a:rPr lang="zh-CN" sz="1800" dirty="0">
                  <a:solidFill>
                    <a:srgbClr val="B9C6D6"/>
                  </a:solidFill>
                  <a:latin typeface="Apple SD Gothic Neo"/>
                  <a:ea typeface="Malgun Gothic"/>
                  <a:cs typeface="Apple SD Gothic Neo"/>
                </a:rPr>
                <a:t xml:space="preserve">1985–2016, </a:t>
              </a:r>
              <a:r>
                <a:rPr lang="zh-CN" sz="1800" b="1" dirty="0">
                  <a:solidFill>
                    <a:srgbClr val="FFFFFF"/>
                  </a:solidFill>
                  <a:latin typeface="Apple SD Gothic Neo"/>
                  <a:ea typeface="Malgun Gothic"/>
                  <a:cs typeface="Apple SD Gothic Neo"/>
                </a:rPr>
                <a:t>101개국 27,820건</a:t>
              </a:r>
              <a:r>
                <a:rPr lang="zh-CN" sz="1800" dirty="0">
                  <a:solidFill>
                    <a:srgbClr val="B9C6D6"/>
                  </a:solidFill>
                  <a:latin typeface="Apple SD Gothic Neo"/>
                  <a:ea typeface="Malgun Gothic"/>
                  <a:cs typeface="Apple SD Gothic Neo"/>
                </a:rPr>
                <a:t xml:space="preserve">의 데이터가 </a:t>
              </a:r>
              <a:r>
                <a:rPr lang="zh-CN" sz="1800" dirty="0">
                  <a:solidFill>
                    <a:srgbClr val="B9C6D6"/>
                  </a:solidFill>
                  <a:latin typeface="Apple SD Gothic Neo"/>
                  <a:ea typeface="Malgun Gothic"/>
                  <a:cs typeface="Apple SD Gothic Neo"/>
                </a:rPr>
                <a:t>말해주는 위험의 패턴</a:t>
              </a:r>
            </a:p>
          </p:txBody>
        </p:sp>
      </p:grpSp>
      <p:grpSp>
        <p:nvGrpSpPr>
          <p:cNvPr id="26" name="Group 26"/>
          <p:cNvGrpSpPr/>
          <p:nvPr/>
        </p:nvGrpSpPr>
        <p:grpSpPr>
          <a:xfrm>
            <a:off x="723900" y="4572000"/>
            <a:ext cx="7453360" cy="904875"/>
            <a:chOff x="723900" y="4572000"/>
            <a:chExt cx="7453360" cy="904875"/>
          </a:xfrm>
        </p:grpSpPr>
        <p:sp>
          <p:nvSpPr>
            <p:cNvPr id="18" name="TextBox 18"/>
            <p:cNvSpPr txBox="1"/>
            <p:nvPr/>
          </p:nvSpPr>
          <p:spPr>
            <a:xfrm>
              <a:off x="747712" y="4641056"/>
              <a:ext cx="861179" cy="228600"/>
            </a:xfrm>
            <a:prstGeom prst="rect">
              <a:avLst/>
            </a:prstGeom>
            <a:noFill/>
            <a:ln>
              <a:noFill/>
            </a:ln>
          </p:spPr>
          <p:txBody>
            <a:bodyPr wrap="none" lIns="0" tIns="0" rIns="0" bIns="0" anchor="t" anchorCtr="0">
              <a:spAutoFit/>
            </a:bodyPr>
            <a:lstStyle/>
            <a:p>
              <a:pPr algn="l"/>
              <a:r>
                <a:rPr lang="zh-CN" sz="1125" dirty="0">
                  <a:solidFill>
                    <a:srgbClr val="8DA3BB"/>
                  </a:solidFill>
                  <a:latin typeface="Apple SD Gothic Neo"/>
                  <a:ea typeface="Malgun Gothic"/>
                  <a:cs typeface="Apple SD Gothic Neo"/>
                </a:rPr>
                <a:t>머신러닝 분류 정확도</a:t>
              </a:r>
            </a:p>
          </p:txBody>
        </p:sp>
        <p:sp>
          <p:nvSpPr>
            <p:cNvPr id="19" name="TextBox 19"/>
            <p:cNvSpPr txBox="1"/>
            <p:nvPr/>
          </p:nvSpPr>
          <p:spPr>
            <a:xfrm>
              <a:off x="723900" y="4867275"/>
              <a:ext cx="1546384" cy="609600"/>
            </a:xfrm>
            <a:prstGeom prst="rect">
              <a:avLst/>
            </a:prstGeom>
            <a:noFill/>
            <a:ln>
              <a:noFill/>
            </a:ln>
          </p:spPr>
          <p:txBody>
            <a:bodyPr wrap="none" lIns="0" tIns="0" rIns="0" bIns="0" anchor="t" anchorCtr="0">
              <a:spAutoFit/>
            </a:bodyPr>
            <a:lstStyle/>
            <a:p>
              <a:pPr algn="l"/>
              <a:r>
                <a:rPr lang="zh-CN" sz="3000" b="1" dirty="0">
                  <a:solidFill>
                    <a:srgbClr val="E63946"/>
                  </a:solidFill>
                  <a:latin typeface="Apple SD Gothic Neo"/>
                  <a:ea typeface="Malgun Gothic"/>
                  <a:cs typeface="Apple SD Gothic Neo"/>
                </a:rPr>
                <a:t>80.18%</a:t>
              </a:r>
            </a:p>
          </p:txBody>
        </p:sp>
        <p:sp>
          <p:nvSpPr>
            <p:cNvPr id="20" name="Line 20"/>
            <p:cNvSpPr/>
            <p:nvPr/>
          </p:nvSpPr>
          <p:spPr>
            <a:xfrm>
              <a:off x="3048000" y="4572000"/>
              <a:ext cx="9525" cy="666750"/>
            </a:xfrm>
            <a:custGeom>
              <a:avLst/>
              <a:gdLst/>
              <a:ahLst/>
              <a:cxnLst/>
              <a:rect l="l" t="t" r="r" b="b"/>
              <a:pathLst>
                <a:path w="9525" h="666750">
                  <a:moveTo>
                    <a:pt x="0" y="0"/>
                  </a:moveTo>
                  <a:lnTo>
                    <a:pt x="0" y="666750"/>
                  </a:lnTo>
                </a:path>
              </a:pathLst>
            </a:custGeom>
            <a:noFill/>
            <a:ln w="9525">
              <a:solidFill>
                <a:srgbClr val="FFFFFF">
                  <a:alpha val="15000"/>
                </a:srgbClr>
              </a:solidFill>
            </a:ln>
          </p:spPr>
        </p:sp>
        <p:sp>
          <p:nvSpPr>
            <p:cNvPr id="21" name="TextBox 21"/>
            <p:cNvSpPr txBox="1"/>
            <p:nvPr/>
          </p:nvSpPr>
          <p:spPr>
            <a:xfrm>
              <a:off x="3414712" y="4641056"/>
              <a:ext cx="696158" cy="228600"/>
            </a:xfrm>
            <a:prstGeom prst="rect">
              <a:avLst/>
            </a:prstGeom>
            <a:noFill/>
            <a:ln>
              <a:noFill/>
            </a:ln>
          </p:spPr>
          <p:txBody>
            <a:bodyPr wrap="none" lIns="0" tIns="0" rIns="0" bIns="0" anchor="t" anchorCtr="0">
              <a:spAutoFit/>
            </a:bodyPr>
            <a:lstStyle/>
            <a:p>
              <a:pPr algn="l"/>
              <a:r>
                <a:rPr lang="zh-CN" sz="1125" dirty="0">
                  <a:solidFill>
                    <a:srgbClr val="8DA3BB"/>
                  </a:solidFill>
                  <a:latin typeface="Apple SD Gothic Neo"/>
                  <a:ea typeface="Malgun Gothic"/>
                  <a:cs typeface="Apple SD Gothic Neo"/>
                </a:rPr>
                <a:t>가장 취약한 집단</a:t>
              </a:r>
            </a:p>
          </p:txBody>
        </p:sp>
        <p:sp>
          <p:nvSpPr>
            <p:cNvPr id="22" name="TextBox 22"/>
            <p:cNvSpPr txBox="1"/>
            <p:nvPr/>
          </p:nvSpPr>
          <p:spPr>
            <a:xfrm>
              <a:off x="3390900" y="4867275"/>
              <a:ext cx="1588389"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pple SD Gothic Neo"/>
                  <a:ea typeface="Malgun Gothic"/>
                  <a:cs typeface="Apple SD Gothic Neo"/>
                </a:rPr>
                <a:t>75세+ 남성</a:t>
              </a:r>
            </a:p>
          </p:txBody>
        </p:sp>
        <p:sp>
          <p:nvSpPr>
            <p:cNvPr id="23" name="Line 23"/>
            <p:cNvSpPr/>
            <p:nvPr/>
          </p:nvSpPr>
          <p:spPr>
            <a:xfrm>
              <a:off x="6477000" y="4572000"/>
              <a:ext cx="9525" cy="666750"/>
            </a:xfrm>
            <a:custGeom>
              <a:avLst/>
              <a:gdLst/>
              <a:ahLst/>
              <a:cxnLst/>
              <a:rect l="l" t="t" r="r" b="b"/>
              <a:pathLst>
                <a:path w="9525" h="666750">
                  <a:moveTo>
                    <a:pt x="0" y="0"/>
                  </a:moveTo>
                  <a:lnTo>
                    <a:pt x="0" y="666750"/>
                  </a:lnTo>
                </a:path>
              </a:pathLst>
            </a:custGeom>
            <a:noFill/>
            <a:ln w="9525">
              <a:solidFill>
                <a:srgbClr val="FFFFFF">
                  <a:alpha val="15000"/>
                </a:srgbClr>
              </a:solidFill>
            </a:ln>
          </p:spPr>
        </p:sp>
        <p:sp>
          <p:nvSpPr>
            <p:cNvPr id="24" name="TextBox 24"/>
            <p:cNvSpPr txBox="1"/>
            <p:nvPr/>
          </p:nvSpPr>
          <p:spPr>
            <a:xfrm>
              <a:off x="6843712" y="4641056"/>
              <a:ext cx="403622" cy="228600"/>
            </a:xfrm>
            <a:prstGeom prst="rect">
              <a:avLst/>
            </a:prstGeom>
            <a:noFill/>
            <a:ln>
              <a:noFill/>
            </a:ln>
          </p:spPr>
          <p:txBody>
            <a:bodyPr wrap="none" lIns="0" tIns="0" rIns="0" bIns="0" anchor="t" anchorCtr="0">
              <a:spAutoFit/>
            </a:bodyPr>
            <a:lstStyle/>
            <a:p>
              <a:pPr algn="l"/>
              <a:r>
                <a:rPr lang="zh-CN" sz="1125" dirty="0">
                  <a:solidFill>
                    <a:srgbClr val="8DA3BB"/>
                  </a:solidFill>
                  <a:latin typeface="Apple SD Gothic Neo"/>
                  <a:ea typeface="Malgun Gothic"/>
                  <a:cs typeface="Apple SD Gothic Neo"/>
                </a:rPr>
                <a:t>핵심 발견</a:t>
              </a:r>
            </a:p>
          </p:txBody>
        </p:sp>
        <p:sp>
          <p:nvSpPr>
            <p:cNvPr id="25" name="TextBox 25"/>
            <p:cNvSpPr txBox="1"/>
            <p:nvPr/>
          </p:nvSpPr>
          <p:spPr>
            <a:xfrm>
              <a:off x="6819900" y="4867275"/>
              <a:ext cx="135736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pple SD Gothic Neo"/>
                  <a:ea typeface="Malgun Gothic"/>
                  <a:cs typeface="Apple SD Gothic Neo"/>
                </a:rPr>
                <a:t>발전의 역설</a:t>
              </a:r>
            </a:p>
          </p:txBody>
        </p:sp>
      </p:grpSp>
      <p:grpSp>
        <p:nvGrpSpPr>
          <p:cNvPr id="30" name="Group 30"/>
          <p:cNvGrpSpPr/>
          <p:nvPr/>
        </p:nvGrpSpPr>
        <p:grpSpPr>
          <a:xfrm>
            <a:off x="748665" y="6000750"/>
            <a:ext cx="10694670" cy="461962"/>
            <a:chOff x="748665" y="6000750"/>
            <a:chExt cx="10694670" cy="461962"/>
          </a:xfrm>
        </p:grpSpPr>
        <p:sp>
          <p:nvSpPr>
            <p:cNvPr id="27" name="Line 27"/>
            <p:cNvSpPr/>
            <p:nvPr/>
          </p:nvSpPr>
          <p:spPr>
            <a:xfrm>
              <a:off x="762000" y="6000750"/>
              <a:ext cx="10668000" cy="9525"/>
            </a:xfrm>
            <a:custGeom>
              <a:avLst/>
              <a:gdLst/>
              <a:ahLst/>
              <a:cxnLst/>
              <a:rect l="l" t="t" r="r" b="b"/>
              <a:pathLst>
                <a:path w="10668000" h="9525">
                  <a:moveTo>
                    <a:pt x="0" y="0"/>
                  </a:moveTo>
                  <a:lnTo>
                    <a:pt x="10668000" y="0"/>
                  </a:lnTo>
                </a:path>
              </a:pathLst>
            </a:custGeom>
            <a:noFill/>
            <a:ln w="9525">
              <a:solidFill>
                <a:srgbClr val="FFFFFF">
                  <a:alpha val="12000"/>
                </a:srgbClr>
              </a:solidFill>
            </a:ln>
          </p:spPr>
        </p:sp>
        <p:sp>
          <p:nvSpPr>
            <p:cNvPr id="28" name="TextBox 28"/>
            <p:cNvSpPr txBox="1"/>
            <p:nvPr/>
          </p:nvSpPr>
          <p:spPr>
            <a:xfrm>
              <a:off x="748665" y="6249352"/>
              <a:ext cx="1699879" cy="213360"/>
            </a:xfrm>
            <a:prstGeom prst="rect">
              <a:avLst/>
            </a:prstGeom>
            <a:noFill/>
            <a:ln>
              <a:noFill/>
            </a:ln>
          </p:spPr>
          <p:txBody>
            <a:bodyPr wrap="none" lIns="0" tIns="0" rIns="0" bIns="0" anchor="t" anchorCtr="0">
              <a:spAutoFit/>
            </a:bodyPr>
            <a:lstStyle/>
            <a:p>
              <a:pPr algn="l"/>
              <a:r>
                <a:rPr lang="zh-CN" sz="1050" dirty="0">
                  <a:solidFill>
                    <a:srgbClr val="8DA3BB"/>
                  </a:solidFill>
                  <a:latin typeface="Apple SD Gothic Neo"/>
                  <a:ea typeface="Malgun Gothic"/>
                  <a:cs typeface="Apple SD Gothic Neo"/>
                </a:rPr>
                <a:t>데이터 분석 프로젝트 발표 · 2026.06</a:t>
              </a:r>
            </a:p>
          </p:txBody>
        </p:sp>
        <p:sp>
          <p:nvSpPr>
            <p:cNvPr id="29" name="TextBox 29"/>
            <p:cNvSpPr txBox="1"/>
            <p:nvPr/>
          </p:nvSpPr>
          <p:spPr>
            <a:xfrm>
              <a:off x="7902226" y="6249352"/>
              <a:ext cx="3541109" cy="213360"/>
            </a:xfrm>
            <a:prstGeom prst="rect">
              <a:avLst/>
            </a:prstGeom>
            <a:noFill/>
            <a:ln>
              <a:noFill/>
            </a:ln>
          </p:spPr>
          <p:txBody>
            <a:bodyPr wrap="none" lIns="0" tIns="0" rIns="0" bIns="0" anchor="t" anchorCtr="0">
              <a:spAutoFit/>
            </a:bodyPr>
            <a:lstStyle/>
            <a:p>
              <a:pPr algn="r"/>
              <a:r>
                <a:rPr lang="zh-CN" sz="1050" dirty="0">
                  <a:solidFill>
                    <a:srgbClr val="8DA3BB"/>
                  </a:solidFill>
                  <a:latin typeface="Apple SD Gothic Neo"/>
                  <a:ea typeface="Malgun Gothic"/>
                  <a:cs typeface="Apple SD Gothic Neo"/>
                </a:rPr>
                <a:t>Source: Suicide Rates Overview 1985–2016 (Kaggle)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6"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circle(in)">
                                      <p:cBhvr>
                                        <p:cTn id="1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762000"/>
            <a:ext cx="12763500" cy="7620000"/>
            <a:chOff x="0" y="-762000"/>
            <a:chExt cx="12763500" cy="7620000"/>
          </a:xfrm>
        </p:grpSpPr>
        <p:sp>
          <p:nvSpPr>
            <p:cNvPr id="2" name="Rectangle 2"/>
            <p:cNvSpPr/>
            <p:nvPr/>
          </p:nvSpPr>
          <p:spPr>
            <a:xfrm>
              <a:off x="0" y="0"/>
              <a:ext cx="12192000" cy="6858000"/>
            </a:xfrm>
            <a:prstGeom prst="rect">
              <a:avLst/>
            </a:prstGeom>
            <a:solidFill>
              <a:srgbClr val="F5F7FA"/>
            </a:solidFill>
            <a:ln>
              <a:noFill/>
            </a:ln>
          </p:spPr>
        </p:sp>
        <p:sp>
          <p:nvSpPr>
            <p:cNvPr id="3" name="Ellipse 3"/>
            <p:cNvSpPr/>
            <p:nvPr/>
          </p:nvSpPr>
          <p:spPr>
            <a:xfrm>
              <a:off x="9715500" y="-762000"/>
              <a:ext cx="3048000" cy="3048000"/>
            </a:xfrm>
            <a:prstGeom prst="ellipse">
              <a:avLst/>
            </a:prstGeom>
            <a:solidFill>
              <a:srgbClr val="457B9D">
                <a:alpha val="6000"/>
              </a:srgbClr>
            </a:solidFill>
            <a:ln>
              <a:noFill/>
            </a:ln>
          </p:spPr>
        </p:sp>
      </p:grpSp>
      <p:grpSp>
        <p:nvGrpSpPr>
          <p:cNvPr id="8" name="Group 8"/>
          <p:cNvGrpSpPr/>
          <p:nvPr/>
        </p:nvGrpSpPr>
        <p:grpSpPr>
          <a:xfrm>
            <a:off x="762000" y="533400"/>
            <a:ext cx="1849834" cy="709612"/>
            <a:chOff x="762000" y="533400"/>
            <a:chExt cx="1849834" cy="709612"/>
          </a:xfrm>
        </p:grpSpPr>
        <p:sp>
          <p:nvSpPr>
            <p:cNvPr id="5" name="Rectangle 5"/>
            <p:cNvSpPr/>
            <p:nvPr/>
          </p:nvSpPr>
          <p:spPr>
            <a:xfrm>
              <a:off x="762000" y="533400"/>
              <a:ext cx="47625" cy="609600"/>
            </a:xfrm>
            <a:prstGeom prst="roundRect">
              <a:avLst>
                <a:gd name="adj" fmla="val 50000"/>
              </a:avLst>
            </a:prstGeom>
            <a:solidFill>
              <a:srgbClr val="E63946"/>
            </a:solidFill>
            <a:ln>
              <a:noFill/>
            </a:ln>
          </p:spPr>
        </p:sp>
        <p:sp>
          <p:nvSpPr>
            <p:cNvPr id="6" name="TextBox 6"/>
            <p:cNvSpPr txBox="1"/>
            <p:nvPr/>
          </p:nvSpPr>
          <p:spPr>
            <a:xfrm>
              <a:off x="958215" y="601028"/>
              <a:ext cx="1653619" cy="518160"/>
            </a:xfrm>
            <a:prstGeom prst="rect">
              <a:avLst/>
            </a:prstGeom>
            <a:noFill/>
            <a:ln>
              <a:noFill/>
            </a:ln>
          </p:spPr>
          <p:txBody>
            <a:bodyPr wrap="none" lIns="0" tIns="0" rIns="0" bIns="0" anchor="t" anchorCtr="0">
              <a:spAutoFit/>
            </a:bodyPr>
            <a:lstStyle/>
            <a:p>
              <a:pPr algn="l"/>
              <a:r>
                <a:rPr lang="zh-CN" sz="2550" b="1" dirty="0">
                  <a:solidFill>
                    <a:srgbClr val="1E3A5F"/>
                  </a:solidFill>
                  <a:latin typeface="Apple SD Gothic Neo"/>
                  <a:ea typeface="Malgun Gothic"/>
                  <a:cs typeface="Apple SD Gothic Neo"/>
                </a:rPr>
                <a:t>오늘 발표의 흐름</a:t>
              </a:r>
            </a:p>
          </p:txBody>
        </p:sp>
        <p:sp>
          <p:nvSpPr>
            <p:cNvPr id="7" name="TextBox 7"/>
            <p:cNvSpPr txBox="1"/>
            <p:nvPr/>
          </p:nvSpPr>
          <p:spPr>
            <a:xfrm>
              <a:off x="977265" y="1029652"/>
              <a:ext cx="1621819"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데이터 탐색에서 정책 제언까지 · 5단계</a:t>
              </a:r>
            </a:p>
          </p:txBody>
        </p:sp>
      </p:grpSp>
      <p:grpSp>
        <p:nvGrpSpPr>
          <p:cNvPr id="11" name="Group 11"/>
          <p:cNvGrpSpPr/>
          <p:nvPr/>
        </p:nvGrpSpPr>
        <p:grpSpPr>
          <a:xfrm>
            <a:off x="762000" y="1428750"/>
            <a:ext cx="10668000" cy="4572000"/>
            <a:chOff x="762000" y="1428750"/>
            <a:chExt cx="10668000" cy="4572000"/>
          </a:xfrm>
        </p:grpSpPr>
        <p:sp>
          <p:nvSpPr>
            <p:cNvPr id="9" name="Line 9"/>
            <p:cNvSpPr/>
            <p:nvPr/>
          </p:nvSpPr>
          <p:spPr>
            <a:xfrm>
              <a:off x="762000" y="1428750"/>
              <a:ext cx="10668000" cy="9525"/>
            </a:xfrm>
            <a:custGeom>
              <a:avLst/>
              <a:gdLst/>
              <a:ahLst/>
              <a:cxnLst/>
              <a:rect l="l" t="t" r="r" b="b"/>
              <a:pathLst>
                <a:path w="10668000" h="9525">
                  <a:moveTo>
                    <a:pt x="0" y="0"/>
                  </a:moveTo>
                  <a:lnTo>
                    <a:pt x="10668000" y="0"/>
                  </a:lnTo>
                </a:path>
              </a:pathLst>
            </a:custGeom>
            <a:noFill/>
            <a:ln w="19050">
              <a:solidFill>
                <a:srgbClr val="D8DEE6"/>
              </a:solidFill>
            </a:ln>
          </p:spPr>
        </p:sp>
        <p:sp>
          <p:nvSpPr>
            <p:cNvPr id="10" name="Line 10"/>
            <p:cNvSpPr/>
            <p:nvPr/>
          </p:nvSpPr>
          <p:spPr>
            <a:xfrm>
              <a:off x="1238250" y="1952625"/>
              <a:ext cx="9525" cy="4048125"/>
            </a:xfrm>
            <a:custGeom>
              <a:avLst/>
              <a:gdLst/>
              <a:ahLst/>
              <a:cxnLst/>
              <a:rect l="l" t="t" r="r" b="b"/>
              <a:pathLst>
                <a:path w="9525" h="4048125">
                  <a:moveTo>
                    <a:pt x="0" y="0"/>
                  </a:moveTo>
                  <a:lnTo>
                    <a:pt x="0" y="4048125"/>
                  </a:lnTo>
                </a:path>
              </a:pathLst>
            </a:custGeom>
            <a:noFill/>
            <a:ln w="28575" cap="rnd">
              <a:gradFill>
                <a:gsLst>
                  <a:gs pos="0">
                    <a:srgbClr val="1E3A5F"/>
                  </a:gs>
                  <a:gs pos="100000">
                    <a:srgbClr val="457B9D"/>
                  </a:gs>
                </a:gsLst>
                <a:lin ang="5400000" scaled="1"/>
              </a:gradFill>
            </a:ln>
          </p:spPr>
        </p:sp>
      </p:grpSp>
      <p:grpSp>
        <p:nvGrpSpPr>
          <p:cNvPr id="19" name="Group 19"/>
          <p:cNvGrpSpPr/>
          <p:nvPr/>
        </p:nvGrpSpPr>
        <p:grpSpPr>
          <a:xfrm>
            <a:off x="1009650" y="1819275"/>
            <a:ext cx="10053637" cy="519113"/>
            <a:chOff x="1009650" y="1819275"/>
            <a:chExt cx="10053637" cy="519113"/>
          </a:xfrm>
        </p:grpSpPr>
        <p:sp>
          <p:nvSpPr>
            <p:cNvPr id="12" name="Ellipse 12"/>
            <p:cNvSpPr/>
            <p:nvPr/>
          </p:nvSpPr>
          <p:spPr>
            <a:xfrm>
              <a:off x="1009650" y="1819275"/>
              <a:ext cx="457200" cy="457200"/>
            </a:xfrm>
            <a:prstGeom prst="ellipse">
              <a:avLst/>
            </a:prstGeom>
            <a:solidFill>
              <a:srgbClr val="FFFFFF"/>
            </a:solidFill>
            <a:ln w="28575">
              <a:solidFill>
                <a:srgbClr val="1E3A5F"/>
              </a:solidFill>
            </a:ln>
          </p:spPr>
        </p:sp>
        <p:sp>
          <p:nvSpPr>
            <p:cNvPr id="13" name="TextBox 13"/>
            <p:cNvSpPr txBox="1"/>
            <p:nvPr/>
          </p:nvSpPr>
          <p:spPr>
            <a:xfrm>
              <a:off x="1137327" y="1993106"/>
              <a:ext cx="201847" cy="228600"/>
            </a:xfrm>
            <a:prstGeom prst="rect">
              <a:avLst/>
            </a:prstGeom>
            <a:noFill/>
            <a:ln>
              <a:noFill/>
            </a:ln>
          </p:spPr>
          <p:txBody>
            <a:bodyPr wrap="none" lIns="0" tIns="0" rIns="0" bIns="0" anchor="t" anchorCtr="0">
              <a:spAutoFit/>
            </a:bodyPr>
            <a:lstStyle/>
            <a:p>
              <a:pPr algn="ctr"/>
              <a:r>
                <a:rPr lang="zh-CN" sz="1125" b="1" dirty="0">
                  <a:solidFill>
                    <a:srgbClr val="1E3A5F"/>
                  </a:solidFill>
                  <a:latin typeface="Apple SD Gothic Neo"/>
                  <a:ea typeface="Malgun Gothic"/>
                  <a:cs typeface="Apple SD Gothic Neo"/>
                </a:rPr>
                <a:t>01</a:t>
              </a:r>
            </a:p>
          </p:txBody>
        </p:sp>
        <p:sp>
          <p:nvSpPr>
            <p:cNvPr id="14" name="TextBox 14"/>
            <p:cNvSpPr txBox="1"/>
            <p:nvPr/>
          </p:nvSpPr>
          <p:spPr>
            <a:xfrm>
              <a:off x="1751648" y="1830229"/>
              <a:ext cx="1142643" cy="320040"/>
            </a:xfrm>
            <a:prstGeom prst="rect">
              <a:avLst/>
            </a:prstGeom>
            <a:noFill/>
            <a:ln>
              <a:noFill/>
            </a:ln>
          </p:spPr>
          <p:txBody>
            <a:bodyPr wrap="none" lIns="0" tIns="0" rIns="0" bIns="0" anchor="t" anchorCtr="0">
              <a:spAutoFit/>
            </a:bodyPr>
            <a:lstStyle/>
            <a:p>
              <a:pPr algn="l"/>
              <a:r>
                <a:rPr lang="zh-CN" sz="1575" b="1" dirty="0">
                  <a:solidFill>
                    <a:srgbClr val="2B2D33"/>
                  </a:solidFill>
                  <a:latin typeface="Apple SD Gothic Neo"/>
                  <a:ea typeface="Malgun Gothic"/>
                  <a:cs typeface="Apple SD Gothic Neo"/>
                </a:rPr>
                <a:t>데이터와 분석 개요</a:t>
              </a:r>
            </a:p>
          </p:txBody>
        </p:sp>
        <p:sp>
          <p:nvSpPr>
            <p:cNvPr id="15" name="TextBox 15"/>
            <p:cNvSpPr txBox="1"/>
            <p:nvPr/>
          </p:nvSpPr>
          <p:spPr>
            <a:xfrm>
              <a:off x="1758315" y="2125028"/>
              <a:ext cx="2785015" cy="213360"/>
            </a:xfrm>
            <a:prstGeom prst="rect">
              <a:avLst/>
            </a:prstGeom>
            <a:noFill/>
            <a:ln>
              <a:noFill/>
            </a:ln>
          </p:spPr>
          <p:txBody>
            <a:bodyPr wrap="none" lIns="0" tIns="0" rIns="0" bIns="0" anchor="t" anchorCtr="0">
              <a:spAutoFit/>
            </a:bodyPr>
            <a:lstStyle/>
            <a:p>
              <a:pPr algn="l"/>
              <a:r>
                <a:rPr lang="zh-CN" sz="1050" dirty="0">
                  <a:solidFill>
                    <a:srgbClr val="5C6470"/>
                  </a:solidFill>
                  <a:latin typeface="Apple SD Gothic Neo"/>
                  <a:ea typeface="Malgun Gothic"/>
                  <a:cs typeface="Apple SD Gothic Neo"/>
                </a:rPr>
                <a:t>어떤 데이터로 무엇을 분석했는가 — 27,820건, 101개국, 32년</a:t>
              </a:r>
            </a:p>
          </p:txBody>
        </p:sp>
        <p:grpSp>
          <p:nvGrpSpPr>
            <p:cNvPr id="18" name="Group 18"/>
            <p:cNvGrpSpPr/>
            <p:nvPr/>
          </p:nvGrpSpPr>
          <p:grpSpPr>
            <a:xfrm>
              <a:off x="10806112" y="1889522"/>
              <a:ext cx="257175" cy="278606"/>
              <a:chOff x="10806112" y="1889522"/>
              <a:chExt cx="257175" cy="278606"/>
            </a:xfrm>
          </p:grpSpPr>
          <p:sp>
            <p:nvSpPr>
              <p:cNvPr id="16" name="Freeform 16"/>
              <p:cNvSpPr/>
              <p:nvPr/>
            </p:nvSpPr>
            <p:spPr>
              <a:xfrm>
                <a:off x="10816828" y="1900238"/>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1E3A5F">
                  <a:alpha val="20000"/>
                </a:srgbClr>
              </a:solidFill>
              <a:ln>
                <a:noFill/>
              </a:ln>
            </p:spPr>
          </p:sp>
          <p:sp>
            <p:nvSpPr>
              <p:cNvPr id="17" name="Freeform 17"/>
              <p:cNvSpPr/>
              <p:nvPr/>
            </p:nvSpPr>
            <p:spPr>
              <a:xfrm>
                <a:off x="10806112" y="1889522"/>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1E3A5F"/>
              </a:solidFill>
              <a:ln>
                <a:noFill/>
              </a:ln>
            </p:spPr>
          </p:sp>
        </p:grpSp>
      </p:grpSp>
      <p:grpSp>
        <p:nvGrpSpPr>
          <p:cNvPr id="27" name="Group 27"/>
          <p:cNvGrpSpPr/>
          <p:nvPr/>
        </p:nvGrpSpPr>
        <p:grpSpPr>
          <a:xfrm>
            <a:off x="1009650" y="2771775"/>
            <a:ext cx="10065406" cy="519113"/>
            <a:chOff x="1009650" y="2771775"/>
            <a:chExt cx="10065406" cy="519113"/>
          </a:xfrm>
        </p:grpSpPr>
        <p:sp>
          <p:nvSpPr>
            <p:cNvPr id="20" name="Ellipse 20"/>
            <p:cNvSpPr/>
            <p:nvPr/>
          </p:nvSpPr>
          <p:spPr>
            <a:xfrm>
              <a:off x="1009650" y="2771775"/>
              <a:ext cx="457200" cy="457200"/>
            </a:xfrm>
            <a:prstGeom prst="ellipse">
              <a:avLst/>
            </a:prstGeom>
            <a:solidFill>
              <a:srgbClr val="FFFFFF"/>
            </a:solidFill>
            <a:ln w="28575">
              <a:solidFill>
                <a:srgbClr val="1E3A5F"/>
              </a:solidFill>
            </a:ln>
          </p:spPr>
        </p:sp>
        <p:sp>
          <p:nvSpPr>
            <p:cNvPr id="21" name="TextBox 21"/>
            <p:cNvSpPr txBox="1"/>
            <p:nvPr/>
          </p:nvSpPr>
          <p:spPr>
            <a:xfrm>
              <a:off x="1137327" y="2945606"/>
              <a:ext cx="201847" cy="228600"/>
            </a:xfrm>
            <a:prstGeom prst="rect">
              <a:avLst/>
            </a:prstGeom>
            <a:noFill/>
            <a:ln>
              <a:noFill/>
            </a:ln>
          </p:spPr>
          <p:txBody>
            <a:bodyPr wrap="none" lIns="0" tIns="0" rIns="0" bIns="0" anchor="t" anchorCtr="0">
              <a:spAutoFit/>
            </a:bodyPr>
            <a:lstStyle/>
            <a:p>
              <a:pPr algn="ctr"/>
              <a:r>
                <a:rPr lang="zh-CN" sz="1125" b="1" dirty="0">
                  <a:solidFill>
                    <a:srgbClr val="1E3A5F"/>
                  </a:solidFill>
                  <a:latin typeface="Apple SD Gothic Neo"/>
                  <a:ea typeface="Malgun Gothic"/>
                  <a:cs typeface="Apple SD Gothic Neo"/>
                </a:rPr>
                <a:t>02</a:t>
              </a:r>
            </a:p>
          </p:txBody>
        </p:sp>
        <p:sp>
          <p:nvSpPr>
            <p:cNvPr id="22" name="TextBox 22"/>
            <p:cNvSpPr txBox="1"/>
            <p:nvPr/>
          </p:nvSpPr>
          <p:spPr>
            <a:xfrm>
              <a:off x="1751648" y="2782729"/>
              <a:ext cx="1142643" cy="320040"/>
            </a:xfrm>
            <a:prstGeom prst="rect">
              <a:avLst/>
            </a:prstGeom>
            <a:noFill/>
            <a:ln>
              <a:noFill/>
            </a:ln>
          </p:spPr>
          <p:txBody>
            <a:bodyPr wrap="none" lIns="0" tIns="0" rIns="0" bIns="0" anchor="t" anchorCtr="0">
              <a:spAutoFit/>
            </a:bodyPr>
            <a:lstStyle/>
            <a:p>
              <a:pPr algn="l"/>
              <a:r>
                <a:rPr lang="zh-CN" sz="1575" b="1" dirty="0">
                  <a:solidFill>
                    <a:srgbClr val="2B2D33"/>
                  </a:solidFill>
                  <a:latin typeface="Apple SD Gothic Neo"/>
                  <a:ea typeface="Malgun Gothic"/>
                  <a:cs typeface="Apple SD Gothic Neo"/>
                </a:rPr>
                <a:t>탐색적 데이터 분석</a:t>
              </a:r>
            </a:p>
          </p:txBody>
        </p:sp>
        <p:sp>
          <p:nvSpPr>
            <p:cNvPr id="23" name="TextBox 23"/>
            <p:cNvSpPr txBox="1"/>
            <p:nvPr/>
          </p:nvSpPr>
          <p:spPr>
            <a:xfrm>
              <a:off x="1758315" y="3077528"/>
              <a:ext cx="2399967" cy="213360"/>
            </a:xfrm>
            <a:prstGeom prst="rect">
              <a:avLst/>
            </a:prstGeom>
            <a:noFill/>
            <a:ln>
              <a:noFill/>
            </a:ln>
          </p:spPr>
          <p:txBody>
            <a:bodyPr wrap="none" lIns="0" tIns="0" rIns="0" bIns="0" anchor="t" anchorCtr="0">
              <a:spAutoFit/>
            </a:bodyPr>
            <a:lstStyle/>
            <a:p>
              <a:pPr algn="l"/>
              <a:r>
                <a:rPr lang="zh-CN" sz="1050" dirty="0">
                  <a:solidFill>
                    <a:srgbClr val="5C6470"/>
                  </a:solidFill>
                  <a:latin typeface="Apple SD Gothic Neo"/>
                  <a:ea typeface="Malgun Gothic"/>
                  <a:cs typeface="Apple SD Gothic Neo"/>
                </a:rPr>
                <a:t>성별·연령·연도·경제력 — 데이터가 보여주는 네 가지 큰 그림</a:t>
              </a:r>
            </a:p>
          </p:txBody>
        </p:sp>
        <p:grpSp>
          <p:nvGrpSpPr>
            <p:cNvPr id="26" name="Group 26"/>
            <p:cNvGrpSpPr/>
            <p:nvPr/>
          </p:nvGrpSpPr>
          <p:grpSpPr>
            <a:xfrm>
              <a:off x="10783208" y="2829781"/>
              <a:ext cx="291848" cy="291899"/>
              <a:chOff x="10783208" y="2829781"/>
              <a:chExt cx="291848" cy="291899"/>
            </a:xfrm>
          </p:grpSpPr>
          <p:sp>
            <p:nvSpPr>
              <p:cNvPr id="24" name="Freeform 24"/>
              <p:cNvSpPr/>
              <p:nvPr/>
            </p:nvSpPr>
            <p:spPr>
              <a:xfrm>
                <a:off x="10806112" y="2852738"/>
                <a:ext cx="214312" cy="214312"/>
              </a:xfrm>
              <a:custGeom>
                <a:avLst/>
                <a:gdLst/>
                <a:ahLst/>
                <a:cxnLst/>
                <a:rect l="l" t="t" r="r" b="b"/>
                <a:pathLst>
                  <a:path w="214312" h="214312">
                    <a:moveTo>
                      <a:pt x="214312" y="107156"/>
                    </a:moveTo>
                    <a:cubicBezTo>
                      <a:pt x="214312" y="166337"/>
                      <a:pt x="166337" y="214312"/>
                      <a:pt x="107156" y="214312"/>
                    </a:cubicBezTo>
                    <a:cubicBezTo>
                      <a:pt x="47975" y="214312"/>
                      <a:pt x="0" y="166337"/>
                      <a:pt x="0" y="107156"/>
                    </a:cubicBezTo>
                    <a:cubicBezTo>
                      <a:pt x="0" y="47975"/>
                      <a:pt x="47975" y="0"/>
                      <a:pt x="107156" y="0"/>
                    </a:cubicBezTo>
                    <a:cubicBezTo>
                      <a:pt x="166337" y="0"/>
                      <a:pt x="214312" y="47975"/>
                      <a:pt x="214312" y="107156"/>
                    </a:cubicBezTo>
                    <a:close/>
                  </a:path>
                </a:pathLst>
              </a:custGeom>
              <a:solidFill>
                <a:srgbClr val="1E3A5F">
                  <a:alpha val="20000"/>
                </a:srgbClr>
              </a:solidFill>
              <a:ln>
                <a:noFill/>
              </a:ln>
            </p:spPr>
          </p:sp>
          <p:sp>
            <p:nvSpPr>
              <p:cNvPr id="25" name="Freeform 25"/>
              <p:cNvSpPr/>
              <p:nvPr/>
            </p:nvSpPr>
            <p:spPr>
              <a:xfrm>
                <a:off x="10783208" y="2829781"/>
                <a:ext cx="291848" cy="291899"/>
              </a:xfrm>
              <a:custGeom>
                <a:avLst/>
                <a:gdLst/>
                <a:ahLst/>
                <a:cxnLst/>
                <a:rect l="l" t="t" r="r" b="b"/>
                <a:pathLst>
                  <a:path w="291848" h="291899">
                    <a:moveTo>
                      <a:pt x="287661" y="272550"/>
                    </a:moveTo>
                    <a:lnTo>
                      <a:pt x="220608" y="205497"/>
                    </a:lnTo>
                    <a:cubicBezTo>
                      <a:pt x="261061" y="156980"/>
                      <a:pt x="256197" y="85227"/>
                      <a:pt x="209568" y="42614"/>
                    </a:cubicBezTo>
                    <a:cubicBezTo>
                      <a:pt x="162938" y="0"/>
                      <a:pt x="91038" y="1601"/>
                      <a:pt x="46351" y="46248"/>
                    </a:cubicBezTo>
                    <a:cubicBezTo>
                      <a:pt x="1665" y="90895"/>
                      <a:pt x="0" y="162794"/>
                      <a:pt x="42572" y="209461"/>
                    </a:cubicBezTo>
                    <a:cubicBezTo>
                      <a:pt x="85145" y="256129"/>
                      <a:pt x="156894" y="261056"/>
                      <a:pt x="205446" y="220646"/>
                    </a:cubicBezTo>
                    <a:lnTo>
                      <a:pt x="272499" y="287712"/>
                    </a:lnTo>
                    <a:cubicBezTo>
                      <a:pt x="276686" y="291899"/>
                      <a:pt x="283474" y="291899"/>
                      <a:pt x="287661" y="287712"/>
                    </a:cubicBezTo>
                    <a:cubicBezTo>
                      <a:pt x="291848" y="283525"/>
                      <a:pt x="291848" y="276737"/>
                      <a:pt x="287661" y="272550"/>
                    </a:cubicBezTo>
                    <a:close/>
                    <a:moveTo>
                      <a:pt x="33621" y="130112"/>
                    </a:moveTo>
                    <a:cubicBezTo>
                      <a:pt x="33621" y="76850"/>
                      <a:pt x="76799" y="33672"/>
                      <a:pt x="130061" y="33672"/>
                    </a:cubicBezTo>
                    <a:cubicBezTo>
                      <a:pt x="183324" y="33672"/>
                      <a:pt x="226502" y="76850"/>
                      <a:pt x="226502" y="130112"/>
                    </a:cubicBezTo>
                    <a:cubicBezTo>
                      <a:pt x="226502" y="183375"/>
                      <a:pt x="183324" y="226553"/>
                      <a:pt x="130061" y="226553"/>
                    </a:cubicBezTo>
                    <a:cubicBezTo>
                      <a:pt x="76823" y="226494"/>
                      <a:pt x="33680" y="183350"/>
                      <a:pt x="33621" y="130112"/>
                    </a:cubicBezTo>
                    <a:close/>
                  </a:path>
                </a:pathLst>
              </a:custGeom>
              <a:solidFill>
                <a:srgbClr val="1E3A5F"/>
              </a:solidFill>
              <a:ln>
                <a:noFill/>
              </a:ln>
            </p:spPr>
          </p:sp>
        </p:grpSp>
      </p:grpSp>
      <p:grpSp>
        <p:nvGrpSpPr>
          <p:cNvPr id="35" name="Group 35"/>
          <p:cNvGrpSpPr/>
          <p:nvPr/>
        </p:nvGrpSpPr>
        <p:grpSpPr>
          <a:xfrm>
            <a:off x="1009650" y="3724275"/>
            <a:ext cx="10085785" cy="519113"/>
            <a:chOff x="1009650" y="3724275"/>
            <a:chExt cx="10085785" cy="519113"/>
          </a:xfrm>
        </p:grpSpPr>
        <p:sp>
          <p:nvSpPr>
            <p:cNvPr id="28" name="Ellipse 28"/>
            <p:cNvSpPr/>
            <p:nvPr/>
          </p:nvSpPr>
          <p:spPr>
            <a:xfrm>
              <a:off x="1009650" y="3724275"/>
              <a:ext cx="457200" cy="457200"/>
            </a:xfrm>
            <a:prstGeom prst="ellipse">
              <a:avLst/>
            </a:prstGeom>
            <a:solidFill>
              <a:srgbClr val="FFFFFF"/>
            </a:solidFill>
            <a:ln w="28575">
              <a:solidFill>
                <a:srgbClr val="457B9D"/>
              </a:solidFill>
            </a:ln>
          </p:spPr>
        </p:sp>
        <p:sp>
          <p:nvSpPr>
            <p:cNvPr id="29" name="TextBox 29"/>
            <p:cNvSpPr txBox="1"/>
            <p:nvPr/>
          </p:nvSpPr>
          <p:spPr>
            <a:xfrm>
              <a:off x="1137327" y="3898106"/>
              <a:ext cx="201847" cy="228600"/>
            </a:xfrm>
            <a:prstGeom prst="rect">
              <a:avLst/>
            </a:prstGeom>
            <a:noFill/>
            <a:ln>
              <a:noFill/>
            </a:ln>
          </p:spPr>
          <p:txBody>
            <a:bodyPr wrap="none" lIns="0" tIns="0" rIns="0" bIns="0" anchor="t" anchorCtr="0">
              <a:spAutoFit/>
            </a:bodyPr>
            <a:lstStyle/>
            <a:p>
              <a:pPr algn="ctr"/>
              <a:r>
                <a:rPr lang="zh-CN" sz="1125" b="1" dirty="0">
                  <a:solidFill>
                    <a:srgbClr val="457B9D"/>
                  </a:solidFill>
                  <a:latin typeface="Apple SD Gothic Neo"/>
                  <a:ea typeface="Malgun Gothic"/>
                  <a:cs typeface="Apple SD Gothic Neo"/>
                </a:rPr>
                <a:t>03</a:t>
              </a:r>
            </a:p>
          </p:txBody>
        </p:sp>
        <p:sp>
          <p:nvSpPr>
            <p:cNvPr id="30" name="TextBox 30"/>
            <p:cNvSpPr txBox="1"/>
            <p:nvPr/>
          </p:nvSpPr>
          <p:spPr>
            <a:xfrm>
              <a:off x="1751648" y="3735229"/>
              <a:ext cx="833904" cy="320040"/>
            </a:xfrm>
            <a:prstGeom prst="rect">
              <a:avLst/>
            </a:prstGeom>
            <a:noFill/>
            <a:ln>
              <a:noFill/>
            </a:ln>
          </p:spPr>
          <p:txBody>
            <a:bodyPr wrap="none" lIns="0" tIns="0" rIns="0" bIns="0" anchor="t" anchorCtr="0">
              <a:spAutoFit/>
            </a:bodyPr>
            <a:lstStyle/>
            <a:p>
              <a:pPr algn="l"/>
              <a:r>
                <a:rPr lang="zh-CN" sz="1575" b="1" dirty="0">
                  <a:solidFill>
                    <a:srgbClr val="2B2D33"/>
                  </a:solidFill>
                  <a:latin typeface="Apple SD Gothic Neo"/>
                  <a:ea typeface="Malgun Gothic"/>
                  <a:cs typeface="Apple SD Gothic Neo"/>
                </a:rPr>
                <a:t>머신러닝 분석</a:t>
              </a:r>
            </a:p>
          </p:txBody>
        </p:sp>
        <p:sp>
          <p:nvSpPr>
            <p:cNvPr id="31" name="TextBox 31"/>
            <p:cNvSpPr txBox="1"/>
            <p:nvPr/>
          </p:nvSpPr>
          <p:spPr>
            <a:xfrm>
              <a:off x="1758315" y="4030028"/>
              <a:ext cx="2623995" cy="213360"/>
            </a:xfrm>
            <a:prstGeom prst="rect">
              <a:avLst/>
            </a:prstGeom>
            <a:noFill/>
            <a:ln>
              <a:noFill/>
            </a:ln>
          </p:spPr>
          <p:txBody>
            <a:bodyPr wrap="none" lIns="0" tIns="0" rIns="0" bIns="0" anchor="t" anchorCtr="0">
              <a:spAutoFit/>
            </a:bodyPr>
            <a:lstStyle/>
            <a:p>
              <a:pPr algn="l"/>
              <a:r>
                <a:rPr lang="zh-CN" sz="1050" dirty="0">
                  <a:solidFill>
                    <a:srgbClr val="5C6470"/>
                  </a:solidFill>
                  <a:latin typeface="Apple SD Gothic Neo"/>
                  <a:ea typeface="Malgun Gothic"/>
                  <a:cs typeface="Apple SD Gothic Neo"/>
                </a:rPr>
                <a:t>PCA·군집·분류 모델 4종 비교 — 결정 트리 정확도 80.18%</a:t>
              </a:r>
            </a:p>
          </p:txBody>
        </p:sp>
        <p:grpSp>
          <p:nvGrpSpPr>
            <p:cNvPr id="34" name="Group 34"/>
            <p:cNvGrpSpPr/>
            <p:nvPr/>
          </p:nvGrpSpPr>
          <p:grpSpPr>
            <a:xfrm>
              <a:off x="10773956" y="3789137"/>
              <a:ext cx="321479" cy="278661"/>
              <a:chOff x="10773956" y="3789137"/>
              <a:chExt cx="321479" cy="278661"/>
            </a:xfrm>
          </p:grpSpPr>
          <p:sp>
            <p:nvSpPr>
              <p:cNvPr id="32" name="Freeform 32"/>
              <p:cNvSpPr/>
              <p:nvPr/>
            </p:nvSpPr>
            <p:spPr>
              <a:xfrm>
                <a:off x="10784624" y="3805238"/>
                <a:ext cx="300104" cy="246459"/>
              </a:xfrm>
              <a:custGeom>
                <a:avLst/>
                <a:gdLst/>
                <a:ahLst/>
                <a:cxnLst/>
                <a:rect l="l" t="t" r="r" b="b"/>
                <a:pathLst>
                  <a:path w="300104" h="246459">
                    <a:moveTo>
                      <a:pt x="300095" y="123230"/>
                    </a:moveTo>
                    <a:cubicBezTo>
                      <a:pt x="300104" y="150484"/>
                      <a:pt x="282928" y="174782"/>
                      <a:pt x="257233" y="183867"/>
                    </a:cubicBezTo>
                    <a:lnTo>
                      <a:pt x="257233" y="183867"/>
                    </a:lnTo>
                    <a:lnTo>
                      <a:pt x="257233" y="192881"/>
                    </a:lnTo>
                    <a:cubicBezTo>
                      <a:pt x="257233" y="222472"/>
                      <a:pt x="233245" y="246459"/>
                      <a:pt x="203654" y="246459"/>
                    </a:cubicBezTo>
                    <a:cubicBezTo>
                      <a:pt x="174064" y="246459"/>
                      <a:pt x="150076" y="222472"/>
                      <a:pt x="150076" y="192881"/>
                    </a:cubicBezTo>
                    <a:cubicBezTo>
                      <a:pt x="150076" y="222472"/>
                      <a:pt x="126089" y="246459"/>
                      <a:pt x="96498" y="246459"/>
                    </a:cubicBezTo>
                    <a:cubicBezTo>
                      <a:pt x="66908" y="246459"/>
                      <a:pt x="42920" y="222472"/>
                      <a:pt x="42920" y="192881"/>
                    </a:cubicBezTo>
                    <a:lnTo>
                      <a:pt x="42920" y="183867"/>
                    </a:lnTo>
                    <a:lnTo>
                      <a:pt x="42920" y="183867"/>
                    </a:lnTo>
                    <a:cubicBezTo>
                      <a:pt x="17202" y="174801"/>
                      <a:pt x="0" y="150499"/>
                      <a:pt x="0" y="123230"/>
                    </a:cubicBezTo>
                    <a:cubicBezTo>
                      <a:pt x="0" y="95961"/>
                      <a:pt x="17202" y="71658"/>
                      <a:pt x="42920" y="62593"/>
                    </a:cubicBezTo>
                    <a:lnTo>
                      <a:pt x="42920" y="53578"/>
                    </a:lnTo>
                    <a:cubicBezTo>
                      <a:pt x="42920" y="23988"/>
                      <a:pt x="66908" y="0"/>
                      <a:pt x="96498" y="0"/>
                    </a:cubicBezTo>
                    <a:cubicBezTo>
                      <a:pt x="126089" y="0"/>
                      <a:pt x="150076" y="23988"/>
                      <a:pt x="150076" y="53578"/>
                    </a:cubicBezTo>
                    <a:cubicBezTo>
                      <a:pt x="150076" y="23988"/>
                      <a:pt x="174064" y="0"/>
                      <a:pt x="203654" y="0"/>
                    </a:cubicBezTo>
                    <a:cubicBezTo>
                      <a:pt x="233245" y="0"/>
                      <a:pt x="257233" y="23988"/>
                      <a:pt x="257233" y="53578"/>
                    </a:cubicBezTo>
                    <a:lnTo>
                      <a:pt x="257233" y="62593"/>
                    </a:lnTo>
                    <a:cubicBezTo>
                      <a:pt x="282928" y="71677"/>
                      <a:pt x="300104" y="95976"/>
                      <a:pt x="300095" y="123230"/>
                    </a:cubicBezTo>
                    <a:close/>
                  </a:path>
                </a:pathLst>
              </a:custGeom>
              <a:solidFill>
                <a:srgbClr val="457B9D">
                  <a:alpha val="20000"/>
                </a:srgbClr>
              </a:solidFill>
              <a:ln>
                <a:noFill/>
              </a:ln>
            </p:spPr>
          </p:sp>
          <p:sp>
            <p:nvSpPr>
              <p:cNvPr id="33" name="Freeform 33"/>
              <p:cNvSpPr/>
              <p:nvPr/>
            </p:nvSpPr>
            <p:spPr>
              <a:xfrm>
                <a:off x="10773956" y="3789137"/>
                <a:ext cx="321479" cy="278661"/>
              </a:xfrm>
              <a:custGeom>
                <a:avLst/>
                <a:gdLst/>
                <a:ahLst/>
                <a:cxnLst/>
                <a:rect l="l" t="t" r="r" b="b"/>
                <a:pathLst>
                  <a:path w="321479" h="278661">
                    <a:moveTo>
                      <a:pt x="321479" y="139330"/>
                    </a:moveTo>
                    <a:cubicBezTo>
                      <a:pt x="321450" y="110362"/>
                      <a:pt x="304774" y="83988"/>
                      <a:pt x="278616" y="71541"/>
                    </a:cubicBezTo>
                    <a:lnTo>
                      <a:pt x="278616" y="69679"/>
                    </a:lnTo>
                    <a:cubicBezTo>
                      <a:pt x="278591" y="41330"/>
                      <a:pt x="260001" y="16343"/>
                      <a:pt x="232855" y="8172"/>
                    </a:cubicBezTo>
                    <a:cubicBezTo>
                      <a:pt x="205709" y="0"/>
                      <a:pt x="176415" y="10573"/>
                      <a:pt x="160744" y="34197"/>
                    </a:cubicBezTo>
                    <a:cubicBezTo>
                      <a:pt x="145074" y="10573"/>
                      <a:pt x="115780" y="0"/>
                      <a:pt x="88634" y="8172"/>
                    </a:cubicBezTo>
                    <a:cubicBezTo>
                      <a:pt x="61488" y="16343"/>
                      <a:pt x="42898" y="41330"/>
                      <a:pt x="42873" y="69679"/>
                    </a:cubicBezTo>
                    <a:lnTo>
                      <a:pt x="42873" y="71541"/>
                    </a:lnTo>
                    <a:cubicBezTo>
                      <a:pt x="16690" y="83955"/>
                      <a:pt x="0" y="110340"/>
                      <a:pt x="0" y="139317"/>
                    </a:cubicBezTo>
                    <a:cubicBezTo>
                      <a:pt x="0" y="168294"/>
                      <a:pt x="16690" y="194679"/>
                      <a:pt x="42873" y="207093"/>
                    </a:cubicBezTo>
                    <a:lnTo>
                      <a:pt x="42873" y="208982"/>
                    </a:lnTo>
                    <a:cubicBezTo>
                      <a:pt x="42898" y="237331"/>
                      <a:pt x="61488" y="262318"/>
                      <a:pt x="88634" y="270489"/>
                    </a:cubicBezTo>
                    <a:cubicBezTo>
                      <a:pt x="115780" y="278661"/>
                      <a:pt x="145074" y="268088"/>
                      <a:pt x="160744" y="244464"/>
                    </a:cubicBezTo>
                    <a:cubicBezTo>
                      <a:pt x="176415" y="268088"/>
                      <a:pt x="205709" y="278661"/>
                      <a:pt x="232855" y="270489"/>
                    </a:cubicBezTo>
                    <a:cubicBezTo>
                      <a:pt x="260001" y="262318"/>
                      <a:pt x="278591" y="237331"/>
                      <a:pt x="278616" y="208982"/>
                    </a:cubicBezTo>
                    <a:lnTo>
                      <a:pt x="278616" y="207093"/>
                    </a:lnTo>
                    <a:cubicBezTo>
                      <a:pt x="304770" y="194655"/>
                      <a:pt x="321446" y="168291"/>
                      <a:pt x="321479" y="139330"/>
                    </a:cubicBezTo>
                    <a:close/>
                    <a:moveTo>
                      <a:pt x="107166" y="251844"/>
                    </a:moveTo>
                    <a:cubicBezTo>
                      <a:pt x="85280" y="251841"/>
                      <a:pt x="66911" y="235349"/>
                      <a:pt x="64558" y="213590"/>
                    </a:cubicBezTo>
                    <a:cubicBezTo>
                      <a:pt x="68024" y="214084"/>
                      <a:pt x="71519" y="214335"/>
                      <a:pt x="75019" y="214340"/>
                    </a:cubicBezTo>
                    <a:lnTo>
                      <a:pt x="85735" y="214340"/>
                    </a:lnTo>
                    <a:cubicBezTo>
                      <a:pt x="91653" y="214340"/>
                      <a:pt x="96451" y="209542"/>
                      <a:pt x="96451" y="203624"/>
                    </a:cubicBezTo>
                    <a:cubicBezTo>
                      <a:pt x="96451" y="197706"/>
                      <a:pt x="91653" y="192909"/>
                      <a:pt x="85735" y="192909"/>
                    </a:cubicBezTo>
                    <a:lnTo>
                      <a:pt x="75019" y="192909"/>
                    </a:lnTo>
                    <a:cubicBezTo>
                      <a:pt x="48900" y="192939"/>
                      <a:pt x="26564" y="174130"/>
                      <a:pt x="22150" y="148386"/>
                    </a:cubicBezTo>
                    <a:cubicBezTo>
                      <a:pt x="17735" y="122642"/>
                      <a:pt x="32527" y="97467"/>
                      <a:pt x="57165" y="88793"/>
                    </a:cubicBezTo>
                    <a:cubicBezTo>
                      <a:pt x="61443" y="87278"/>
                      <a:pt x="64303" y="83232"/>
                      <a:pt x="64304" y="78693"/>
                    </a:cubicBezTo>
                    <a:lnTo>
                      <a:pt x="64304" y="69679"/>
                    </a:lnTo>
                    <a:cubicBezTo>
                      <a:pt x="64304" y="46007"/>
                      <a:pt x="83494" y="26816"/>
                      <a:pt x="107166" y="26816"/>
                    </a:cubicBezTo>
                    <a:cubicBezTo>
                      <a:pt x="130839" y="26816"/>
                      <a:pt x="150029" y="46007"/>
                      <a:pt x="150029" y="69679"/>
                    </a:cubicBezTo>
                    <a:lnTo>
                      <a:pt x="150029" y="161110"/>
                    </a:lnTo>
                    <a:cubicBezTo>
                      <a:pt x="138262" y="150527"/>
                      <a:pt x="122992" y="144677"/>
                      <a:pt x="107166" y="144688"/>
                    </a:cubicBezTo>
                    <a:cubicBezTo>
                      <a:pt x="101248" y="144688"/>
                      <a:pt x="96451" y="149486"/>
                      <a:pt x="96451" y="155404"/>
                    </a:cubicBezTo>
                    <a:cubicBezTo>
                      <a:pt x="96451" y="161322"/>
                      <a:pt x="101248" y="166119"/>
                      <a:pt x="107166" y="166119"/>
                    </a:cubicBezTo>
                    <a:cubicBezTo>
                      <a:pt x="130839" y="166119"/>
                      <a:pt x="150029" y="185310"/>
                      <a:pt x="150029" y="208982"/>
                    </a:cubicBezTo>
                    <a:cubicBezTo>
                      <a:pt x="150029" y="232654"/>
                      <a:pt x="130839" y="251844"/>
                      <a:pt x="107166" y="251844"/>
                    </a:cubicBezTo>
                    <a:close/>
                    <a:moveTo>
                      <a:pt x="246469" y="192909"/>
                    </a:moveTo>
                    <a:lnTo>
                      <a:pt x="235754" y="192909"/>
                    </a:lnTo>
                    <a:cubicBezTo>
                      <a:pt x="229836" y="192909"/>
                      <a:pt x="225038" y="197706"/>
                      <a:pt x="225038" y="203624"/>
                    </a:cubicBezTo>
                    <a:cubicBezTo>
                      <a:pt x="225038" y="209542"/>
                      <a:pt x="229836" y="214340"/>
                      <a:pt x="235754" y="214340"/>
                    </a:cubicBezTo>
                    <a:lnTo>
                      <a:pt x="246469" y="214340"/>
                    </a:lnTo>
                    <a:cubicBezTo>
                      <a:pt x="249970" y="214335"/>
                      <a:pt x="253465" y="214084"/>
                      <a:pt x="256931" y="213590"/>
                    </a:cubicBezTo>
                    <a:cubicBezTo>
                      <a:pt x="254450" y="236530"/>
                      <a:pt x="234254" y="253390"/>
                      <a:pt x="211239" y="251734"/>
                    </a:cubicBezTo>
                    <a:cubicBezTo>
                      <a:pt x="188224" y="250077"/>
                      <a:pt x="170651" y="230499"/>
                      <a:pt x="171482" y="207439"/>
                    </a:cubicBezTo>
                    <a:cubicBezTo>
                      <a:pt x="172312" y="184380"/>
                      <a:pt x="191248" y="166116"/>
                      <a:pt x="214323" y="166119"/>
                    </a:cubicBezTo>
                    <a:cubicBezTo>
                      <a:pt x="220241" y="166119"/>
                      <a:pt x="225038" y="161322"/>
                      <a:pt x="225038" y="155404"/>
                    </a:cubicBezTo>
                    <a:cubicBezTo>
                      <a:pt x="225038" y="149486"/>
                      <a:pt x="220241" y="144688"/>
                      <a:pt x="214323" y="144688"/>
                    </a:cubicBezTo>
                    <a:cubicBezTo>
                      <a:pt x="198497" y="144677"/>
                      <a:pt x="183227" y="150527"/>
                      <a:pt x="171460" y="161110"/>
                    </a:cubicBezTo>
                    <a:lnTo>
                      <a:pt x="171460" y="69679"/>
                    </a:lnTo>
                    <a:cubicBezTo>
                      <a:pt x="171460" y="46007"/>
                      <a:pt x="190650" y="26816"/>
                      <a:pt x="214323" y="26816"/>
                    </a:cubicBezTo>
                    <a:cubicBezTo>
                      <a:pt x="237995" y="26816"/>
                      <a:pt x="257185" y="46007"/>
                      <a:pt x="257185" y="69679"/>
                    </a:cubicBezTo>
                    <a:lnTo>
                      <a:pt x="257185" y="78693"/>
                    </a:lnTo>
                    <a:cubicBezTo>
                      <a:pt x="257186" y="83232"/>
                      <a:pt x="260046" y="87278"/>
                      <a:pt x="264324" y="88793"/>
                    </a:cubicBezTo>
                    <a:cubicBezTo>
                      <a:pt x="288962" y="97467"/>
                      <a:pt x="303754" y="122642"/>
                      <a:pt x="299339" y="148386"/>
                    </a:cubicBezTo>
                    <a:cubicBezTo>
                      <a:pt x="294924" y="174130"/>
                      <a:pt x="272589" y="192939"/>
                      <a:pt x="246469" y="192909"/>
                    </a:cubicBezTo>
                    <a:close/>
                    <a:moveTo>
                      <a:pt x="267901" y="123257"/>
                    </a:moveTo>
                    <a:cubicBezTo>
                      <a:pt x="267901" y="129175"/>
                      <a:pt x="263103" y="133973"/>
                      <a:pt x="257185" y="133973"/>
                    </a:cubicBezTo>
                    <a:lnTo>
                      <a:pt x="251827" y="133973"/>
                    </a:lnTo>
                    <a:cubicBezTo>
                      <a:pt x="225196" y="133973"/>
                      <a:pt x="203607" y="112384"/>
                      <a:pt x="203607" y="85752"/>
                    </a:cubicBezTo>
                    <a:lnTo>
                      <a:pt x="203607" y="80394"/>
                    </a:lnTo>
                    <a:cubicBezTo>
                      <a:pt x="203607" y="74476"/>
                      <a:pt x="208404" y="69679"/>
                      <a:pt x="214323" y="69679"/>
                    </a:cubicBezTo>
                    <a:cubicBezTo>
                      <a:pt x="220241" y="69679"/>
                      <a:pt x="225038" y="74476"/>
                      <a:pt x="225038" y="80394"/>
                    </a:cubicBezTo>
                    <a:lnTo>
                      <a:pt x="225038" y="85752"/>
                    </a:lnTo>
                    <a:cubicBezTo>
                      <a:pt x="225038" y="100547"/>
                      <a:pt x="237032" y="112541"/>
                      <a:pt x="251827" y="112541"/>
                    </a:cubicBezTo>
                    <a:lnTo>
                      <a:pt x="257185" y="112541"/>
                    </a:lnTo>
                    <a:cubicBezTo>
                      <a:pt x="263103" y="112541"/>
                      <a:pt x="267901" y="117339"/>
                      <a:pt x="267901" y="123257"/>
                    </a:cubicBezTo>
                    <a:close/>
                    <a:moveTo>
                      <a:pt x="69662" y="133973"/>
                    </a:moveTo>
                    <a:lnTo>
                      <a:pt x="64304" y="133973"/>
                    </a:lnTo>
                    <a:cubicBezTo>
                      <a:pt x="58386" y="133973"/>
                      <a:pt x="53588" y="129175"/>
                      <a:pt x="53588" y="123257"/>
                    </a:cubicBezTo>
                    <a:cubicBezTo>
                      <a:pt x="53588" y="117339"/>
                      <a:pt x="58386" y="112541"/>
                      <a:pt x="64304" y="112541"/>
                    </a:cubicBezTo>
                    <a:lnTo>
                      <a:pt x="69662" y="112541"/>
                    </a:lnTo>
                    <a:cubicBezTo>
                      <a:pt x="84457" y="112541"/>
                      <a:pt x="96451" y="100547"/>
                      <a:pt x="96451" y="85752"/>
                    </a:cubicBezTo>
                    <a:lnTo>
                      <a:pt x="96451" y="80394"/>
                    </a:lnTo>
                    <a:cubicBezTo>
                      <a:pt x="96451" y="74476"/>
                      <a:pt x="101248" y="69679"/>
                      <a:pt x="107166" y="69679"/>
                    </a:cubicBezTo>
                    <a:cubicBezTo>
                      <a:pt x="113084" y="69679"/>
                      <a:pt x="117882" y="74476"/>
                      <a:pt x="117882" y="80394"/>
                    </a:cubicBezTo>
                    <a:lnTo>
                      <a:pt x="117882" y="85752"/>
                    </a:lnTo>
                    <a:cubicBezTo>
                      <a:pt x="117882" y="112384"/>
                      <a:pt x="96293" y="133973"/>
                      <a:pt x="69662" y="133973"/>
                    </a:cubicBezTo>
                    <a:close/>
                  </a:path>
                </a:pathLst>
              </a:custGeom>
              <a:solidFill>
                <a:srgbClr val="457B9D"/>
              </a:solidFill>
              <a:ln>
                <a:noFill/>
              </a:ln>
            </p:spPr>
          </p:sp>
        </p:grpSp>
      </p:grpSp>
      <p:grpSp>
        <p:nvGrpSpPr>
          <p:cNvPr id="43" name="Group 43"/>
          <p:cNvGrpSpPr/>
          <p:nvPr/>
        </p:nvGrpSpPr>
        <p:grpSpPr>
          <a:xfrm>
            <a:off x="1009650" y="4676775"/>
            <a:ext cx="10043016" cy="519113"/>
            <a:chOff x="1009650" y="4676775"/>
            <a:chExt cx="10043016" cy="519113"/>
          </a:xfrm>
        </p:grpSpPr>
        <p:sp>
          <p:nvSpPr>
            <p:cNvPr id="36" name="Ellipse 36"/>
            <p:cNvSpPr/>
            <p:nvPr/>
          </p:nvSpPr>
          <p:spPr>
            <a:xfrm>
              <a:off x="1009650" y="4676775"/>
              <a:ext cx="457200" cy="457200"/>
            </a:xfrm>
            <a:prstGeom prst="ellipse">
              <a:avLst/>
            </a:prstGeom>
            <a:solidFill>
              <a:srgbClr val="FFFFFF"/>
            </a:solidFill>
            <a:ln w="28575">
              <a:solidFill>
                <a:srgbClr val="E63946"/>
              </a:solidFill>
            </a:ln>
          </p:spPr>
        </p:sp>
        <p:sp>
          <p:nvSpPr>
            <p:cNvPr id="37" name="TextBox 37"/>
            <p:cNvSpPr txBox="1"/>
            <p:nvPr/>
          </p:nvSpPr>
          <p:spPr>
            <a:xfrm>
              <a:off x="1137327" y="4850606"/>
              <a:ext cx="201847" cy="228600"/>
            </a:xfrm>
            <a:prstGeom prst="rect">
              <a:avLst/>
            </a:prstGeom>
            <a:noFill/>
            <a:ln>
              <a:noFill/>
            </a:ln>
          </p:spPr>
          <p:txBody>
            <a:bodyPr wrap="none" lIns="0" tIns="0" rIns="0" bIns="0" anchor="t" anchorCtr="0">
              <a:spAutoFit/>
            </a:bodyPr>
            <a:lstStyle/>
            <a:p>
              <a:pPr algn="ctr"/>
              <a:r>
                <a:rPr lang="zh-CN" sz="1125" b="1" dirty="0">
                  <a:solidFill>
                    <a:srgbClr val="E63946"/>
                  </a:solidFill>
                  <a:latin typeface="Apple SD Gothic Neo"/>
                  <a:ea typeface="Malgun Gothic"/>
                  <a:cs typeface="Apple SD Gothic Neo"/>
                </a:rPr>
                <a:t>04</a:t>
              </a:r>
            </a:p>
          </p:txBody>
        </p:sp>
        <p:sp>
          <p:nvSpPr>
            <p:cNvPr id="38" name="TextBox 38"/>
            <p:cNvSpPr txBox="1"/>
            <p:nvPr/>
          </p:nvSpPr>
          <p:spPr>
            <a:xfrm>
              <a:off x="1751648" y="4687729"/>
              <a:ext cx="833904" cy="320040"/>
            </a:xfrm>
            <a:prstGeom prst="rect">
              <a:avLst/>
            </a:prstGeom>
            <a:noFill/>
            <a:ln>
              <a:noFill/>
            </a:ln>
          </p:spPr>
          <p:txBody>
            <a:bodyPr wrap="none" lIns="0" tIns="0" rIns="0" bIns="0" anchor="t" anchorCtr="0">
              <a:spAutoFit/>
            </a:bodyPr>
            <a:lstStyle/>
            <a:p>
              <a:pPr algn="l"/>
              <a:r>
                <a:rPr lang="zh-CN" sz="1575" b="1" dirty="0">
                  <a:solidFill>
                    <a:srgbClr val="2B2D33"/>
                  </a:solidFill>
                  <a:latin typeface="Apple SD Gothic Neo"/>
                  <a:ea typeface="Malgun Gothic"/>
                  <a:cs typeface="Apple SD Gothic Neo"/>
                </a:rPr>
                <a:t>핵심 인사이트</a:t>
              </a:r>
            </a:p>
          </p:txBody>
        </p:sp>
        <p:sp>
          <p:nvSpPr>
            <p:cNvPr id="39" name="TextBox 39"/>
            <p:cNvSpPr txBox="1"/>
            <p:nvPr/>
          </p:nvSpPr>
          <p:spPr>
            <a:xfrm>
              <a:off x="1758315" y="4982528"/>
              <a:ext cx="1664875" cy="213360"/>
            </a:xfrm>
            <a:prstGeom prst="rect">
              <a:avLst/>
            </a:prstGeom>
            <a:noFill/>
            <a:ln>
              <a:noFill/>
            </a:ln>
          </p:spPr>
          <p:txBody>
            <a:bodyPr wrap="none" lIns="0" tIns="0" rIns="0" bIns="0" anchor="t" anchorCtr="0">
              <a:spAutoFit/>
            </a:bodyPr>
            <a:lstStyle/>
            <a:p>
              <a:pPr algn="l"/>
              <a:r>
                <a:rPr lang="zh-CN" sz="1050" dirty="0">
                  <a:solidFill>
                    <a:srgbClr val="5C6470"/>
                  </a:solidFill>
                  <a:latin typeface="Apple SD Gothic Neo"/>
                  <a:ea typeface="Malgun Gothic"/>
                  <a:cs typeface="Apple SD Gothic Neo"/>
                </a:rPr>
                <a:t>가장 취약한 집단, 그리고 경제 발전의 역설</a:t>
              </a:r>
            </a:p>
          </p:txBody>
        </p:sp>
        <p:grpSp>
          <p:nvGrpSpPr>
            <p:cNvPr id="42" name="Group 42"/>
            <p:cNvGrpSpPr/>
            <p:nvPr/>
          </p:nvGrpSpPr>
          <p:grpSpPr>
            <a:xfrm>
              <a:off x="10816480" y="4735541"/>
              <a:ext cx="236186" cy="300803"/>
              <a:chOff x="10816480" y="4735541"/>
              <a:chExt cx="236186" cy="300803"/>
            </a:xfrm>
          </p:grpSpPr>
          <p:sp>
            <p:nvSpPr>
              <p:cNvPr id="40" name="Freeform 40"/>
              <p:cNvSpPr/>
              <p:nvPr/>
            </p:nvSpPr>
            <p:spPr>
              <a:xfrm>
                <a:off x="10827222" y="4746325"/>
                <a:ext cx="214663" cy="236440"/>
              </a:xfrm>
              <a:custGeom>
                <a:avLst/>
                <a:gdLst/>
                <a:ahLst/>
                <a:cxnLst/>
                <a:rect l="l" t="t" r="r" b="b"/>
                <a:pathLst>
                  <a:path w="214663" h="236440">
                    <a:moveTo>
                      <a:pt x="214634" y="107853"/>
                    </a:moveTo>
                    <a:cubicBezTo>
                      <a:pt x="214663" y="140752"/>
                      <a:pt x="199552" y="171834"/>
                      <a:pt x="173660" y="192131"/>
                    </a:cubicBezTo>
                    <a:cubicBezTo>
                      <a:pt x="165753" y="198259"/>
                      <a:pt x="161105" y="207684"/>
                      <a:pt x="161056" y="217688"/>
                    </a:cubicBezTo>
                    <a:lnTo>
                      <a:pt x="161056" y="225725"/>
                    </a:lnTo>
                    <a:cubicBezTo>
                      <a:pt x="161056" y="231643"/>
                      <a:pt x="156258" y="236440"/>
                      <a:pt x="150340" y="236440"/>
                    </a:cubicBezTo>
                    <a:lnTo>
                      <a:pt x="64615" y="236440"/>
                    </a:lnTo>
                    <a:cubicBezTo>
                      <a:pt x="58697" y="236440"/>
                      <a:pt x="53900" y="231643"/>
                      <a:pt x="53900" y="225725"/>
                    </a:cubicBezTo>
                    <a:lnTo>
                      <a:pt x="53900" y="217688"/>
                    </a:lnTo>
                    <a:cubicBezTo>
                      <a:pt x="53889" y="207739"/>
                      <a:pt x="49294" y="198350"/>
                      <a:pt x="41443" y="192238"/>
                    </a:cubicBezTo>
                    <a:cubicBezTo>
                      <a:pt x="15634" y="172077"/>
                      <a:pt x="482" y="141205"/>
                      <a:pt x="321" y="108456"/>
                    </a:cubicBezTo>
                    <a:cubicBezTo>
                      <a:pt x="0" y="50377"/>
                      <a:pt x="46827" y="2036"/>
                      <a:pt x="104893" y="697"/>
                    </a:cubicBezTo>
                    <a:cubicBezTo>
                      <a:pt x="133757" y="0"/>
                      <a:pt x="161682" y="10981"/>
                      <a:pt x="182340" y="31153"/>
                    </a:cubicBezTo>
                    <a:cubicBezTo>
                      <a:pt x="202999" y="51325"/>
                      <a:pt x="214642" y="78980"/>
                      <a:pt x="214634" y="107853"/>
                    </a:cubicBezTo>
                    <a:close/>
                  </a:path>
                </a:pathLst>
              </a:custGeom>
              <a:solidFill>
                <a:srgbClr val="E63946">
                  <a:alpha val="20000"/>
                </a:srgbClr>
              </a:solidFill>
              <a:ln>
                <a:noFill/>
              </a:ln>
            </p:spPr>
          </p:sp>
          <p:sp>
            <p:nvSpPr>
              <p:cNvPr id="41" name="Freeform 41"/>
              <p:cNvSpPr/>
              <p:nvPr/>
            </p:nvSpPr>
            <p:spPr>
              <a:xfrm>
                <a:off x="10816480" y="4735541"/>
                <a:ext cx="236186" cy="300803"/>
              </a:xfrm>
              <a:custGeom>
                <a:avLst/>
                <a:gdLst/>
                <a:ahLst/>
                <a:cxnLst/>
                <a:rect l="l" t="t" r="r" b="b"/>
                <a:pathLst>
                  <a:path w="236186" h="300803">
                    <a:moveTo>
                      <a:pt x="182514" y="290087"/>
                    </a:moveTo>
                    <a:cubicBezTo>
                      <a:pt x="182514" y="296005"/>
                      <a:pt x="177716" y="300803"/>
                      <a:pt x="171798" y="300803"/>
                    </a:cubicBezTo>
                    <a:lnTo>
                      <a:pt x="64642" y="300803"/>
                    </a:lnTo>
                    <a:cubicBezTo>
                      <a:pt x="58724" y="300803"/>
                      <a:pt x="53926" y="296005"/>
                      <a:pt x="53926" y="290087"/>
                    </a:cubicBezTo>
                    <a:cubicBezTo>
                      <a:pt x="53926" y="284169"/>
                      <a:pt x="58724" y="279371"/>
                      <a:pt x="64642" y="279371"/>
                    </a:cubicBezTo>
                    <a:lnTo>
                      <a:pt x="171798" y="279371"/>
                    </a:lnTo>
                    <a:cubicBezTo>
                      <a:pt x="177716" y="279371"/>
                      <a:pt x="182514" y="284169"/>
                      <a:pt x="182514" y="290087"/>
                    </a:cubicBezTo>
                    <a:close/>
                    <a:moveTo>
                      <a:pt x="236092" y="118637"/>
                    </a:moveTo>
                    <a:cubicBezTo>
                      <a:pt x="236186" y="154837"/>
                      <a:pt x="219556" y="189050"/>
                      <a:pt x="191033" y="211341"/>
                    </a:cubicBezTo>
                    <a:cubicBezTo>
                      <a:pt x="185699" y="215429"/>
                      <a:pt x="182555" y="221752"/>
                      <a:pt x="182514" y="228472"/>
                    </a:cubicBezTo>
                    <a:lnTo>
                      <a:pt x="182514" y="236509"/>
                    </a:lnTo>
                    <a:cubicBezTo>
                      <a:pt x="182514" y="248345"/>
                      <a:pt x="172919" y="257940"/>
                      <a:pt x="161083" y="257940"/>
                    </a:cubicBezTo>
                    <a:lnTo>
                      <a:pt x="75358" y="257940"/>
                    </a:lnTo>
                    <a:cubicBezTo>
                      <a:pt x="63521" y="257940"/>
                      <a:pt x="53926" y="248345"/>
                      <a:pt x="53926" y="236509"/>
                    </a:cubicBezTo>
                    <a:lnTo>
                      <a:pt x="53926" y="228472"/>
                    </a:lnTo>
                    <a:cubicBezTo>
                      <a:pt x="53922" y="221832"/>
                      <a:pt x="50840" y="215569"/>
                      <a:pt x="45582" y="211515"/>
                    </a:cubicBezTo>
                    <a:cubicBezTo>
                      <a:pt x="17133" y="189359"/>
                      <a:pt x="453" y="155352"/>
                      <a:pt x="348" y="119293"/>
                    </a:cubicBezTo>
                    <a:cubicBezTo>
                      <a:pt x="0" y="55455"/>
                      <a:pt x="51596" y="2292"/>
                      <a:pt x="115380" y="765"/>
                    </a:cubicBezTo>
                    <a:cubicBezTo>
                      <a:pt x="147131" y="0"/>
                      <a:pt x="177847" y="12080"/>
                      <a:pt x="200570" y="34269"/>
                    </a:cubicBezTo>
                    <a:cubicBezTo>
                      <a:pt x="223294" y="56457"/>
                      <a:pt x="236101" y="86877"/>
                      <a:pt x="236092" y="118637"/>
                    </a:cubicBezTo>
                    <a:close/>
                    <a:moveTo>
                      <a:pt x="214661" y="118637"/>
                    </a:moveTo>
                    <a:cubicBezTo>
                      <a:pt x="214668" y="92650"/>
                      <a:pt x="204188" y="67760"/>
                      <a:pt x="185595" y="49606"/>
                    </a:cubicBezTo>
                    <a:cubicBezTo>
                      <a:pt x="167002" y="31451"/>
                      <a:pt x="141869" y="21568"/>
                      <a:pt x="115889" y="22196"/>
                    </a:cubicBezTo>
                    <a:cubicBezTo>
                      <a:pt x="63651" y="23429"/>
                      <a:pt x="21498" y="66921"/>
                      <a:pt x="21780" y="119159"/>
                    </a:cubicBezTo>
                    <a:cubicBezTo>
                      <a:pt x="21879" y="148650"/>
                      <a:pt x="35530" y="176457"/>
                      <a:pt x="58802" y="194571"/>
                    </a:cubicBezTo>
                    <a:cubicBezTo>
                      <a:pt x="69265" y="202704"/>
                      <a:pt x="75377" y="215220"/>
                      <a:pt x="75358" y="228472"/>
                    </a:cubicBezTo>
                    <a:lnTo>
                      <a:pt x="75358" y="236509"/>
                    </a:lnTo>
                    <a:lnTo>
                      <a:pt x="161083" y="236509"/>
                    </a:lnTo>
                    <a:lnTo>
                      <a:pt x="161083" y="228472"/>
                    </a:lnTo>
                    <a:cubicBezTo>
                      <a:pt x="161113" y="215183"/>
                      <a:pt x="167277" y="202652"/>
                      <a:pt x="177786" y="194517"/>
                    </a:cubicBezTo>
                    <a:cubicBezTo>
                      <a:pt x="201132" y="176272"/>
                      <a:pt x="214741" y="148267"/>
                      <a:pt x="214661" y="118637"/>
                    </a:cubicBezTo>
                    <a:close/>
                    <a:moveTo>
                      <a:pt x="193082" y="106127"/>
                    </a:moveTo>
                    <a:cubicBezTo>
                      <a:pt x="187391" y="74339"/>
                      <a:pt x="162506" y="49459"/>
                      <a:pt x="130717" y="43775"/>
                    </a:cubicBezTo>
                    <a:cubicBezTo>
                      <a:pt x="124881" y="42791"/>
                      <a:pt x="119351" y="46725"/>
                      <a:pt x="118367" y="52562"/>
                    </a:cubicBezTo>
                    <a:cubicBezTo>
                      <a:pt x="117384" y="58398"/>
                      <a:pt x="121318" y="63928"/>
                      <a:pt x="127154" y="64912"/>
                    </a:cubicBezTo>
                    <a:cubicBezTo>
                      <a:pt x="149349" y="68649"/>
                      <a:pt x="168182" y="87481"/>
                      <a:pt x="171946" y="109716"/>
                    </a:cubicBezTo>
                    <a:cubicBezTo>
                      <a:pt x="172821" y="114869"/>
                      <a:pt x="177287" y="118639"/>
                      <a:pt x="182514" y="118637"/>
                    </a:cubicBezTo>
                    <a:cubicBezTo>
                      <a:pt x="183119" y="118633"/>
                      <a:pt x="183724" y="118584"/>
                      <a:pt x="184322" y="118490"/>
                    </a:cubicBezTo>
                    <a:cubicBezTo>
                      <a:pt x="190155" y="117494"/>
                      <a:pt x="194076" y="111959"/>
                      <a:pt x="193082" y="106127"/>
                    </a:cubicBezTo>
                    <a:close/>
                  </a:path>
                </a:pathLst>
              </a:custGeom>
              <a:solidFill>
                <a:srgbClr val="E63946"/>
              </a:solidFill>
              <a:ln>
                <a:noFill/>
              </a:ln>
            </p:spPr>
          </p:sp>
        </p:grpSp>
      </p:grpSp>
      <p:grpSp>
        <p:nvGrpSpPr>
          <p:cNvPr id="51" name="Group 51"/>
          <p:cNvGrpSpPr/>
          <p:nvPr/>
        </p:nvGrpSpPr>
        <p:grpSpPr>
          <a:xfrm>
            <a:off x="1009650" y="5629275"/>
            <a:ext cx="10053637" cy="519113"/>
            <a:chOff x="1009650" y="5629275"/>
            <a:chExt cx="10053637" cy="519113"/>
          </a:xfrm>
        </p:grpSpPr>
        <p:sp>
          <p:nvSpPr>
            <p:cNvPr id="44" name="Ellipse 44"/>
            <p:cNvSpPr/>
            <p:nvPr/>
          </p:nvSpPr>
          <p:spPr>
            <a:xfrm>
              <a:off x="1009650" y="5629275"/>
              <a:ext cx="457200" cy="457200"/>
            </a:xfrm>
            <a:prstGeom prst="ellipse">
              <a:avLst/>
            </a:prstGeom>
            <a:solidFill>
              <a:srgbClr val="FFFFFF"/>
            </a:solidFill>
            <a:ln w="28575">
              <a:solidFill>
                <a:srgbClr val="2A9D8F"/>
              </a:solidFill>
            </a:ln>
          </p:spPr>
        </p:sp>
        <p:sp>
          <p:nvSpPr>
            <p:cNvPr id="45" name="TextBox 45"/>
            <p:cNvSpPr txBox="1"/>
            <p:nvPr/>
          </p:nvSpPr>
          <p:spPr>
            <a:xfrm>
              <a:off x="1137327" y="5803106"/>
              <a:ext cx="201847" cy="228600"/>
            </a:xfrm>
            <a:prstGeom prst="rect">
              <a:avLst/>
            </a:prstGeom>
            <a:noFill/>
            <a:ln>
              <a:noFill/>
            </a:ln>
          </p:spPr>
          <p:txBody>
            <a:bodyPr wrap="none" lIns="0" tIns="0" rIns="0" bIns="0" anchor="t" anchorCtr="0">
              <a:spAutoFit/>
            </a:bodyPr>
            <a:lstStyle/>
            <a:p>
              <a:pPr algn="ctr"/>
              <a:r>
                <a:rPr lang="zh-CN" sz="1125" b="1" dirty="0">
                  <a:solidFill>
                    <a:srgbClr val="2A9D8F"/>
                  </a:solidFill>
                  <a:latin typeface="Apple SD Gothic Neo"/>
                  <a:ea typeface="Malgun Gothic"/>
                  <a:cs typeface="Apple SD Gothic Neo"/>
                </a:rPr>
                <a:t>05</a:t>
              </a:r>
            </a:p>
          </p:txBody>
        </p:sp>
        <p:sp>
          <p:nvSpPr>
            <p:cNvPr id="46" name="TextBox 46"/>
            <p:cNvSpPr txBox="1"/>
            <p:nvPr/>
          </p:nvSpPr>
          <p:spPr>
            <a:xfrm>
              <a:off x="1751648" y="5640229"/>
              <a:ext cx="1760120" cy="320040"/>
            </a:xfrm>
            <a:prstGeom prst="rect">
              <a:avLst/>
            </a:prstGeom>
            <a:noFill/>
            <a:ln>
              <a:noFill/>
            </a:ln>
          </p:spPr>
          <p:txBody>
            <a:bodyPr wrap="none" lIns="0" tIns="0" rIns="0" bIns="0" anchor="t" anchorCtr="0">
              <a:spAutoFit/>
            </a:bodyPr>
            <a:lstStyle/>
            <a:p>
              <a:pPr algn="l"/>
              <a:r>
                <a:rPr lang="zh-CN" sz="1575" b="1" dirty="0">
                  <a:solidFill>
                    <a:srgbClr val="2B2D33"/>
                  </a:solidFill>
                  <a:latin typeface="Apple SD Gothic Neo"/>
                  <a:ea typeface="Malgun Gothic"/>
                  <a:cs typeface="Apple SD Gothic Neo"/>
                </a:rPr>
                <a:t>기대효과 · 활용방안 · 한계</a:t>
              </a:r>
            </a:p>
          </p:txBody>
        </p:sp>
        <p:sp>
          <p:nvSpPr>
            <p:cNvPr id="47" name="TextBox 47"/>
            <p:cNvSpPr txBox="1"/>
            <p:nvPr/>
          </p:nvSpPr>
          <p:spPr>
            <a:xfrm>
              <a:off x="1758315" y="5935028"/>
              <a:ext cx="1937909" cy="213360"/>
            </a:xfrm>
            <a:prstGeom prst="rect">
              <a:avLst/>
            </a:prstGeom>
            <a:noFill/>
            <a:ln>
              <a:noFill/>
            </a:ln>
          </p:spPr>
          <p:txBody>
            <a:bodyPr wrap="none" lIns="0" tIns="0" rIns="0" bIns="0" anchor="t" anchorCtr="0">
              <a:spAutoFit/>
            </a:bodyPr>
            <a:lstStyle/>
            <a:p>
              <a:pPr algn="l"/>
              <a:r>
                <a:rPr lang="zh-CN" sz="1050" dirty="0">
                  <a:solidFill>
                    <a:srgbClr val="5C6470"/>
                  </a:solidFill>
                  <a:latin typeface="Apple SD Gothic Neo"/>
                  <a:ea typeface="Malgun Gothic"/>
                  <a:cs typeface="Apple SD Gothic Neo"/>
                </a:rPr>
                <a:t>분석을 어디에 쓸 수 있고, 어디까지 믿어야 하는가</a:t>
              </a:r>
            </a:p>
          </p:txBody>
        </p:sp>
        <p:grpSp>
          <p:nvGrpSpPr>
            <p:cNvPr id="50" name="Group 50"/>
            <p:cNvGrpSpPr/>
            <p:nvPr/>
          </p:nvGrpSpPr>
          <p:grpSpPr>
            <a:xfrm>
              <a:off x="10806112" y="5720953"/>
              <a:ext cx="257175" cy="268256"/>
              <a:chOff x="10806112" y="5720953"/>
              <a:chExt cx="257175" cy="268256"/>
            </a:xfrm>
          </p:grpSpPr>
          <p:sp>
            <p:nvSpPr>
              <p:cNvPr id="48" name="Freeform 48"/>
              <p:cNvSpPr/>
              <p:nvPr/>
            </p:nvSpPr>
            <p:spPr>
              <a:xfrm>
                <a:off x="10816828" y="5731669"/>
                <a:ext cx="235744" cy="246620"/>
              </a:xfrm>
              <a:custGeom>
                <a:avLst/>
                <a:gdLst/>
                <a:ahLst/>
                <a:cxnLst/>
                <a:rect l="l" t="t" r="r" b="b"/>
                <a:pathLst>
                  <a:path w="235744" h="246620">
                    <a:moveTo>
                      <a:pt x="235744" y="10716"/>
                    </a:moveTo>
                    <a:lnTo>
                      <a:pt x="235744" y="89435"/>
                    </a:lnTo>
                    <a:cubicBezTo>
                      <a:pt x="235744" y="202190"/>
                      <a:pt x="140227" y="239548"/>
                      <a:pt x="121167" y="245883"/>
                    </a:cubicBezTo>
                    <a:cubicBezTo>
                      <a:pt x="119032" y="246620"/>
                      <a:pt x="116712" y="246620"/>
                      <a:pt x="114577" y="245883"/>
                    </a:cubicBezTo>
                    <a:cubicBezTo>
                      <a:pt x="95516" y="239575"/>
                      <a:pt x="0" y="202257"/>
                      <a:pt x="0" y="89462"/>
                    </a:cubicBezTo>
                    <a:lnTo>
                      <a:pt x="0" y="10716"/>
                    </a:lnTo>
                    <a:cubicBezTo>
                      <a:pt x="0" y="4798"/>
                      <a:pt x="4798" y="0"/>
                      <a:pt x="10716" y="0"/>
                    </a:cubicBezTo>
                    <a:lnTo>
                      <a:pt x="225028" y="0"/>
                    </a:lnTo>
                    <a:cubicBezTo>
                      <a:pt x="230946" y="0"/>
                      <a:pt x="235744" y="4798"/>
                      <a:pt x="235744" y="10716"/>
                    </a:cubicBezTo>
                    <a:close/>
                  </a:path>
                </a:pathLst>
              </a:custGeom>
              <a:solidFill>
                <a:srgbClr val="2A9D8F">
                  <a:alpha val="20000"/>
                </a:srgbClr>
              </a:solidFill>
              <a:ln>
                <a:noFill/>
              </a:ln>
            </p:spPr>
          </p:sp>
          <p:sp>
            <p:nvSpPr>
              <p:cNvPr id="49" name="Freeform 49"/>
              <p:cNvSpPr/>
              <p:nvPr/>
            </p:nvSpPr>
            <p:spPr>
              <a:xfrm>
                <a:off x="10806112" y="5720953"/>
                <a:ext cx="257175" cy="268256"/>
              </a:xfrm>
              <a:custGeom>
                <a:avLst/>
                <a:gdLst/>
                <a:ahLst/>
                <a:cxnLst/>
                <a:rect l="l" t="t" r="r" b="b"/>
                <a:pathLst>
                  <a:path w="257175" h="268256">
                    <a:moveTo>
                      <a:pt x="235744" y="0"/>
                    </a:moveTo>
                    <a:lnTo>
                      <a:pt x="21431" y="0"/>
                    </a:lnTo>
                    <a:cubicBezTo>
                      <a:pt x="9595" y="0"/>
                      <a:pt x="0" y="9595"/>
                      <a:pt x="0" y="21431"/>
                    </a:cubicBezTo>
                    <a:lnTo>
                      <a:pt x="0" y="100164"/>
                    </a:lnTo>
                    <a:cubicBezTo>
                      <a:pt x="0" y="220193"/>
                      <a:pt x="101557" y="260015"/>
                      <a:pt x="121890" y="266779"/>
                    </a:cubicBezTo>
                    <a:cubicBezTo>
                      <a:pt x="126233" y="268256"/>
                      <a:pt x="130942" y="268256"/>
                      <a:pt x="135285" y="266779"/>
                    </a:cubicBezTo>
                    <a:cubicBezTo>
                      <a:pt x="155644" y="260015"/>
                      <a:pt x="257175" y="220193"/>
                      <a:pt x="257175" y="100164"/>
                    </a:cubicBezTo>
                    <a:lnTo>
                      <a:pt x="257175" y="21431"/>
                    </a:lnTo>
                    <a:cubicBezTo>
                      <a:pt x="257175" y="9595"/>
                      <a:pt x="247580" y="0"/>
                      <a:pt x="235744" y="0"/>
                    </a:cubicBezTo>
                    <a:close/>
                    <a:moveTo>
                      <a:pt x="235744" y="100178"/>
                    </a:moveTo>
                    <a:cubicBezTo>
                      <a:pt x="235744" y="205218"/>
                      <a:pt x="146871" y="240311"/>
                      <a:pt x="128588" y="246419"/>
                    </a:cubicBezTo>
                    <a:cubicBezTo>
                      <a:pt x="110465" y="240378"/>
                      <a:pt x="21431" y="205311"/>
                      <a:pt x="21431" y="100178"/>
                    </a:cubicBezTo>
                    <a:lnTo>
                      <a:pt x="21431" y="21431"/>
                    </a:lnTo>
                    <a:lnTo>
                      <a:pt x="235744" y="21431"/>
                    </a:lnTo>
                    <a:close/>
                    <a:moveTo>
                      <a:pt x="67428" y="136169"/>
                    </a:moveTo>
                    <a:cubicBezTo>
                      <a:pt x="63241" y="131982"/>
                      <a:pt x="63241" y="125193"/>
                      <a:pt x="67428" y="121006"/>
                    </a:cubicBezTo>
                    <a:cubicBezTo>
                      <a:pt x="71615" y="116819"/>
                      <a:pt x="78404" y="116819"/>
                      <a:pt x="82591" y="121006"/>
                    </a:cubicBezTo>
                    <a:lnTo>
                      <a:pt x="107156" y="145572"/>
                    </a:lnTo>
                    <a:lnTo>
                      <a:pt x="174584" y="78144"/>
                    </a:lnTo>
                    <a:cubicBezTo>
                      <a:pt x="178771" y="73957"/>
                      <a:pt x="185560" y="73957"/>
                      <a:pt x="189747" y="78144"/>
                    </a:cubicBezTo>
                    <a:cubicBezTo>
                      <a:pt x="193934" y="82331"/>
                      <a:pt x="193934" y="89119"/>
                      <a:pt x="189747" y="93306"/>
                    </a:cubicBezTo>
                    <a:lnTo>
                      <a:pt x="114738" y="168316"/>
                    </a:lnTo>
                    <a:cubicBezTo>
                      <a:pt x="112728" y="170328"/>
                      <a:pt x="110000" y="171458"/>
                      <a:pt x="107156" y="171458"/>
                    </a:cubicBezTo>
                    <a:cubicBezTo>
                      <a:pt x="104312" y="171458"/>
                      <a:pt x="101585" y="170328"/>
                      <a:pt x="99575" y="168316"/>
                    </a:cubicBezTo>
                    <a:close/>
                  </a:path>
                </a:pathLst>
              </a:custGeom>
              <a:solidFill>
                <a:srgbClr val="2A9D8F"/>
              </a:solidFill>
              <a:ln>
                <a:noFill/>
              </a:ln>
            </p:spPr>
          </p:sp>
        </p:grpSp>
      </p:grpSp>
      <p:sp>
        <p:nvSpPr>
          <p:cNvPr id="52" name="TextBox 52"/>
          <p:cNvSpPr txBox="1"/>
          <p:nvPr/>
        </p:nvSpPr>
        <p:spPr>
          <a:xfrm>
            <a:off x="11298507" y="657844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Bottom)">
                                      <p:cBhvr>
                                        <p:cTn id="11" dur="400"/>
                                        <p:tgtEl>
                                          <p:spTgt spid="2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slide(fromBottom)">
                                      <p:cBhvr>
                                        <p:cTn id="19" dur="400"/>
                                        <p:tgtEl>
                                          <p:spTgt spid="4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slide(fromBottom)">
                                      <p:cBhvr>
                                        <p:cTn id="23"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7" grpId="0"/>
      <p:bldP spid="35" grpId="0"/>
      <p:bldP spid="43" grpId="0"/>
      <p:bldP spid="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4468713" cy="671512"/>
            <a:chOff x="762000" y="476250"/>
            <a:chExt cx="4468713"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3995142"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32년치 글로벌 데이터로 고위험 집단을 찾는다</a:t>
              </a:r>
            </a:p>
          </p:txBody>
        </p:sp>
        <p:sp>
          <p:nvSpPr>
            <p:cNvPr id="5" name="TextBox 5"/>
            <p:cNvSpPr txBox="1"/>
            <p:nvPr/>
          </p:nvSpPr>
          <p:spPr>
            <a:xfrm>
              <a:off x="977265" y="934402"/>
              <a:ext cx="4253448"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01 데이터와 분석 개요 · SUICIDE RATES OVERVIEW 1985–2016 (KAGGLE)</a:t>
              </a:r>
            </a:p>
          </p:txBody>
        </p:sp>
      </p:grpSp>
      <p:grpSp>
        <p:nvGrpSpPr>
          <p:cNvPr id="13" name="Group 13"/>
          <p:cNvGrpSpPr/>
          <p:nvPr/>
        </p:nvGrpSpPr>
        <p:grpSpPr>
          <a:xfrm>
            <a:off x="762000" y="1428750"/>
            <a:ext cx="2524125" cy="1619250"/>
            <a:chOff x="762000" y="1428750"/>
            <a:chExt cx="2524125" cy="1619250"/>
          </a:xfrm>
        </p:grpSpPr>
        <p:sp>
          <p:nvSpPr>
            <p:cNvPr id="7" name="Rectangle 7"/>
            <p:cNvSpPr/>
            <p:nvPr/>
          </p:nvSpPr>
          <p:spPr>
            <a:xfrm>
              <a:off x="762000" y="1428750"/>
              <a:ext cx="2524125" cy="1619250"/>
            </a:xfrm>
            <a:prstGeom prst="roundRect">
              <a:avLst>
                <a:gd name="adj" fmla="val 8235"/>
              </a:avLst>
            </a:prstGeom>
            <a:solidFill>
              <a:srgbClr val="FFFFFF"/>
            </a:solidFill>
            <a:ln w="9525">
              <a:solidFill>
                <a:srgbClr val="D8DEE6"/>
              </a:solidFill>
            </a:ln>
            <a:effectLst>
              <a:outerShdw blurRad="114300" dist="38100" dir="5400000" algn="ctr" rotWithShape="0">
                <a:srgbClr val="1E3A5F">
                  <a:alpha val="5250"/>
                </a:srgbClr>
              </a:outerShdw>
            </a:effectLst>
          </p:spPr>
        </p:sp>
        <p:grpSp>
          <p:nvGrpSpPr>
            <p:cNvPr id="10" name="Group 10"/>
            <p:cNvGrpSpPr/>
            <p:nvPr/>
          </p:nvGrpSpPr>
          <p:grpSpPr>
            <a:xfrm>
              <a:off x="1071562" y="1689497"/>
              <a:ext cx="257175" cy="278606"/>
              <a:chOff x="1071562" y="1689497"/>
              <a:chExt cx="257175" cy="278606"/>
            </a:xfrm>
          </p:grpSpPr>
          <p:sp>
            <p:nvSpPr>
              <p:cNvPr id="8" name="Freeform 8"/>
              <p:cNvSpPr/>
              <p:nvPr/>
            </p:nvSpPr>
            <p:spPr>
              <a:xfrm>
                <a:off x="1082278" y="170021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1E3A5F">
                  <a:alpha val="20000"/>
                </a:srgbClr>
              </a:solidFill>
              <a:ln>
                <a:noFill/>
              </a:ln>
            </p:spPr>
          </p:sp>
          <p:sp>
            <p:nvSpPr>
              <p:cNvPr id="9" name="Freeform 9"/>
              <p:cNvSpPr/>
              <p:nvPr/>
            </p:nvSpPr>
            <p:spPr>
              <a:xfrm>
                <a:off x="1071562" y="168949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1E3A5F"/>
              </a:solidFill>
              <a:ln>
                <a:noFill/>
              </a:ln>
            </p:spPr>
          </p:sp>
        </p:grpSp>
        <p:sp>
          <p:nvSpPr>
            <p:cNvPr id="11" name="TextBox 11"/>
            <p:cNvSpPr txBox="1"/>
            <p:nvPr/>
          </p:nvSpPr>
          <p:spPr>
            <a:xfrm>
              <a:off x="992505" y="2054542"/>
              <a:ext cx="1389255" cy="579120"/>
            </a:xfrm>
            <a:prstGeom prst="rect">
              <a:avLst/>
            </a:prstGeom>
            <a:noFill/>
            <a:ln>
              <a:noFill/>
            </a:ln>
          </p:spPr>
          <p:txBody>
            <a:bodyPr wrap="none" lIns="0" tIns="0" rIns="0" bIns="0" anchor="t" anchorCtr="0">
              <a:spAutoFit/>
            </a:bodyPr>
            <a:lstStyle/>
            <a:p>
              <a:pPr algn="l"/>
              <a:r>
                <a:rPr lang="zh-CN" sz="2850" b="1" dirty="0">
                  <a:solidFill>
                    <a:srgbClr val="1E3A5F"/>
                  </a:solidFill>
                  <a:latin typeface="Apple SD Gothic Neo"/>
                  <a:ea typeface="Malgun Gothic"/>
                  <a:cs typeface="Apple SD Gothic Neo"/>
                </a:rPr>
                <a:t>27,820</a:t>
              </a:r>
            </a:p>
          </p:txBody>
        </p:sp>
        <p:sp>
          <p:nvSpPr>
            <p:cNvPr id="12" name="TextBox 12"/>
            <p:cNvSpPr txBox="1"/>
            <p:nvPr/>
          </p:nvSpPr>
          <p:spPr>
            <a:xfrm>
              <a:off x="1014412" y="2545556"/>
              <a:ext cx="613648" cy="228600"/>
            </a:xfrm>
            <a:prstGeom prst="rect">
              <a:avLst/>
            </a:prstGeom>
            <a:noFill/>
            <a:ln>
              <a:noFill/>
            </a:ln>
          </p:spPr>
          <p:txBody>
            <a:bodyPr wrap="none" lIns="0" tIns="0" rIns="0" bIns="0" anchor="t" anchorCtr="0">
              <a:spAutoFit/>
            </a:bodyPr>
            <a:lstStyle/>
            <a:p>
              <a:pPr algn="l"/>
              <a:r>
                <a:rPr lang="zh-CN" sz="1125" dirty="0">
                  <a:solidFill>
                    <a:srgbClr val="5C6470"/>
                  </a:solidFill>
                  <a:latin typeface="Apple SD Gothic Neo"/>
                  <a:ea typeface="Malgun Gothic"/>
                  <a:cs typeface="Apple SD Gothic Neo"/>
                </a:rPr>
                <a:t>분석 레코드 수</a:t>
              </a:r>
            </a:p>
          </p:txBody>
        </p:sp>
      </p:grpSp>
      <p:grpSp>
        <p:nvGrpSpPr>
          <p:cNvPr id="20" name="Group 20"/>
          <p:cNvGrpSpPr/>
          <p:nvPr/>
        </p:nvGrpSpPr>
        <p:grpSpPr>
          <a:xfrm>
            <a:off x="3476625" y="1428750"/>
            <a:ext cx="2524125" cy="1619250"/>
            <a:chOff x="3476625" y="1428750"/>
            <a:chExt cx="2524125" cy="1619250"/>
          </a:xfrm>
        </p:grpSpPr>
        <p:sp>
          <p:nvSpPr>
            <p:cNvPr id="14" name="Rectangle 14"/>
            <p:cNvSpPr/>
            <p:nvPr/>
          </p:nvSpPr>
          <p:spPr>
            <a:xfrm>
              <a:off x="3476625" y="1428750"/>
              <a:ext cx="2524125" cy="1619250"/>
            </a:xfrm>
            <a:prstGeom prst="roundRect">
              <a:avLst>
                <a:gd name="adj" fmla="val 8235"/>
              </a:avLst>
            </a:prstGeom>
            <a:solidFill>
              <a:srgbClr val="FFFFFF"/>
            </a:solidFill>
            <a:ln w="9525">
              <a:solidFill>
                <a:srgbClr val="D8DEE6"/>
              </a:solidFill>
            </a:ln>
            <a:effectLst>
              <a:outerShdw blurRad="114300" dist="38100" dir="5400000" algn="ctr" rotWithShape="0">
                <a:srgbClr val="1E3A5F">
                  <a:alpha val="5250"/>
                </a:srgbClr>
              </a:outerShdw>
            </a:effectLst>
          </p:spPr>
        </p:sp>
        <p:grpSp>
          <p:nvGrpSpPr>
            <p:cNvPr id="17" name="Group 17"/>
            <p:cNvGrpSpPr/>
            <p:nvPr/>
          </p:nvGrpSpPr>
          <p:grpSpPr>
            <a:xfrm>
              <a:off x="3775472" y="1689497"/>
              <a:ext cx="278606" cy="278606"/>
              <a:chOff x="3775472" y="1689497"/>
              <a:chExt cx="278606" cy="278606"/>
            </a:xfrm>
          </p:grpSpPr>
          <p:sp>
            <p:nvSpPr>
              <p:cNvPr id="15" name="Freeform 15"/>
              <p:cNvSpPr/>
              <p:nvPr/>
            </p:nvSpPr>
            <p:spPr>
              <a:xfrm>
                <a:off x="3786188" y="1700212"/>
                <a:ext cx="257175" cy="257175"/>
              </a:xfrm>
              <a:custGeom>
                <a:avLst/>
                <a:gdLst/>
                <a:ahLst/>
                <a:cxnLst/>
                <a:rect l="l" t="t" r="r" b="b"/>
                <a:pathLst>
                  <a:path w="257175" h="257175">
                    <a:moveTo>
                      <a:pt x="257175" y="128588"/>
                    </a:moveTo>
                    <a:cubicBezTo>
                      <a:pt x="257175" y="199604"/>
                      <a:pt x="199604" y="257175"/>
                      <a:pt x="128588" y="257175"/>
                    </a:cubicBezTo>
                    <a:cubicBezTo>
                      <a:pt x="57571" y="257175"/>
                      <a:pt x="0" y="199604"/>
                      <a:pt x="0" y="128588"/>
                    </a:cubicBezTo>
                    <a:cubicBezTo>
                      <a:pt x="0" y="57571"/>
                      <a:pt x="57571" y="0"/>
                      <a:pt x="128588" y="0"/>
                    </a:cubicBezTo>
                    <a:cubicBezTo>
                      <a:pt x="199604" y="0"/>
                      <a:pt x="257175" y="57571"/>
                      <a:pt x="257175" y="128588"/>
                    </a:cubicBezTo>
                    <a:close/>
                  </a:path>
                </a:pathLst>
              </a:custGeom>
              <a:solidFill>
                <a:srgbClr val="457B9D">
                  <a:alpha val="20000"/>
                </a:srgbClr>
              </a:solidFill>
              <a:ln>
                <a:noFill/>
              </a:ln>
            </p:spPr>
          </p:sp>
          <p:sp>
            <p:nvSpPr>
              <p:cNvPr id="16" name="Freeform 16"/>
              <p:cNvSpPr/>
              <p:nvPr/>
            </p:nvSpPr>
            <p:spPr>
              <a:xfrm>
                <a:off x="3775472" y="1689497"/>
                <a:ext cx="278606" cy="278606"/>
              </a:xfrm>
              <a:custGeom>
                <a:avLst/>
                <a:gdLst/>
                <a:ahLst/>
                <a:cxnLst/>
                <a:rect l="l" t="t" r="r" b="b"/>
                <a:pathLst>
                  <a:path w="278606" h="278606">
                    <a:moveTo>
                      <a:pt x="139303" y="0"/>
                    </a:moveTo>
                    <a:cubicBezTo>
                      <a:pt x="62368" y="0"/>
                      <a:pt x="0" y="62368"/>
                      <a:pt x="0" y="139303"/>
                    </a:cubicBezTo>
                    <a:cubicBezTo>
                      <a:pt x="0" y="216238"/>
                      <a:pt x="62368" y="278606"/>
                      <a:pt x="139303" y="278606"/>
                    </a:cubicBezTo>
                    <a:cubicBezTo>
                      <a:pt x="216238" y="278606"/>
                      <a:pt x="278606" y="216238"/>
                      <a:pt x="278606" y="139303"/>
                    </a:cubicBezTo>
                    <a:cubicBezTo>
                      <a:pt x="278525" y="62402"/>
                      <a:pt x="216204" y="81"/>
                      <a:pt x="139303" y="0"/>
                    </a:cubicBezTo>
                    <a:close/>
                    <a:moveTo>
                      <a:pt x="103982" y="192881"/>
                    </a:moveTo>
                    <a:lnTo>
                      <a:pt x="174625" y="192881"/>
                    </a:lnTo>
                    <a:cubicBezTo>
                      <a:pt x="167432" y="217447"/>
                      <a:pt x="155377" y="239588"/>
                      <a:pt x="139303" y="257028"/>
                    </a:cubicBezTo>
                    <a:cubicBezTo>
                      <a:pt x="123230" y="239588"/>
                      <a:pt x="111175" y="217447"/>
                      <a:pt x="103982" y="192881"/>
                    </a:cubicBezTo>
                    <a:close/>
                    <a:moveTo>
                      <a:pt x="99120" y="171450"/>
                    </a:moveTo>
                    <a:cubicBezTo>
                      <a:pt x="95566" y="150166"/>
                      <a:pt x="95566" y="128440"/>
                      <a:pt x="99120" y="107156"/>
                    </a:cubicBezTo>
                    <a:lnTo>
                      <a:pt x="179487" y="107156"/>
                    </a:lnTo>
                    <a:cubicBezTo>
                      <a:pt x="183041" y="128440"/>
                      <a:pt x="183041" y="150166"/>
                      <a:pt x="179487" y="171450"/>
                    </a:cubicBezTo>
                    <a:close/>
                    <a:moveTo>
                      <a:pt x="21431" y="139303"/>
                    </a:moveTo>
                    <a:cubicBezTo>
                      <a:pt x="21422" y="128433"/>
                      <a:pt x="22923" y="117614"/>
                      <a:pt x="25892" y="107156"/>
                    </a:cubicBezTo>
                    <a:lnTo>
                      <a:pt x="77407" y="107156"/>
                    </a:lnTo>
                    <a:cubicBezTo>
                      <a:pt x="74210" y="128468"/>
                      <a:pt x="74210" y="150138"/>
                      <a:pt x="77407" y="171450"/>
                    </a:cubicBezTo>
                    <a:lnTo>
                      <a:pt x="25892" y="171450"/>
                    </a:lnTo>
                    <a:cubicBezTo>
                      <a:pt x="22923" y="160993"/>
                      <a:pt x="21422" y="150174"/>
                      <a:pt x="21431" y="139303"/>
                    </a:cubicBezTo>
                    <a:close/>
                    <a:moveTo>
                      <a:pt x="174625" y="85725"/>
                    </a:moveTo>
                    <a:lnTo>
                      <a:pt x="103982" y="85725"/>
                    </a:lnTo>
                    <a:cubicBezTo>
                      <a:pt x="111175" y="61159"/>
                      <a:pt x="123230" y="39018"/>
                      <a:pt x="139303" y="21579"/>
                    </a:cubicBezTo>
                    <a:cubicBezTo>
                      <a:pt x="155377" y="39018"/>
                      <a:pt x="167432" y="61159"/>
                      <a:pt x="174625" y="85725"/>
                    </a:cubicBezTo>
                    <a:close/>
                    <a:moveTo>
                      <a:pt x="201199" y="107156"/>
                    </a:moveTo>
                    <a:lnTo>
                      <a:pt x="252715" y="107156"/>
                    </a:lnTo>
                    <a:cubicBezTo>
                      <a:pt x="258662" y="128175"/>
                      <a:pt x="258662" y="150431"/>
                      <a:pt x="252715" y="171450"/>
                    </a:cubicBezTo>
                    <a:lnTo>
                      <a:pt x="201199" y="171450"/>
                    </a:lnTo>
                    <a:cubicBezTo>
                      <a:pt x="204396" y="150138"/>
                      <a:pt x="204396" y="128468"/>
                      <a:pt x="201199" y="107156"/>
                    </a:cubicBezTo>
                    <a:close/>
                    <a:moveTo>
                      <a:pt x="244276" y="85725"/>
                    </a:moveTo>
                    <a:lnTo>
                      <a:pt x="196819" y="85725"/>
                    </a:lnTo>
                    <a:cubicBezTo>
                      <a:pt x="191351" y="64207"/>
                      <a:pt x="182167" y="43809"/>
                      <a:pt x="169682" y="25450"/>
                    </a:cubicBezTo>
                    <a:cubicBezTo>
                      <a:pt x="201937" y="34118"/>
                      <a:pt x="229029" y="56009"/>
                      <a:pt x="244276" y="85725"/>
                    </a:cubicBezTo>
                    <a:close/>
                    <a:moveTo>
                      <a:pt x="108924" y="25450"/>
                    </a:moveTo>
                    <a:cubicBezTo>
                      <a:pt x="96439" y="43809"/>
                      <a:pt x="87256" y="64207"/>
                      <a:pt x="81787" y="85725"/>
                    </a:cubicBezTo>
                    <a:lnTo>
                      <a:pt x="34330" y="85725"/>
                    </a:lnTo>
                    <a:cubicBezTo>
                      <a:pt x="49577" y="56009"/>
                      <a:pt x="76669" y="34118"/>
                      <a:pt x="108924" y="25450"/>
                    </a:cubicBezTo>
                    <a:close/>
                    <a:moveTo>
                      <a:pt x="34330" y="192881"/>
                    </a:moveTo>
                    <a:lnTo>
                      <a:pt x="81787" y="192881"/>
                    </a:lnTo>
                    <a:cubicBezTo>
                      <a:pt x="87256" y="214399"/>
                      <a:pt x="96439" y="234798"/>
                      <a:pt x="108924" y="253157"/>
                    </a:cubicBezTo>
                    <a:cubicBezTo>
                      <a:pt x="76669" y="244489"/>
                      <a:pt x="49577" y="222597"/>
                      <a:pt x="34330" y="192881"/>
                    </a:cubicBezTo>
                    <a:close/>
                    <a:moveTo>
                      <a:pt x="169682" y="253157"/>
                    </a:moveTo>
                    <a:cubicBezTo>
                      <a:pt x="182167" y="234798"/>
                      <a:pt x="191351" y="214399"/>
                      <a:pt x="196819" y="192881"/>
                    </a:cubicBezTo>
                    <a:lnTo>
                      <a:pt x="244276" y="192881"/>
                    </a:lnTo>
                    <a:cubicBezTo>
                      <a:pt x="229029" y="222597"/>
                      <a:pt x="201937" y="244489"/>
                      <a:pt x="169682" y="253157"/>
                    </a:cubicBezTo>
                    <a:close/>
                  </a:path>
                </a:pathLst>
              </a:custGeom>
              <a:solidFill>
                <a:srgbClr val="457B9D"/>
              </a:solidFill>
              <a:ln>
                <a:noFill/>
              </a:ln>
            </p:spPr>
          </p:sp>
        </p:grpSp>
        <p:sp>
          <p:nvSpPr>
            <p:cNvPr id="18" name="TextBox 18"/>
            <p:cNvSpPr txBox="1"/>
            <p:nvPr/>
          </p:nvSpPr>
          <p:spPr>
            <a:xfrm>
              <a:off x="3707130" y="2054542"/>
              <a:ext cx="1169777" cy="579120"/>
            </a:xfrm>
            <a:prstGeom prst="rect">
              <a:avLst/>
            </a:prstGeom>
            <a:noFill/>
            <a:ln>
              <a:noFill/>
            </a:ln>
          </p:spPr>
          <p:txBody>
            <a:bodyPr wrap="none" lIns="0" tIns="0" rIns="0" bIns="0" anchor="t" anchorCtr="0">
              <a:spAutoFit/>
            </a:bodyPr>
            <a:lstStyle/>
            <a:p>
              <a:pPr algn="l"/>
              <a:r>
                <a:rPr lang="zh-CN" sz="2850" b="1" dirty="0">
                  <a:solidFill>
                    <a:srgbClr val="1E3A5F"/>
                  </a:solidFill>
                  <a:latin typeface="Apple SD Gothic Neo"/>
                  <a:ea typeface="Malgun Gothic"/>
                  <a:cs typeface="Apple SD Gothic Neo"/>
                </a:rPr>
                <a:t>101개국</a:t>
              </a:r>
            </a:p>
          </p:txBody>
        </p:sp>
        <p:sp>
          <p:nvSpPr>
            <p:cNvPr id="19" name="TextBox 19"/>
            <p:cNvSpPr txBox="1"/>
            <p:nvPr/>
          </p:nvSpPr>
          <p:spPr>
            <a:xfrm>
              <a:off x="3729038" y="2545556"/>
              <a:ext cx="696158" cy="228600"/>
            </a:xfrm>
            <a:prstGeom prst="rect">
              <a:avLst/>
            </a:prstGeom>
            <a:noFill/>
            <a:ln>
              <a:noFill/>
            </a:ln>
          </p:spPr>
          <p:txBody>
            <a:bodyPr wrap="none" lIns="0" tIns="0" rIns="0" bIns="0" anchor="t" anchorCtr="0">
              <a:spAutoFit/>
            </a:bodyPr>
            <a:lstStyle/>
            <a:p>
              <a:pPr algn="l"/>
              <a:r>
                <a:rPr lang="zh-CN" sz="1125" dirty="0">
                  <a:solidFill>
                    <a:srgbClr val="5C6470"/>
                  </a:solidFill>
                  <a:latin typeface="Apple SD Gothic Neo"/>
                  <a:ea typeface="Malgun Gothic"/>
                  <a:cs typeface="Apple SD Gothic Neo"/>
                </a:rPr>
                <a:t>전세계 국가 포함</a:t>
              </a:r>
            </a:p>
          </p:txBody>
        </p:sp>
      </p:grpSp>
      <p:grpSp>
        <p:nvGrpSpPr>
          <p:cNvPr id="27" name="Group 27"/>
          <p:cNvGrpSpPr/>
          <p:nvPr/>
        </p:nvGrpSpPr>
        <p:grpSpPr>
          <a:xfrm>
            <a:off x="6191250" y="1428750"/>
            <a:ext cx="2524125" cy="1619250"/>
            <a:chOff x="6191250" y="1428750"/>
            <a:chExt cx="2524125" cy="1619250"/>
          </a:xfrm>
        </p:grpSpPr>
        <p:sp>
          <p:nvSpPr>
            <p:cNvPr id="21" name="Rectangle 21"/>
            <p:cNvSpPr/>
            <p:nvPr/>
          </p:nvSpPr>
          <p:spPr>
            <a:xfrm>
              <a:off x="6191250" y="1428750"/>
              <a:ext cx="2524125" cy="1619250"/>
            </a:xfrm>
            <a:prstGeom prst="roundRect">
              <a:avLst>
                <a:gd name="adj" fmla="val 8235"/>
              </a:avLst>
            </a:prstGeom>
            <a:solidFill>
              <a:srgbClr val="FFFFFF"/>
            </a:solidFill>
            <a:ln w="9525">
              <a:solidFill>
                <a:srgbClr val="D8DEE6"/>
              </a:solidFill>
            </a:ln>
            <a:effectLst>
              <a:outerShdw blurRad="114300" dist="38100" dir="5400000" algn="ctr" rotWithShape="0">
                <a:srgbClr val="1E3A5F">
                  <a:alpha val="5250"/>
                </a:srgbClr>
              </a:outerShdw>
            </a:effectLst>
          </p:spPr>
        </p:sp>
        <p:grpSp>
          <p:nvGrpSpPr>
            <p:cNvPr id="24" name="Group 24"/>
            <p:cNvGrpSpPr/>
            <p:nvPr/>
          </p:nvGrpSpPr>
          <p:grpSpPr>
            <a:xfrm>
              <a:off x="6500812" y="1678781"/>
              <a:ext cx="257175" cy="278606"/>
              <a:chOff x="6500812" y="1678781"/>
              <a:chExt cx="257175" cy="278606"/>
            </a:xfrm>
          </p:grpSpPr>
          <p:sp>
            <p:nvSpPr>
              <p:cNvPr id="22" name="Freeform 22"/>
              <p:cNvSpPr/>
              <p:nvPr/>
            </p:nvSpPr>
            <p:spPr>
              <a:xfrm>
                <a:off x="6511528" y="1710928"/>
                <a:ext cx="235744" cy="64294"/>
              </a:xfrm>
              <a:custGeom>
                <a:avLst/>
                <a:gdLst/>
                <a:ahLst/>
                <a:cxnLst/>
                <a:rect l="l" t="t" r="r" b="b"/>
                <a:pathLst>
                  <a:path w="235744" h="64294">
                    <a:moveTo>
                      <a:pt x="235744" y="10716"/>
                    </a:moveTo>
                    <a:lnTo>
                      <a:pt x="235744" y="64294"/>
                    </a:lnTo>
                    <a:lnTo>
                      <a:pt x="0" y="64294"/>
                    </a:lnTo>
                    <a:lnTo>
                      <a:pt x="0" y="10716"/>
                    </a:lnTo>
                    <a:cubicBezTo>
                      <a:pt x="0" y="4798"/>
                      <a:pt x="4798" y="0"/>
                      <a:pt x="10716" y="0"/>
                    </a:cubicBezTo>
                    <a:lnTo>
                      <a:pt x="225028" y="0"/>
                    </a:lnTo>
                    <a:cubicBezTo>
                      <a:pt x="230946" y="0"/>
                      <a:pt x="235744" y="4798"/>
                      <a:pt x="235744" y="10716"/>
                    </a:cubicBezTo>
                    <a:close/>
                  </a:path>
                </a:pathLst>
              </a:custGeom>
              <a:solidFill>
                <a:srgbClr val="457B9D">
                  <a:alpha val="20000"/>
                </a:srgbClr>
              </a:solidFill>
              <a:ln>
                <a:noFill/>
              </a:ln>
            </p:spPr>
          </p:sp>
          <p:sp>
            <p:nvSpPr>
              <p:cNvPr id="23" name="Freeform 23"/>
              <p:cNvSpPr/>
              <p:nvPr/>
            </p:nvSpPr>
            <p:spPr>
              <a:xfrm>
                <a:off x="6500812" y="1678781"/>
                <a:ext cx="257175" cy="278606"/>
              </a:xfrm>
              <a:custGeom>
                <a:avLst/>
                <a:gdLst/>
                <a:ahLst/>
                <a:cxnLst/>
                <a:rect l="l" t="t" r="r" b="b"/>
                <a:pathLst>
                  <a:path w="257175" h="278606">
                    <a:moveTo>
                      <a:pt x="235744" y="21431"/>
                    </a:moveTo>
                    <a:lnTo>
                      <a:pt x="203597" y="21431"/>
                    </a:lnTo>
                    <a:lnTo>
                      <a:pt x="203597" y="10716"/>
                    </a:lnTo>
                    <a:cubicBezTo>
                      <a:pt x="203597" y="4798"/>
                      <a:pt x="198799" y="0"/>
                      <a:pt x="192881" y="0"/>
                    </a:cubicBezTo>
                    <a:cubicBezTo>
                      <a:pt x="186963" y="0"/>
                      <a:pt x="182166" y="4798"/>
                      <a:pt x="182166" y="10716"/>
                    </a:cubicBezTo>
                    <a:lnTo>
                      <a:pt x="182166" y="21431"/>
                    </a:lnTo>
                    <a:lnTo>
                      <a:pt x="75009" y="21431"/>
                    </a:lnTo>
                    <a:lnTo>
                      <a:pt x="75009" y="10716"/>
                    </a:lnTo>
                    <a:cubicBezTo>
                      <a:pt x="75009" y="4798"/>
                      <a:pt x="70212" y="0"/>
                      <a:pt x="64294" y="0"/>
                    </a:cubicBezTo>
                    <a:cubicBezTo>
                      <a:pt x="58376" y="0"/>
                      <a:pt x="53578" y="4798"/>
                      <a:pt x="53578" y="10716"/>
                    </a:cubicBezTo>
                    <a:lnTo>
                      <a:pt x="53578" y="21431"/>
                    </a:lnTo>
                    <a:lnTo>
                      <a:pt x="21431" y="21431"/>
                    </a:lnTo>
                    <a:cubicBezTo>
                      <a:pt x="9595" y="21431"/>
                      <a:pt x="0" y="31026"/>
                      <a:pt x="0" y="42862"/>
                    </a:cubicBezTo>
                    <a:lnTo>
                      <a:pt x="0" y="257175"/>
                    </a:lnTo>
                    <a:cubicBezTo>
                      <a:pt x="0" y="269011"/>
                      <a:pt x="9595" y="278606"/>
                      <a:pt x="21431" y="278606"/>
                    </a:cubicBezTo>
                    <a:lnTo>
                      <a:pt x="235744" y="278606"/>
                    </a:lnTo>
                    <a:cubicBezTo>
                      <a:pt x="247580" y="278606"/>
                      <a:pt x="257175" y="269011"/>
                      <a:pt x="257175" y="257175"/>
                    </a:cubicBezTo>
                    <a:lnTo>
                      <a:pt x="257175" y="42862"/>
                    </a:lnTo>
                    <a:cubicBezTo>
                      <a:pt x="257175" y="31026"/>
                      <a:pt x="247580" y="21431"/>
                      <a:pt x="235744" y="21431"/>
                    </a:cubicBezTo>
                    <a:close/>
                    <a:moveTo>
                      <a:pt x="53578" y="42862"/>
                    </a:moveTo>
                    <a:lnTo>
                      <a:pt x="53578" y="53578"/>
                    </a:lnTo>
                    <a:cubicBezTo>
                      <a:pt x="53578" y="59496"/>
                      <a:pt x="58376" y="64294"/>
                      <a:pt x="64294" y="64294"/>
                    </a:cubicBezTo>
                    <a:cubicBezTo>
                      <a:pt x="70212" y="64294"/>
                      <a:pt x="75009" y="59496"/>
                      <a:pt x="75009" y="53578"/>
                    </a:cubicBezTo>
                    <a:lnTo>
                      <a:pt x="75009" y="42862"/>
                    </a:lnTo>
                    <a:lnTo>
                      <a:pt x="182166" y="42862"/>
                    </a:lnTo>
                    <a:lnTo>
                      <a:pt x="182166" y="53578"/>
                    </a:lnTo>
                    <a:cubicBezTo>
                      <a:pt x="182166" y="59496"/>
                      <a:pt x="186963" y="64294"/>
                      <a:pt x="192881" y="64294"/>
                    </a:cubicBezTo>
                    <a:cubicBezTo>
                      <a:pt x="198799" y="64294"/>
                      <a:pt x="203597" y="59496"/>
                      <a:pt x="203597" y="53578"/>
                    </a:cubicBezTo>
                    <a:lnTo>
                      <a:pt x="203597" y="42862"/>
                    </a:lnTo>
                    <a:lnTo>
                      <a:pt x="235744" y="42862"/>
                    </a:lnTo>
                    <a:lnTo>
                      <a:pt x="235744" y="85725"/>
                    </a:lnTo>
                    <a:lnTo>
                      <a:pt x="21431" y="85725"/>
                    </a:lnTo>
                    <a:lnTo>
                      <a:pt x="21431" y="42862"/>
                    </a:lnTo>
                    <a:close/>
                    <a:moveTo>
                      <a:pt x="235744" y="257175"/>
                    </a:moveTo>
                    <a:lnTo>
                      <a:pt x="21431" y="257175"/>
                    </a:lnTo>
                    <a:lnTo>
                      <a:pt x="21431" y="107156"/>
                    </a:lnTo>
                    <a:lnTo>
                      <a:pt x="235744" y="107156"/>
                    </a:lnTo>
                    <a:lnTo>
                      <a:pt x="235744" y="257175"/>
                    </a:lnTo>
                    <a:close/>
                    <a:moveTo>
                      <a:pt x="107156" y="139303"/>
                    </a:moveTo>
                    <a:lnTo>
                      <a:pt x="107156" y="225028"/>
                    </a:lnTo>
                    <a:cubicBezTo>
                      <a:pt x="107156" y="230946"/>
                      <a:pt x="102359" y="235744"/>
                      <a:pt x="96441" y="235744"/>
                    </a:cubicBezTo>
                    <a:cubicBezTo>
                      <a:pt x="90523" y="235744"/>
                      <a:pt x="85725" y="230946"/>
                      <a:pt x="85725" y="225028"/>
                    </a:cubicBezTo>
                    <a:lnTo>
                      <a:pt x="85725" y="156636"/>
                    </a:lnTo>
                    <a:lnTo>
                      <a:pt x="79805" y="159609"/>
                    </a:lnTo>
                    <a:cubicBezTo>
                      <a:pt x="74508" y="162258"/>
                      <a:pt x="68067" y="160111"/>
                      <a:pt x="65419" y="154814"/>
                    </a:cubicBezTo>
                    <a:cubicBezTo>
                      <a:pt x="62771" y="149517"/>
                      <a:pt x="64917" y="143077"/>
                      <a:pt x="70214" y="140428"/>
                    </a:cubicBezTo>
                    <a:lnTo>
                      <a:pt x="91645" y="129713"/>
                    </a:lnTo>
                    <a:cubicBezTo>
                      <a:pt x="94968" y="128050"/>
                      <a:pt x="98916" y="128227"/>
                      <a:pt x="102076" y="130181"/>
                    </a:cubicBezTo>
                    <a:cubicBezTo>
                      <a:pt x="105236" y="132135"/>
                      <a:pt x="107159" y="135587"/>
                      <a:pt x="107156" y="139303"/>
                    </a:cubicBezTo>
                    <a:close/>
                    <a:moveTo>
                      <a:pt x="186398" y="180089"/>
                    </a:moveTo>
                    <a:lnTo>
                      <a:pt x="160734" y="214312"/>
                    </a:lnTo>
                    <a:lnTo>
                      <a:pt x="182166" y="214312"/>
                    </a:lnTo>
                    <a:cubicBezTo>
                      <a:pt x="188084" y="214312"/>
                      <a:pt x="192881" y="219110"/>
                      <a:pt x="192881" y="225028"/>
                    </a:cubicBezTo>
                    <a:cubicBezTo>
                      <a:pt x="192881" y="230946"/>
                      <a:pt x="188084" y="235744"/>
                      <a:pt x="182166" y="235744"/>
                    </a:cubicBezTo>
                    <a:lnTo>
                      <a:pt x="139303" y="235744"/>
                    </a:lnTo>
                    <a:cubicBezTo>
                      <a:pt x="135244" y="235744"/>
                      <a:pt x="131534" y="233451"/>
                      <a:pt x="129719" y="229820"/>
                    </a:cubicBezTo>
                    <a:cubicBezTo>
                      <a:pt x="127904" y="226190"/>
                      <a:pt x="128295" y="221846"/>
                      <a:pt x="130731" y="218599"/>
                    </a:cubicBezTo>
                    <a:lnTo>
                      <a:pt x="169280" y="167204"/>
                    </a:lnTo>
                    <a:cubicBezTo>
                      <a:pt x="171669" y="164023"/>
                      <a:pt x="172100" y="159781"/>
                      <a:pt x="170398" y="156185"/>
                    </a:cubicBezTo>
                    <a:cubicBezTo>
                      <a:pt x="168697" y="152589"/>
                      <a:pt x="165144" y="150232"/>
                      <a:pt x="161169" y="150062"/>
                    </a:cubicBezTo>
                    <a:cubicBezTo>
                      <a:pt x="157195" y="149893"/>
                      <a:pt x="153454" y="151939"/>
                      <a:pt x="151452" y="155377"/>
                    </a:cubicBezTo>
                    <a:cubicBezTo>
                      <a:pt x="149593" y="158800"/>
                      <a:pt x="146023" y="160945"/>
                      <a:pt x="142127" y="160978"/>
                    </a:cubicBezTo>
                    <a:cubicBezTo>
                      <a:pt x="138232" y="161012"/>
                      <a:pt x="134625" y="158928"/>
                      <a:pt x="132707" y="155537"/>
                    </a:cubicBezTo>
                    <a:cubicBezTo>
                      <a:pt x="130790" y="152146"/>
                      <a:pt x="130864" y="147982"/>
                      <a:pt x="132901" y="144661"/>
                    </a:cubicBezTo>
                    <a:cubicBezTo>
                      <a:pt x="140178" y="132067"/>
                      <a:pt x="155006" y="125929"/>
                      <a:pt x="169055" y="129694"/>
                    </a:cubicBezTo>
                    <a:cubicBezTo>
                      <a:pt x="183105" y="133459"/>
                      <a:pt x="192876" y="146189"/>
                      <a:pt x="192881" y="160734"/>
                    </a:cubicBezTo>
                    <a:cubicBezTo>
                      <a:pt x="192904" y="167723"/>
                      <a:pt x="190626" y="174525"/>
                      <a:pt x="186398" y="180089"/>
                    </a:cubicBezTo>
                    <a:close/>
                  </a:path>
                </a:pathLst>
              </a:custGeom>
              <a:solidFill>
                <a:srgbClr val="457B9D"/>
              </a:solidFill>
              <a:ln>
                <a:noFill/>
              </a:ln>
            </p:spPr>
          </p:sp>
        </p:grpSp>
        <p:sp>
          <p:nvSpPr>
            <p:cNvPr id="25" name="TextBox 25"/>
            <p:cNvSpPr txBox="1"/>
            <p:nvPr/>
          </p:nvSpPr>
          <p:spPr>
            <a:xfrm>
              <a:off x="6421755" y="2054542"/>
              <a:ext cx="730822" cy="579120"/>
            </a:xfrm>
            <a:prstGeom prst="rect">
              <a:avLst/>
            </a:prstGeom>
            <a:noFill/>
            <a:ln>
              <a:noFill/>
            </a:ln>
          </p:spPr>
          <p:txBody>
            <a:bodyPr wrap="none" lIns="0" tIns="0" rIns="0" bIns="0" anchor="t" anchorCtr="0">
              <a:spAutoFit/>
            </a:bodyPr>
            <a:lstStyle/>
            <a:p>
              <a:pPr algn="l"/>
              <a:r>
                <a:rPr lang="zh-CN" sz="2850" b="1" dirty="0">
                  <a:solidFill>
                    <a:srgbClr val="1E3A5F"/>
                  </a:solidFill>
                  <a:latin typeface="Apple SD Gothic Neo"/>
                  <a:ea typeface="Malgun Gothic"/>
                  <a:cs typeface="Apple SD Gothic Neo"/>
                </a:rPr>
                <a:t>32년</a:t>
              </a:r>
            </a:p>
          </p:txBody>
        </p:sp>
        <p:sp>
          <p:nvSpPr>
            <p:cNvPr id="26" name="TextBox 26"/>
            <p:cNvSpPr txBox="1"/>
            <p:nvPr/>
          </p:nvSpPr>
          <p:spPr>
            <a:xfrm>
              <a:off x="6443662" y="2545556"/>
              <a:ext cx="861179" cy="228600"/>
            </a:xfrm>
            <a:prstGeom prst="rect">
              <a:avLst/>
            </a:prstGeom>
            <a:noFill/>
            <a:ln>
              <a:noFill/>
            </a:ln>
          </p:spPr>
          <p:txBody>
            <a:bodyPr wrap="none" lIns="0" tIns="0" rIns="0" bIns="0" anchor="t" anchorCtr="0">
              <a:spAutoFit/>
            </a:bodyPr>
            <a:lstStyle/>
            <a:p>
              <a:pPr algn="l"/>
              <a:r>
                <a:rPr lang="zh-CN" sz="1125" dirty="0">
                  <a:solidFill>
                    <a:srgbClr val="5C6470"/>
                  </a:solidFill>
                  <a:latin typeface="Apple SD Gothic Neo"/>
                  <a:ea typeface="Malgun Gothic"/>
                  <a:cs typeface="Apple SD Gothic Neo"/>
                </a:rPr>
                <a:t>1985 – 2016</a:t>
              </a:r>
            </a:p>
          </p:txBody>
        </p:sp>
      </p:grpSp>
      <p:grpSp>
        <p:nvGrpSpPr>
          <p:cNvPr id="34" name="Group 34"/>
          <p:cNvGrpSpPr/>
          <p:nvPr/>
        </p:nvGrpSpPr>
        <p:grpSpPr>
          <a:xfrm>
            <a:off x="8905875" y="1428750"/>
            <a:ext cx="2524125" cy="1619250"/>
            <a:chOff x="8905875" y="1428750"/>
            <a:chExt cx="2524125" cy="1619250"/>
          </a:xfrm>
        </p:grpSpPr>
        <p:sp>
          <p:nvSpPr>
            <p:cNvPr id="28" name="Rectangle 28"/>
            <p:cNvSpPr/>
            <p:nvPr/>
          </p:nvSpPr>
          <p:spPr>
            <a:xfrm>
              <a:off x="8905875" y="1428750"/>
              <a:ext cx="2524125" cy="1619250"/>
            </a:xfrm>
            <a:prstGeom prst="roundRect">
              <a:avLst>
                <a:gd name="adj" fmla="val 8235"/>
              </a:avLst>
            </a:prstGeom>
            <a:solidFill>
              <a:srgbClr val="FFFFFF"/>
            </a:solidFill>
            <a:ln w="9525">
              <a:solidFill>
                <a:srgbClr val="D8DEE6"/>
              </a:solidFill>
            </a:ln>
            <a:effectLst>
              <a:outerShdw blurRad="114300" dist="38100" dir="5400000" algn="ctr" rotWithShape="0">
                <a:srgbClr val="1E3A5F">
                  <a:alpha val="5250"/>
                </a:srgbClr>
              </a:outerShdw>
            </a:effectLst>
          </p:spPr>
        </p:sp>
        <p:grpSp>
          <p:nvGrpSpPr>
            <p:cNvPr id="31" name="Group 31"/>
            <p:cNvGrpSpPr/>
            <p:nvPr/>
          </p:nvGrpSpPr>
          <p:grpSpPr>
            <a:xfrm>
              <a:off x="9204722" y="1700212"/>
              <a:ext cx="278606" cy="246459"/>
              <a:chOff x="9204722" y="1700212"/>
              <a:chExt cx="278606" cy="246459"/>
            </a:xfrm>
          </p:grpSpPr>
          <p:sp>
            <p:nvSpPr>
              <p:cNvPr id="29" name="Freeform 29"/>
              <p:cNvSpPr/>
              <p:nvPr/>
            </p:nvSpPr>
            <p:spPr>
              <a:xfrm>
                <a:off x="9376172" y="1710928"/>
                <a:ext cx="75009" cy="225028"/>
              </a:xfrm>
              <a:custGeom>
                <a:avLst/>
                <a:gdLst/>
                <a:ahLst/>
                <a:cxnLst/>
                <a:rect l="l" t="t" r="r" b="b"/>
                <a:pathLst>
                  <a:path w="75009" h="225028">
                    <a:moveTo>
                      <a:pt x="75009" y="0"/>
                    </a:moveTo>
                    <a:lnTo>
                      <a:pt x="75009" y="225028"/>
                    </a:lnTo>
                    <a:lnTo>
                      <a:pt x="0" y="225028"/>
                    </a:lnTo>
                    <a:lnTo>
                      <a:pt x="0" y="0"/>
                    </a:lnTo>
                    <a:close/>
                  </a:path>
                </a:pathLst>
              </a:custGeom>
              <a:solidFill>
                <a:srgbClr val="E63946">
                  <a:alpha val="20000"/>
                </a:srgbClr>
              </a:solidFill>
              <a:ln>
                <a:noFill/>
              </a:ln>
            </p:spPr>
          </p:sp>
          <p:sp>
            <p:nvSpPr>
              <p:cNvPr id="30" name="Freeform 30"/>
              <p:cNvSpPr/>
              <p:nvPr/>
            </p:nvSpPr>
            <p:spPr>
              <a:xfrm>
                <a:off x="9204722" y="1700212"/>
                <a:ext cx="278606" cy="246459"/>
              </a:xfrm>
              <a:custGeom>
                <a:avLst/>
                <a:gdLst/>
                <a:ahLst/>
                <a:cxnLst/>
                <a:rect l="l" t="t" r="r" b="b"/>
                <a:pathLst>
                  <a:path w="278606" h="246459">
                    <a:moveTo>
                      <a:pt x="267891" y="225028"/>
                    </a:moveTo>
                    <a:lnTo>
                      <a:pt x="257175" y="225028"/>
                    </a:lnTo>
                    <a:lnTo>
                      <a:pt x="257175" y="10716"/>
                    </a:lnTo>
                    <a:cubicBezTo>
                      <a:pt x="257175" y="4798"/>
                      <a:pt x="252377" y="0"/>
                      <a:pt x="246459" y="0"/>
                    </a:cubicBezTo>
                    <a:lnTo>
                      <a:pt x="171450" y="0"/>
                    </a:lnTo>
                    <a:cubicBezTo>
                      <a:pt x="165532" y="0"/>
                      <a:pt x="160734" y="4798"/>
                      <a:pt x="160734" y="10716"/>
                    </a:cubicBezTo>
                    <a:lnTo>
                      <a:pt x="160734" y="64294"/>
                    </a:lnTo>
                    <a:lnTo>
                      <a:pt x="96441" y="64294"/>
                    </a:lnTo>
                    <a:cubicBezTo>
                      <a:pt x="90523" y="64294"/>
                      <a:pt x="85725" y="69091"/>
                      <a:pt x="85725" y="75009"/>
                    </a:cubicBezTo>
                    <a:lnTo>
                      <a:pt x="85725" y="128588"/>
                    </a:lnTo>
                    <a:lnTo>
                      <a:pt x="32147" y="128588"/>
                    </a:lnTo>
                    <a:cubicBezTo>
                      <a:pt x="26229" y="128588"/>
                      <a:pt x="21431" y="133385"/>
                      <a:pt x="21431" y="139303"/>
                    </a:cubicBezTo>
                    <a:lnTo>
                      <a:pt x="21431" y="225028"/>
                    </a:lnTo>
                    <a:lnTo>
                      <a:pt x="10716" y="225028"/>
                    </a:lnTo>
                    <a:cubicBezTo>
                      <a:pt x="4798" y="225028"/>
                      <a:pt x="0" y="229826"/>
                      <a:pt x="0" y="235744"/>
                    </a:cubicBezTo>
                    <a:cubicBezTo>
                      <a:pt x="0" y="241662"/>
                      <a:pt x="4798" y="246459"/>
                      <a:pt x="10716" y="246459"/>
                    </a:cubicBezTo>
                    <a:lnTo>
                      <a:pt x="267891" y="246459"/>
                    </a:lnTo>
                    <a:cubicBezTo>
                      <a:pt x="273809" y="246459"/>
                      <a:pt x="278606" y="241662"/>
                      <a:pt x="278606" y="235744"/>
                    </a:cubicBezTo>
                    <a:cubicBezTo>
                      <a:pt x="278606" y="229826"/>
                      <a:pt x="273809" y="225028"/>
                      <a:pt x="267891" y="225028"/>
                    </a:cubicBezTo>
                    <a:close/>
                    <a:moveTo>
                      <a:pt x="182166" y="21431"/>
                    </a:moveTo>
                    <a:lnTo>
                      <a:pt x="235744" y="21431"/>
                    </a:lnTo>
                    <a:lnTo>
                      <a:pt x="235744" y="225028"/>
                    </a:lnTo>
                    <a:lnTo>
                      <a:pt x="182166" y="225028"/>
                    </a:lnTo>
                    <a:close/>
                    <a:moveTo>
                      <a:pt x="107156" y="85725"/>
                    </a:moveTo>
                    <a:lnTo>
                      <a:pt x="160734" y="85725"/>
                    </a:lnTo>
                    <a:lnTo>
                      <a:pt x="160734" y="225028"/>
                    </a:lnTo>
                    <a:lnTo>
                      <a:pt x="107156" y="225028"/>
                    </a:lnTo>
                    <a:close/>
                    <a:moveTo>
                      <a:pt x="42862" y="150019"/>
                    </a:moveTo>
                    <a:lnTo>
                      <a:pt x="85725" y="150019"/>
                    </a:lnTo>
                    <a:lnTo>
                      <a:pt x="85725" y="225028"/>
                    </a:lnTo>
                    <a:lnTo>
                      <a:pt x="42862" y="225028"/>
                    </a:lnTo>
                    <a:close/>
                  </a:path>
                </a:pathLst>
              </a:custGeom>
              <a:solidFill>
                <a:srgbClr val="E63946"/>
              </a:solidFill>
              <a:ln>
                <a:noFill/>
              </a:ln>
            </p:spPr>
          </p:sp>
        </p:grpSp>
        <p:sp>
          <p:nvSpPr>
            <p:cNvPr id="32" name="TextBox 32"/>
            <p:cNvSpPr txBox="1"/>
            <p:nvPr/>
          </p:nvSpPr>
          <p:spPr>
            <a:xfrm>
              <a:off x="9136380" y="2054542"/>
              <a:ext cx="730822" cy="579120"/>
            </a:xfrm>
            <a:prstGeom prst="rect">
              <a:avLst/>
            </a:prstGeom>
            <a:noFill/>
            <a:ln>
              <a:noFill/>
            </a:ln>
          </p:spPr>
          <p:txBody>
            <a:bodyPr wrap="none" lIns="0" tIns="0" rIns="0" bIns="0" anchor="t" anchorCtr="0">
              <a:spAutoFit/>
            </a:bodyPr>
            <a:lstStyle/>
            <a:p>
              <a:pPr algn="l"/>
              <a:r>
                <a:rPr lang="zh-CN" sz="2850" b="1" dirty="0">
                  <a:solidFill>
                    <a:srgbClr val="1E3A5F"/>
                  </a:solidFill>
                  <a:latin typeface="Apple SD Gothic Neo"/>
                  <a:ea typeface="Malgun Gothic"/>
                  <a:cs typeface="Apple SD Gothic Neo"/>
                </a:rPr>
                <a:t>12개</a:t>
              </a:r>
            </a:p>
          </p:txBody>
        </p:sp>
        <p:sp>
          <p:nvSpPr>
            <p:cNvPr id="33" name="TextBox 33"/>
            <p:cNvSpPr txBox="1"/>
            <p:nvPr/>
          </p:nvSpPr>
          <p:spPr>
            <a:xfrm>
              <a:off x="9158288" y="2545556"/>
              <a:ext cx="1566267" cy="228600"/>
            </a:xfrm>
            <a:prstGeom prst="rect">
              <a:avLst/>
            </a:prstGeom>
            <a:noFill/>
            <a:ln>
              <a:noFill/>
            </a:ln>
          </p:spPr>
          <p:txBody>
            <a:bodyPr wrap="none" lIns="0" tIns="0" rIns="0" bIns="0" anchor="t" anchorCtr="0">
              <a:spAutoFit/>
            </a:bodyPr>
            <a:lstStyle/>
            <a:p>
              <a:pPr algn="l"/>
              <a:r>
                <a:rPr lang="zh-CN" sz="1125" dirty="0">
                  <a:solidFill>
                    <a:srgbClr val="5C6470"/>
                  </a:solidFill>
                  <a:latin typeface="Apple SD Gothic Neo"/>
                  <a:ea typeface="Malgun Gothic"/>
                  <a:cs typeface="Apple SD Gothic Neo"/>
                </a:rPr>
                <a:t>변수 (성별·연령·GDP·HDI 등)</a:t>
              </a:r>
            </a:p>
          </p:txBody>
        </p:sp>
      </p:grpSp>
      <p:grpSp>
        <p:nvGrpSpPr>
          <p:cNvPr id="42" name="Group 42"/>
          <p:cNvGrpSpPr/>
          <p:nvPr/>
        </p:nvGrpSpPr>
        <p:grpSpPr>
          <a:xfrm>
            <a:off x="762000" y="3429000"/>
            <a:ext cx="10668000" cy="1428750"/>
            <a:chOff x="762000" y="3429000"/>
            <a:chExt cx="10668000" cy="1428750"/>
          </a:xfrm>
        </p:grpSpPr>
        <p:sp>
          <p:nvSpPr>
            <p:cNvPr id="35" name="Rectangle 35"/>
            <p:cNvSpPr/>
            <p:nvPr/>
          </p:nvSpPr>
          <p:spPr>
            <a:xfrm>
              <a:off x="762000" y="3429000"/>
              <a:ext cx="10668000" cy="1428750"/>
            </a:xfrm>
            <a:prstGeom prst="roundRect">
              <a:avLst>
                <a:gd name="adj" fmla="val 9333"/>
              </a:avLst>
            </a:prstGeom>
            <a:solidFill>
              <a:srgbClr val="1E3A5F"/>
            </a:solidFill>
            <a:ln>
              <a:noFill/>
            </a:ln>
          </p:spPr>
        </p:sp>
        <p:grpSp>
          <p:nvGrpSpPr>
            <p:cNvPr id="38" name="Group 38"/>
            <p:cNvGrpSpPr/>
            <p:nvPr/>
          </p:nvGrpSpPr>
          <p:grpSpPr>
            <a:xfrm>
              <a:off x="1126037" y="3833454"/>
              <a:ext cx="379730" cy="377102"/>
              <a:chOff x="1126037" y="3833454"/>
              <a:chExt cx="379730" cy="377102"/>
            </a:xfrm>
          </p:grpSpPr>
          <p:sp>
            <p:nvSpPr>
              <p:cNvPr id="36" name="Freeform 36"/>
              <p:cNvSpPr/>
              <p:nvPr/>
            </p:nvSpPr>
            <p:spPr>
              <a:xfrm>
                <a:off x="1235869" y="394096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FFFFFF">
                  <a:alpha val="20000"/>
                </a:srgbClr>
              </a:solidFill>
              <a:ln>
                <a:noFill/>
              </a:ln>
            </p:spPr>
          </p:sp>
          <p:sp>
            <p:nvSpPr>
              <p:cNvPr id="37" name="Freeform 37"/>
              <p:cNvSpPr/>
              <p:nvPr/>
            </p:nvSpPr>
            <p:spPr>
              <a:xfrm>
                <a:off x="1126037" y="3833454"/>
                <a:ext cx="379730" cy="377102"/>
              </a:xfrm>
              <a:custGeom>
                <a:avLst/>
                <a:gdLst/>
                <a:ahLst/>
                <a:cxnLst/>
                <a:rect l="l" t="t" r="r" b="b"/>
                <a:pathLst>
                  <a:path w="379730" h="377102">
                    <a:moveTo>
                      <a:pt x="342088" y="112688"/>
                    </a:moveTo>
                    <a:cubicBezTo>
                      <a:pt x="379730" y="191416"/>
                      <a:pt x="351822" y="285858"/>
                      <a:pt x="277434" y="331480"/>
                    </a:cubicBezTo>
                    <a:cubicBezTo>
                      <a:pt x="203046" y="377102"/>
                      <a:pt x="106215" y="359162"/>
                      <a:pt x="53108" y="289920"/>
                    </a:cubicBezTo>
                    <a:cubicBezTo>
                      <a:pt x="0" y="220677"/>
                      <a:pt x="7777" y="122506"/>
                      <a:pt x="71123" y="62488"/>
                    </a:cubicBezTo>
                    <a:cubicBezTo>
                      <a:pt x="134470" y="2471"/>
                      <a:pt x="232918" y="0"/>
                      <a:pt x="299196" y="56765"/>
                    </a:cubicBezTo>
                    <a:lnTo>
                      <a:pt x="336309" y="19635"/>
                    </a:lnTo>
                    <a:cubicBezTo>
                      <a:pt x="341427" y="14518"/>
                      <a:pt x="349724" y="14518"/>
                      <a:pt x="354841" y="19635"/>
                    </a:cubicBezTo>
                    <a:cubicBezTo>
                      <a:pt x="359959" y="24753"/>
                      <a:pt x="359959" y="33050"/>
                      <a:pt x="354841" y="38167"/>
                    </a:cubicBezTo>
                    <a:lnTo>
                      <a:pt x="197679" y="195330"/>
                    </a:lnTo>
                    <a:cubicBezTo>
                      <a:pt x="192561" y="200447"/>
                      <a:pt x="184264" y="200447"/>
                      <a:pt x="179147" y="195330"/>
                    </a:cubicBezTo>
                    <a:cubicBezTo>
                      <a:pt x="174029" y="190212"/>
                      <a:pt x="174029" y="181915"/>
                      <a:pt x="179147" y="176798"/>
                    </a:cubicBezTo>
                    <a:lnTo>
                      <a:pt x="224527" y="131417"/>
                    </a:lnTo>
                    <a:cubicBezTo>
                      <a:pt x="199208" y="114672"/>
                      <a:pt x="165699" y="117522"/>
                      <a:pt x="143572" y="138305"/>
                    </a:cubicBezTo>
                    <a:cubicBezTo>
                      <a:pt x="121446" y="159087"/>
                      <a:pt x="116502" y="192351"/>
                      <a:pt x="131630" y="218669"/>
                    </a:cubicBezTo>
                    <a:cubicBezTo>
                      <a:pt x="146757" y="244988"/>
                      <a:pt x="177989" y="257459"/>
                      <a:pt x="207083" y="248800"/>
                    </a:cubicBezTo>
                    <a:cubicBezTo>
                      <a:pt x="236178" y="240141"/>
                      <a:pt x="255508" y="212622"/>
                      <a:pt x="253782" y="182315"/>
                    </a:cubicBezTo>
                    <a:cubicBezTo>
                      <a:pt x="253376" y="175081"/>
                      <a:pt x="258909" y="168888"/>
                      <a:pt x="266143" y="168481"/>
                    </a:cubicBezTo>
                    <a:cubicBezTo>
                      <a:pt x="273376" y="168074"/>
                      <a:pt x="279569" y="173608"/>
                      <a:pt x="279976" y="180841"/>
                    </a:cubicBezTo>
                    <a:cubicBezTo>
                      <a:pt x="282436" y="223766"/>
                      <a:pt x="254735" y="262634"/>
                      <a:pt x="213357" y="274316"/>
                    </a:cubicBezTo>
                    <a:cubicBezTo>
                      <a:pt x="171979" y="285997"/>
                      <a:pt x="128041" y="267354"/>
                      <a:pt x="107690" y="229480"/>
                    </a:cubicBezTo>
                    <a:cubicBezTo>
                      <a:pt x="87339" y="191606"/>
                      <a:pt x="96043" y="144677"/>
                      <a:pt x="128621" y="116620"/>
                    </a:cubicBezTo>
                    <a:cubicBezTo>
                      <a:pt x="161200" y="88562"/>
                      <a:pt x="208900" y="86914"/>
                      <a:pt x="243338" y="112656"/>
                    </a:cubicBezTo>
                    <a:lnTo>
                      <a:pt x="280582" y="75411"/>
                    </a:lnTo>
                    <a:cubicBezTo>
                      <a:pt x="224061" y="28485"/>
                      <a:pt x="141264" y="31678"/>
                      <a:pt x="88526" y="82819"/>
                    </a:cubicBezTo>
                    <a:cubicBezTo>
                      <a:pt x="35787" y="133960"/>
                      <a:pt x="30049" y="216619"/>
                      <a:pt x="75216" y="274556"/>
                    </a:cubicBezTo>
                    <a:cubicBezTo>
                      <a:pt x="120382" y="332493"/>
                      <a:pt x="201944" y="347096"/>
                      <a:pt x="264406" y="308429"/>
                    </a:cubicBezTo>
                    <a:cubicBezTo>
                      <a:pt x="326869" y="269762"/>
                      <a:pt x="350167" y="190247"/>
                      <a:pt x="318448" y="123984"/>
                    </a:cubicBezTo>
                    <a:cubicBezTo>
                      <a:pt x="315329" y="117457"/>
                      <a:pt x="318092" y="109636"/>
                      <a:pt x="324620" y="106517"/>
                    </a:cubicBezTo>
                    <a:cubicBezTo>
                      <a:pt x="331148" y="103397"/>
                      <a:pt x="338969" y="106160"/>
                      <a:pt x="342088" y="112688"/>
                    </a:cubicBezTo>
                    <a:close/>
                  </a:path>
                </a:pathLst>
              </a:custGeom>
              <a:solidFill>
                <a:srgbClr val="FFFFFF"/>
              </a:solidFill>
              <a:ln>
                <a:noFill/>
              </a:ln>
            </p:spPr>
          </p:sp>
        </p:grpSp>
        <p:sp>
          <p:nvSpPr>
            <p:cNvPr id="39" name="TextBox 39"/>
            <p:cNvSpPr txBox="1"/>
            <p:nvPr/>
          </p:nvSpPr>
          <p:spPr>
            <a:xfrm>
              <a:off x="1795462" y="3802856"/>
              <a:ext cx="422374" cy="228600"/>
            </a:xfrm>
            <a:prstGeom prst="rect">
              <a:avLst/>
            </a:prstGeom>
            <a:noFill/>
            <a:ln>
              <a:noFill/>
            </a:ln>
          </p:spPr>
          <p:txBody>
            <a:bodyPr wrap="none" lIns="0" tIns="0" rIns="0" bIns="0" anchor="t" anchorCtr="0">
              <a:spAutoFit/>
            </a:bodyPr>
            <a:lstStyle/>
            <a:p>
              <a:pPr algn="l"/>
              <a:r>
                <a:rPr lang="zh-CN" sz="1125" b="1" dirty="0">
                  <a:solidFill>
                    <a:srgbClr val="8DA3BB"/>
                  </a:solidFill>
                  <a:latin typeface="Apple SD Gothic Neo"/>
                  <a:ea typeface="Malgun Gothic"/>
                  <a:cs typeface="Apple SD Gothic Neo"/>
                </a:rPr>
                <a:t>분석 목표</a:t>
              </a:r>
            </a:p>
          </p:txBody>
        </p:sp>
        <p:sp>
          <p:nvSpPr>
            <p:cNvPr id="40" name="TextBox 40"/>
            <p:cNvSpPr txBox="1"/>
            <p:nvPr/>
          </p:nvSpPr>
          <p:spPr>
            <a:xfrm>
              <a:off x="1788795" y="4108132"/>
              <a:ext cx="440835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pple SD Gothic Neo"/>
                  <a:ea typeface="Malgun Gothic"/>
                  <a:cs typeface="Apple SD Gothic Neo"/>
                </a:rPr>
                <a:t xml:space="preserve">자살률 </a:t>
              </a:r>
              <a:r>
                <a:rPr lang="zh-CN" sz="1650" b="1" dirty="0">
                  <a:solidFill>
                    <a:srgbClr val="F4A7AE"/>
                  </a:solidFill>
                  <a:latin typeface="Apple SD Gothic Neo"/>
                  <a:ea typeface="Malgun Gothic"/>
                  <a:cs typeface="Apple SD Gothic Neo"/>
                </a:rPr>
                <a:t>고위험 / 저위험</a:t>
              </a:r>
              <a:r>
                <a:rPr lang="zh-CN" sz="1650" b="1" dirty="0">
                  <a:solidFill>
                    <a:srgbClr val="FFFFFF"/>
                  </a:solidFill>
                  <a:latin typeface="Apple SD Gothic Neo"/>
                  <a:ea typeface="Malgun Gothic"/>
                  <a:cs typeface="Apple SD Gothic Neo"/>
                </a:rPr>
                <a:t>을 가르는 국가·인구 특성을 머신러닝으로 규명</a:t>
              </a:r>
            </a:p>
          </p:txBody>
        </p:sp>
        <p:sp>
          <p:nvSpPr>
            <p:cNvPr id="41" name="TextBox 41"/>
            <p:cNvSpPr txBox="1"/>
            <p:nvPr/>
          </p:nvSpPr>
          <p:spPr>
            <a:xfrm>
              <a:off x="1795462" y="4488656"/>
              <a:ext cx="4311610" cy="228600"/>
            </a:xfrm>
            <a:prstGeom prst="rect">
              <a:avLst/>
            </a:prstGeom>
            <a:noFill/>
            <a:ln>
              <a:noFill/>
            </a:ln>
          </p:spPr>
          <p:txBody>
            <a:bodyPr wrap="none" lIns="0" tIns="0" rIns="0" bIns="0" anchor="t" anchorCtr="0">
              <a:spAutoFit/>
            </a:bodyPr>
            <a:lstStyle/>
            <a:p>
              <a:pPr algn="l"/>
              <a:r>
                <a:rPr lang="zh-CN" sz="1125" dirty="0">
                  <a:solidFill>
                    <a:srgbClr val="B9C6D6"/>
                  </a:solidFill>
                  <a:latin typeface="Apple SD Gothic Neo"/>
                  <a:ea typeface="Malgun Gothic"/>
                  <a:cs typeface="Apple SD Gothic Neo"/>
                </a:rPr>
                <a:t>타깃 변수: 인구 10만명당 자살률이 중앙값(5.99명) 이상이면 고위험(1), 미만이면 저위험(0)</a:t>
              </a:r>
            </a:p>
          </p:txBody>
        </p:sp>
      </p:grpSp>
      <p:grpSp>
        <p:nvGrpSpPr>
          <p:cNvPr id="46" name="Group 46"/>
          <p:cNvGrpSpPr/>
          <p:nvPr/>
        </p:nvGrpSpPr>
        <p:grpSpPr>
          <a:xfrm>
            <a:off x="762000" y="5143500"/>
            <a:ext cx="10668000" cy="857250"/>
            <a:chOff x="762000" y="5143500"/>
            <a:chExt cx="10668000" cy="857250"/>
          </a:xfrm>
        </p:grpSpPr>
        <p:sp>
          <p:nvSpPr>
            <p:cNvPr id="43" name="Rectangle 43"/>
            <p:cNvSpPr/>
            <p:nvPr/>
          </p:nvSpPr>
          <p:spPr>
            <a:xfrm>
              <a:off x="762000" y="5143500"/>
              <a:ext cx="10668000" cy="857250"/>
            </a:xfrm>
            <a:prstGeom prst="roundRect">
              <a:avLst>
                <a:gd name="adj" fmla="val 15556"/>
              </a:avLst>
            </a:prstGeom>
            <a:solidFill>
              <a:srgbClr val="FFFFFF"/>
            </a:solidFill>
            <a:ln w="9525">
              <a:solidFill>
                <a:srgbClr val="D8DEE6"/>
              </a:solidFill>
            </a:ln>
          </p:spPr>
        </p:sp>
        <p:sp>
          <p:nvSpPr>
            <p:cNvPr id="44" name="TextBox 44"/>
            <p:cNvSpPr txBox="1"/>
            <p:nvPr/>
          </p:nvSpPr>
          <p:spPr>
            <a:xfrm>
              <a:off x="1091565" y="5392102"/>
              <a:ext cx="394216"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사용 기법</a:t>
              </a:r>
            </a:p>
          </p:txBody>
        </p:sp>
        <p:sp>
          <p:nvSpPr>
            <p:cNvPr id="45" name="TextBox 45"/>
            <p:cNvSpPr txBox="1"/>
            <p:nvPr/>
          </p:nvSpPr>
          <p:spPr>
            <a:xfrm>
              <a:off x="1088708" y="5653564"/>
              <a:ext cx="6841736" cy="259080"/>
            </a:xfrm>
            <a:prstGeom prst="rect">
              <a:avLst/>
            </a:prstGeom>
            <a:noFill/>
            <a:ln>
              <a:noFill/>
            </a:ln>
          </p:spPr>
          <p:txBody>
            <a:bodyPr wrap="none" lIns="0" tIns="0" rIns="0" bIns="0" anchor="t" anchorCtr="0">
              <a:spAutoFit/>
            </a:bodyPr>
            <a:lstStyle/>
            <a:p>
              <a:pPr algn="l"/>
              <a:r>
                <a:rPr lang="zh-CN" sz="1275" dirty="0">
                  <a:solidFill>
                    <a:srgbClr val="2B2D33"/>
                  </a:solidFill>
                  <a:latin typeface="Apple SD Gothic Neo"/>
                  <a:ea typeface="Malgun Gothic"/>
                  <a:cs typeface="Apple SD Gothic Neo"/>
                </a:rPr>
                <a:t xml:space="preserve">탐색적 데이터 분석(EDA) · PCA 차원 축소 · K-Means 군집 분석 · </a:t>
              </a:r>
              <a:r>
                <a:rPr lang="zh-CN" sz="1275" b="1" dirty="0">
                  <a:solidFill>
                    <a:srgbClr val="1E3A5F"/>
                  </a:solidFill>
                  <a:latin typeface="Apple SD Gothic Neo"/>
                  <a:ea typeface="Malgun Gothic"/>
                  <a:cs typeface="Apple SD Gothic Neo"/>
                </a:rPr>
                <a:t>분류 모델 4종 비교</a:t>
              </a:r>
              <a:r>
                <a:rPr lang="zh-CN" sz="1275" dirty="0">
                  <a:solidFill>
                    <a:srgbClr val="2B2D33"/>
                  </a:solidFill>
                  <a:latin typeface="Apple SD Gothic Neo"/>
                  <a:ea typeface="Malgun Gothic"/>
                  <a:cs typeface="Apple SD Gothic Neo"/>
                </a:rPr>
                <a:t xml:space="preserve"> (결정트리 / 로지스틱 회귀 / KNN×2)</a:t>
              </a:r>
            </a:p>
          </p:txBody>
        </p:sp>
      </p:grpSp>
      <p:grpSp>
        <p:nvGrpSpPr>
          <p:cNvPr id="49" name="Group 49"/>
          <p:cNvGrpSpPr/>
          <p:nvPr/>
        </p:nvGrpSpPr>
        <p:grpSpPr>
          <a:xfrm>
            <a:off x="751522" y="6483191"/>
            <a:ext cx="10688955" cy="167640"/>
            <a:chOff x="751522" y="6483191"/>
            <a:chExt cx="10688955" cy="167640"/>
          </a:xfrm>
        </p:grpSpPr>
        <p:sp>
          <p:nvSpPr>
            <p:cNvPr id="47" name="TextBox 47"/>
            <p:cNvSpPr txBox="1"/>
            <p:nvPr/>
          </p:nvSpPr>
          <p:spPr>
            <a:xfrm>
              <a:off x="751522" y="6483191"/>
              <a:ext cx="4504015"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Suicide Rates Overview 1985 to 2016, Kaggle · WHO/UNDP/World Bank 결합 데이터</a:t>
              </a:r>
            </a:p>
          </p:txBody>
        </p:sp>
        <p:sp>
          <p:nvSpPr>
            <p:cNvPr id="48" name="TextBox 48"/>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400"/>
                                        <p:tgtEl>
                                          <p:spTgt spid="13"/>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ox(in)">
                                      <p:cBhvr>
                                        <p:cTn id="11" dur="400"/>
                                        <p:tgtEl>
                                          <p:spTgt spid="20"/>
                                        </p:tgtEl>
                                      </p:cBhvr>
                                    </p:animEffect>
                                  </p:childTnLst>
                                </p:cTn>
                              </p:par>
                            </p:childTnLst>
                          </p:cTn>
                        </p:par>
                        <p:par>
                          <p:cTn id="12" fill="hold">
                            <p:stCondLst>
                              <p:cond delay="1800"/>
                            </p:stCondLst>
                            <p:childTnLst>
                              <p:par>
                                <p:cTn id="13" presetID="8"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amond(in)">
                                      <p:cBhvr>
                                        <p:cTn id="15" dur="400"/>
                                        <p:tgtEl>
                                          <p:spTgt spid="27"/>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heel(4)">
                                      <p:cBhvr>
                                        <p:cTn id="19" dur="400"/>
                                        <p:tgtEl>
                                          <p:spTgt spid="34"/>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P spid="27" grpId="0"/>
      <p:bldP spid="34" grpId="0"/>
      <p:bldP spid="42" grpId="0"/>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4793742" cy="671512"/>
            <a:chOff x="762000" y="476250"/>
            <a:chExt cx="4793742"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4593717"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자살률은 성별·연령에서 갈리고, 경제력과는 무관하다</a:t>
              </a:r>
            </a:p>
          </p:txBody>
        </p:sp>
        <p:sp>
          <p:nvSpPr>
            <p:cNvPr id="5" name="TextBox 5"/>
            <p:cNvSpPr txBox="1"/>
            <p:nvPr/>
          </p:nvSpPr>
          <p:spPr>
            <a:xfrm>
              <a:off x="977265" y="934402"/>
              <a:ext cx="1754136"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02 탐색적 데이터 분석 · 네 가지 큰 그림</a:t>
              </a:r>
            </a:p>
          </p:txBody>
        </p:sp>
      </p:grpSp>
      <p:grpSp>
        <p:nvGrpSpPr>
          <p:cNvPr id="9" name="Group 9"/>
          <p:cNvGrpSpPr/>
          <p:nvPr/>
        </p:nvGrpSpPr>
        <p:grpSpPr>
          <a:xfrm>
            <a:off x="762000" y="1428750"/>
            <a:ext cx="6667500" cy="4724400"/>
            <a:chOff x="762000" y="1428750"/>
            <a:chExt cx="6667500" cy="4724400"/>
          </a:xfrm>
        </p:grpSpPr>
        <p:sp>
          <p:nvSpPr>
            <p:cNvPr id="7" name="Rectangle 7"/>
            <p:cNvSpPr/>
            <p:nvPr/>
          </p:nvSpPr>
          <p:spPr>
            <a:xfrm>
              <a:off x="762000" y="1428750"/>
              <a:ext cx="6667500" cy="4724400"/>
            </a:xfrm>
            <a:prstGeom prst="roundRect">
              <a:avLst>
                <a:gd name="adj" fmla="val 2823"/>
              </a:avLst>
            </a:prstGeom>
            <a:solidFill>
              <a:srgbClr val="FFFFFF"/>
            </a:solidFill>
            <a:ln w="9525">
              <a:solidFill>
                <a:srgbClr val="D8DEE6"/>
              </a:solidFill>
            </a:ln>
          </p:spPr>
        </p:sp>
        <p:pic>
          <p:nvPicPr>
            <p:cNvPr id="8" name="Image 8"/>
            <p:cNvPicPr>
              <a:picLocks noChangeAspect="1"/>
            </p:cNvPicPr>
            <p:nvPr/>
          </p:nvPicPr>
          <p:blipFill>
            <a:blip r:embed="rId2"/>
            <a:stretch>
              <a:fillRect/>
            </a:stretch>
          </p:blipFill>
          <p:spPr>
            <a:xfrm>
              <a:off x="876300" y="1504950"/>
              <a:ext cx="6438900" cy="4572000"/>
            </a:xfrm>
            <a:prstGeom prst="roundRect">
              <a:avLst>
                <a:gd name="adj" fmla="val 2916"/>
              </a:avLst>
            </a:prstGeom>
          </p:spPr>
        </p:pic>
      </p:grpSp>
      <p:grpSp>
        <p:nvGrpSpPr>
          <p:cNvPr id="14" name="Group 14"/>
          <p:cNvGrpSpPr/>
          <p:nvPr/>
        </p:nvGrpSpPr>
        <p:grpSpPr>
          <a:xfrm>
            <a:off x="7734300" y="1428750"/>
            <a:ext cx="3695700" cy="1066800"/>
            <a:chOff x="7734300" y="1428750"/>
            <a:chExt cx="3695700" cy="1066800"/>
          </a:xfrm>
        </p:grpSpPr>
        <p:sp>
          <p:nvSpPr>
            <p:cNvPr id="10" name="Rectangle 10"/>
            <p:cNvSpPr/>
            <p:nvPr/>
          </p:nvSpPr>
          <p:spPr>
            <a:xfrm>
              <a:off x="7734300" y="1428750"/>
              <a:ext cx="3695700" cy="1066800"/>
            </a:xfrm>
            <a:prstGeom prst="roundRect">
              <a:avLst>
                <a:gd name="adj" fmla="val 10714"/>
              </a:avLst>
            </a:prstGeom>
            <a:solidFill>
              <a:srgbClr val="FFFFFF"/>
            </a:solidFill>
            <a:ln w="9525">
              <a:solidFill>
                <a:srgbClr val="D8DEE6"/>
              </a:solidFill>
            </a:ln>
          </p:spPr>
        </p:sp>
        <p:sp>
          <p:nvSpPr>
            <p:cNvPr id="11" name="Rectangle 11"/>
            <p:cNvSpPr/>
            <p:nvPr/>
          </p:nvSpPr>
          <p:spPr>
            <a:xfrm>
              <a:off x="7734300" y="1428750"/>
              <a:ext cx="57150" cy="1066800"/>
            </a:xfrm>
            <a:prstGeom prst="roundRect">
              <a:avLst>
                <a:gd name="adj" fmla="val 50000"/>
              </a:avLst>
            </a:prstGeom>
            <a:solidFill>
              <a:srgbClr val="E63946"/>
            </a:solidFill>
            <a:ln>
              <a:noFill/>
            </a:ln>
          </p:spPr>
        </p:sp>
        <p:sp>
          <p:nvSpPr>
            <p:cNvPr id="12" name="TextBox 12"/>
            <p:cNvSpPr txBox="1"/>
            <p:nvPr/>
          </p:nvSpPr>
          <p:spPr>
            <a:xfrm>
              <a:off x="8023860" y="1623060"/>
              <a:ext cx="1055408" cy="243840"/>
            </a:xfrm>
            <a:prstGeom prst="rect">
              <a:avLst/>
            </a:prstGeom>
            <a:noFill/>
            <a:ln>
              <a:noFill/>
            </a:ln>
          </p:spPr>
          <p:txBody>
            <a:bodyPr wrap="none" lIns="0" tIns="0" rIns="0" bIns="0" anchor="t" anchorCtr="0">
              <a:spAutoFit/>
            </a:bodyPr>
            <a:lstStyle/>
            <a:p>
              <a:pPr algn="l"/>
              <a:r>
                <a:rPr lang="zh-CN" sz="1200" b="1" dirty="0">
                  <a:solidFill>
                    <a:srgbClr val="2B2D33"/>
                  </a:solidFill>
                  <a:latin typeface="Apple SD Gothic Neo"/>
                  <a:ea typeface="Malgun Gothic"/>
                  <a:cs typeface="Apple SD Gothic Neo"/>
                </a:rPr>
                <a:t xml:space="preserve">남성이 여성의 </a:t>
              </a:r>
              <a:r>
                <a:rPr lang="zh-CN" sz="1500" b="1" dirty="0">
                  <a:solidFill>
                    <a:srgbClr val="E63946"/>
                  </a:solidFill>
                  <a:latin typeface="Apple SD Gothic Neo"/>
                  <a:ea typeface="Malgun Gothic"/>
                  <a:cs typeface="Apple SD Gothic Neo"/>
                </a:rPr>
                <a:t>3.5배</a:t>
              </a:r>
            </a:p>
          </p:txBody>
        </p:sp>
        <p:sp>
          <p:nvSpPr>
            <p:cNvPr id="13" name="TextBox 13"/>
            <p:cNvSpPr txBox="1"/>
            <p:nvPr/>
          </p:nvSpPr>
          <p:spPr>
            <a:xfrm>
              <a:off x="8025765" y="1905952"/>
              <a:ext cx="1806892"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10만명당 남성 20.7명 vs 여성 5.9명 — </a:t>
              </a:r>
              <a:r>
                <a:rPr lang="zh-CN" sz="1050" dirty="0">
                  <a:solidFill>
                    <a:srgbClr val="5C6470"/>
                  </a:solidFill>
                  <a:latin typeface="Apple SD Gothic Neo"/>
                  <a:ea typeface="Malgun Gothic"/>
                  <a:cs typeface="Apple SD Gothic Neo"/>
                </a:rPr>
                <a:t>전 기간·전 연령에서 일관된 격차</a:t>
              </a:r>
            </a:p>
          </p:txBody>
        </p:sp>
      </p:grpSp>
      <p:grpSp>
        <p:nvGrpSpPr>
          <p:cNvPr id="19" name="Group 19"/>
          <p:cNvGrpSpPr/>
          <p:nvPr/>
        </p:nvGrpSpPr>
        <p:grpSpPr>
          <a:xfrm>
            <a:off x="7734300" y="2647950"/>
            <a:ext cx="3695700" cy="1066800"/>
            <a:chOff x="7734300" y="2647950"/>
            <a:chExt cx="3695700" cy="1066800"/>
          </a:xfrm>
        </p:grpSpPr>
        <p:sp>
          <p:nvSpPr>
            <p:cNvPr id="15" name="Rectangle 15"/>
            <p:cNvSpPr/>
            <p:nvPr/>
          </p:nvSpPr>
          <p:spPr>
            <a:xfrm>
              <a:off x="7734300" y="2647950"/>
              <a:ext cx="3695700" cy="1066800"/>
            </a:xfrm>
            <a:prstGeom prst="roundRect">
              <a:avLst>
                <a:gd name="adj" fmla="val 10714"/>
              </a:avLst>
            </a:prstGeom>
            <a:solidFill>
              <a:srgbClr val="FFFFFF"/>
            </a:solidFill>
            <a:ln w="9525">
              <a:solidFill>
                <a:srgbClr val="D8DEE6"/>
              </a:solidFill>
            </a:ln>
          </p:spPr>
        </p:sp>
        <p:sp>
          <p:nvSpPr>
            <p:cNvPr id="16" name="Rectangle 16"/>
            <p:cNvSpPr/>
            <p:nvPr/>
          </p:nvSpPr>
          <p:spPr>
            <a:xfrm>
              <a:off x="7734300" y="2647950"/>
              <a:ext cx="57150" cy="1066800"/>
            </a:xfrm>
            <a:prstGeom prst="roundRect">
              <a:avLst>
                <a:gd name="adj" fmla="val 50000"/>
              </a:avLst>
            </a:prstGeom>
            <a:solidFill>
              <a:srgbClr val="1E3A5F"/>
            </a:solidFill>
            <a:ln>
              <a:noFill/>
            </a:ln>
          </p:spPr>
        </p:sp>
        <p:sp>
          <p:nvSpPr>
            <p:cNvPr id="17" name="TextBox 17"/>
            <p:cNvSpPr txBox="1"/>
            <p:nvPr/>
          </p:nvSpPr>
          <p:spPr>
            <a:xfrm>
              <a:off x="8023860" y="2842260"/>
              <a:ext cx="1105814" cy="243840"/>
            </a:xfrm>
            <a:prstGeom prst="rect">
              <a:avLst/>
            </a:prstGeom>
            <a:noFill/>
            <a:ln>
              <a:noFill/>
            </a:ln>
          </p:spPr>
          <p:txBody>
            <a:bodyPr wrap="none" lIns="0" tIns="0" rIns="0" bIns="0" anchor="t" anchorCtr="0">
              <a:spAutoFit/>
            </a:bodyPr>
            <a:lstStyle/>
            <a:p>
              <a:pPr algn="l"/>
              <a:r>
                <a:rPr lang="zh-CN" sz="1200" b="1" dirty="0">
                  <a:solidFill>
                    <a:srgbClr val="2B2D33"/>
                  </a:solidFill>
                  <a:latin typeface="Apple SD Gothic Neo"/>
                  <a:ea typeface="Malgun Gothic"/>
                  <a:cs typeface="Apple SD Gothic Neo"/>
                </a:rPr>
                <a:t>나이가 들수록 위험 증가</a:t>
              </a:r>
            </a:p>
          </p:txBody>
        </p:sp>
        <p:sp>
          <p:nvSpPr>
            <p:cNvPr id="18" name="TextBox 18"/>
            <p:cNvSpPr txBox="1"/>
            <p:nvPr/>
          </p:nvSpPr>
          <p:spPr>
            <a:xfrm>
              <a:off x="8025765" y="3125152"/>
              <a:ext cx="1286828"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75세 이상 24.5명으로 최고 — </a:t>
              </a:r>
              <a:r>
                <a:rPr lang="zh-CN" sz="1050" dirty="0">
                  <a:solidFill>
                    <a:srgbClr val="5C6470"/>
                  </a:solidFill>
                  <a:latin typeface="Apple SD Gothic Neo"/>
                  <a:ea typeface="Malgun Gothic"/>
                  <a:cs typeface="Apple SD Gothic Neo"/>
                </a:rPr>
                <a:t xml:space="preserve">5–14세(0.6명)의 </a:t>
              </a:r>
              <a:r>
                <a:rPr lang="zh-CN" sz="1050" b="1" dirty="0">
                  <a:solidFill>
                    <a:srgbClr val="1E3A5F"/>
                  </a:solidFill>
                  <a:latin typeface="Apple SD Gothic Neo"/>
                  <a:ea typeface="Malgun Gothic"/>
                  <a:cs typeface="Apple SD Gothic Neo"/>
                </a:rPr>
                <a:t>40배</a:t>
              </a:r>
            </a:p>
          </p:txBody>
        </p:sp>
      </p:grpSp>
      <p:grpSp>
        <p:nvGrpSpPr>
          <p:cNvPr id="27" name="Group 27"/>
          <p:cNvGrpSpPr/>
          <p:nvPr/>
        </p:nvGrpSpPr>
        <p:grpSpPr>
          <a:xfrm>
            <a:off x="7734300" y="3867150"/>
            <a:ext cx="3695700" cy="1066800"/>
            <a:chOff x="7734300" y="3867150"/>
            <a:chExt cx="3695700" cy="1066800"/>
          </a:xfrm>
        </p:grpSpPr>
        <p:sp>
          <p:nvSpPr>
            <p:cNvPr id="20" name="Rectangle 20"/>
            <p:cNvSpPr/>
            <p:nvPr/>
          </p:nvSpPr>
          <p:spPr>
            <a:xfrm>
              <a:off x="7734300" y="3867150"/>
              <a:ext cx="3695700" cy="1066800"/>
            </a:xfrm>
            <a:prstGeom prst="roundRect">
              <a:avLst>
                <a:gd name="adj" fmla="val 10714"/>
              </a:avLst>
            </a:prstGeom>
            <a:solidFill>
              <a:srgbClr val="FFFFFF"/>
            </a:solidFill>
            <a:ln w="9525">
              <a:solidFill>
                <a:srgbClr val="D8DEE6"/>
              </a:solidFill>
            </a:ln>
          </p:spPr>
        </p:sp>
        <p:sp>
          <p:nvSpPr>
            <p:cNvPr id="21" name="Rectangle 21"/>
            <p:cNvSpPr/>
            <p:nvPr/>
          </p:nvSpPr>
          <p:spPr>
            <a:xfrm>
              <a:off x="7734300" y="3867150"/>
              <a:ext cx="57150" cy="1066800"/>
            </a:xfrm>
            <a:prstGeom prst="roundRect">
              <a:avLst>
                <a:gd name="adj" fmla="val 50000"/>
              </a:avLst>
            </a:prstGeom>
            <a:solidFill>
              <a:srgbClr val="2A9D8F"/>
            </a:solidFill>
            <a:ln>
              <a:noFill/>
            </a:ln>
          </p:spPr>
        </p:sp>
        <p:grpSp>
          <p:nvGrpSpPr>
            <p:cNvPr id="24" name="Group 24"/>
            <p:cNvGrpSpPr/>
            <p:nvPr/>
          </p:nvGrpSpPr>
          <p:grpSpPr>
            <a:xfrm>
              <a:off x="8053818" y="4099752"/>
              <a:ext cx="217454" cy="140066"/>
              <a:chOff x="8053818" y="4099752"/>
              <a:chExt cx="217454" cy="140066"/>
            </a:xfrm>
          </p:grpSpPr>
          <p:sp>
            <p:nvSpPr>
              <p:cNvPr id="22" name="Freeform 22"/>
              <p:cNvSpPr/>
              <p:nvPr/>
            </p:nvSpPr>
            <p:spPr>
              <a:xfrm>
                <a:off x="8201620" y="4170164"/>
                <a:ext cx="61912" cy="61912"/>
              </a:xfrm>
              <a:custGeom>
                <a:avLst/>
                <a:gdLst/>
                <a:ahLst/>
                <a:cxnLst/>
                <a:rect l="l" t="t" r="r" b="b"/>
                <a:pathLst>
                  <a:path w="61912" h="61912">
                    <a:moveTo>
                      <a:pt x="61912" y="0"/>
                    </a:moveTo>
                    <a:lnTo>
                      <a:pt x="61912" y="61912"/>
                    </a:lnTo>
                    <a:lnTo>
                      <a:pt x="0" y="61912"/>
                    </a:lnTo>
                    <a:close/>
                  </a:path>
                </a:pathLst>
              </a:custGeom>
              <a:solidFill>
                <a:srgbClr val="2A9D8F">
                  <a:alpha val="20000"/>
                </a:srgbClr>
              </a:solidFill>
              <a:ln>
                <a:noFill/>
              </a:ln>
            </p:spPr>
          </p:sp>
          <p:sp>
            <p:nvSpPr>
              <p:cNvPr id="23" name="Freeform 23"/>
              <p:cNvSpPr/>
              <p:nvPr/>
            </p:nvSpPr>
            <p:spPr>
              <a:xfrm>
                <a:off x="8053818" y="4099752"/>
                <a:ext cx="217454" cy="140066"/>
              </a:xfrm>
              <a:custGeom>
                <a:avLst/>
                <a:gdLst/>
                <a:ahLst/>
                <a:cxnLst/>
                <a:rect l="l" t="t" r="r" b="b"/>
                <a:pathLst>
                  <a:path w="217454" h="140066">
                    <a:moveTo>
                      <a:pt x="212675" y="63263"/>
                    </a:moveTo>
                    <a:cubicBezTo>
                      <a:pt x="209784" y="62063"/>
                      <a:pt x="206454" y="62724"/>
                      <a:pt x="204240" y="64936"/>
                    </a:cubicBezTo>
                    <a:lnTo>
                      <a:pt x="178759" y="90427"/>
                    </a:lnTo>
                    <a:lnTo>
                      <a:pt x="122322" y="33980"/>
                    </a:lnTo>
                    <a:cubicBezTo>
                      <a:pt x="120870" y="32527"/>
                      <a:pt x="118900" y="31710"/>
                      <a:pt x="116846" y="31710"/>
                    </a:cubicBezTo>
                    <a:cubicBezTo>
                      <a:pt x="114792" y="31710"/>
                      <a:pt x="112822" y="32527"/>
                      <a:pt x="111371" y="33980"/>
                    </a:cubicBezTo>
                    <a:lnTo>
                      <a:pt x="78151" y="67210"/>
                    </a:lnTo>
                    <a:lnTo>
                      <a:pt x="13975" y="3024"/>
                    </a:lnTo>
                    <a:cubicBezTo>
                      <a:pt x="10951" y="0"/>
                      <a:pt x="6048" y="0"/>
                      <a:pt x="3024" y="3024"/>
                    </a:cubicBezTo>
                    <a:cubicBezTo>
                      <a:pt x="0" y="6048"/>
                      <a:pt x="0" y="10951"/>
                      <a:pt x="3024" y="13975"/>
                    </a:cubicBezTo>
                    <a:lnTo>
                      <a:pt x="72676" y="83626"/>
                    </a:lnTo>
                    <a:cubicBezTo>
                      <a:pt x="74127" y="85080"/>
                      <a:pt x="76097" y="85896"/>
                      <a:pt x="78151" y="85896"/>
                    </a:cubicBezTo>
                    <a:cubicBezTo>
                      <a:pt x="80205" y="85896"/>
                      <a:pt x="82175" y="85080"/>
                      <a:pt x="83626" y="83626"/>
                    </a:cubicBezTo>
                    <a:lnTo>
                      <a:pt x="116846" y="50397"/>
                    </a:lnTo>
                    <a:lnTo>
                      <a:pt x="167818" y="101368"/>
                    </a:lnTo>
                    <a:lnTo>
                      <a:pt x="142327" y="126849"/>
                    </a:lnTo>
                    <a:cubicBezTo>
                      <a:pt x="140111" y="129062"/>
                      <a:pt x="139448" y="132393"/>
                      <a:pt x="140647" y="135287"/>
                    </a:cubicBezTo>
                    <a:cubicBezTo>
                      <a:pt x="141846" y="138180"/>
                      <a:pt x="144670" y="140066"/>
                      <a:pt x="147802" y="140063"/>
                    </a:cubicBezTo>
                    <a:lnTo>
                      <a:pt x="209715" y="140063"/>
                    </a:lnTo>
                    <a:cubicBezTo>
                      <a:pt x="213989" y="140063"/>
                      <a:pt x="217454" y="136599"/>
                      <a:pt x="217454" y="132324"/>
                    </a:cubicBezTo>
                    <a:lnTo>
                      <a:pt x="217454" y="70412"/>
                    </a:lnTo>
                    <a:cubicBezTo>
                      <a:pt x="217453" y="67282"/>
                      <a:pt x="215567" y="64460"/>
                      <a:pt x="212675" y="63263"/>
                    </a:cubicBezTo>
                    <a:close/>
                    <a:moveTo>
                      <a:pt x="201976" y="124585"/>
                    </a:moveTo>
                    <a:lnTo>
                      <a:pt x="166483" y="124585"/>
                    </a:lnTo>
                    <a:lnTo>
                      <a:pt x="201976" y="89092"/>
                    </a:lnTo>
                    <a:close/>
                  </a:path>
                </a:pathLst>
              </a:custGeom>
              <a:solidFill>
                <a:srgbClr val="2A9D8F"/>
              </a:solidFill>
              <a:ln>
                <a:noFill/>
              </a:ln>
            </p:spPr>
          </p:sp>
        </p:grpSp>
        <p:sp>
          <p:nvSpPr>
            <p:cNvPr id="25" name="TextBox 25"/>
            <p:cNvSpPr txBox="1"/>
            <p:nvPr/>
          </p:nvSpPr>
          <p:spPr>
            <a:xfrm>
              <a:off x="8404860" y="4080510"/>
              <a:ext cx="1198226" cy="243840"/>
            </a:xfrm>
            <a:prstGeom prst="rect">
              <a:avLst/>
            </a:prstGeom>
            <a:noFill/>
            <a:ln>
              <a:noFill/>
            </a:ln>
          </p:spPr>
          <p:txBody>
            <a:bodyPr wrap="none" lIns="0" tIns="0" rIns="0" bIns="0" anchor="t" anchorCtr="0">
              <a:spAutoFit/>
            </a:bodyPr>
            <a:lstStyle/>
            <a:p>
              <a:pPr algn="l"/>
              <a:r>
                <a:rPr lang="zh-CN" sz="1200" b="1" dirty="0">
                  <a:solidFill>
                    <a:srgbClr val="2B2D33"/>
                  </a:solidFill>
                  <a:latin typeface="Apple SD Gothic Neo"/>
                  <a:ea typeface="Malgun Gothic"/>
                  <a:cs typeface="Apple SD Gothic Neo"/>
                </a:rPr>
                <a:t>1995년 정점 후 하락세</a:t>
              </a:r>
            </a:p>
          </p:txBody>
        </p:sp>
        <p:sp>
          <p:nvSpPr>
            <p:cNvPr id="26" name="TextBox 26"/>
            <p:cNvSpPr txBox="1"/>
            <p:nvPr/>
          </p:nvSpPr>
          <p:spPr>
            <a:xfrm>
              <a:off x="8025765" y="4363402"/>
              <a:ext cx="1693545"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전세계 평균 15.3 → 11.4명으로 감소, </a:t>
              </a:r>
              <a:r>
                <a:rPr lang="zh-CN" sz="1050" dirty="0">
                  <a:solidFill>
                    <a:srgbClr val="5C6470"/>
                  </a:solidFill>
                  <a:latin typeface="Apple SD Gothic Neo"/>
                  <a:ea typeface="Malgun Gothic"/>
                  <a:cs typeface="Apple SD Gothic Neo"/>
                </a:rPr>
                <a:t>그러나 고위험 집단의 격차는 그대로</a:t>
              </a:r>
            </a:p>
          </p:txBody>
        </p:sp>
      </p:grpSp>
      <p:grpSp>
        <p:nvGrpSpPr>
          <p:cNvPr id="32" name="Group 32"/>
          <p:cNvGrpSpPr/>
          <p:nvPr/>
        </p:nvGrpSpPr>
        <p:grpSpPr>
          <a:xfrm>
            <a:off x="7734300" y="5086350"/>
            <a:ext cx="3695700" cy="1066800"/>
            <a:chOff x="7734300" y="5086350"/>
            <a:chExt cx="3695700" cy="1066800"/>
          </a:xfrm>
        </p:grpSpPr>
        <p:sp>
          <p:nvSpPr>
            <p:cNvPr id="28" name="Rectangle 28"/>
            <p:cNvSpPr/>
            <p:nvPr/>
          </p:nvSpPr>
          <p:spPr>
            <a:xfrm>
              <a:off x="7734300" y="5086350"/>
              <a:ext cx="3695700" cy="1066800"/>
            </a:xfrm>
            <a:prstGeom prst="roundRect">
              <a:avLst>
                <a:gd name="adj" fmla="val 10714"/>
              </a:avLst>
            </a:prstGeom>
            <a:solidFill>
              <a:srgbClr val="FFFFFF"/>
            </a:solidFill>
            <a:ln w="9525">
              <a:solidFill>
                <a:srgbClr val="D8DEE6"/>
              </a:solidFill>
            </a:ln>
          </p:spPr>
        </p:sp>
        <p:sp>
          <p:nvSpPr>
            <p:cNvPr id="29" name="Rectangle 29"/>
            <p:cNvSpPr/>
            <p:nvPr/>
          </p:nvSpPr>
          <p:spPr>
            <a:xfrm>
              <a:off x="7734300" y="5086350"/>
              <a:ext cx="57150" cy="1066800"/>
            </a:xfrm>
            <a:prstGeom prst="roundRect">
              <a:avLst>
                <a:gd name="adj" fmla="val 50000"/>
              </a:avLst>
            </a:prstGeom>
            <a:solidFill>
              <a:srgbClr val="457B9D"/>
            </a:solidFill>
            <a:ln>
              <a:noFill/>
            </a:ln>
          </p:spPr>
        </p:sp>
        <p:sp>
          <p:nvSpPr>
            <p:cNvPr id="30" name="TextBox 30"/>
            <p:cNvSpPr txBox="1"/>
            <p:nvPr/>
          </p:nvSpPr>
          <p:spPr>
            <a:xfrm>
              <a:off x="8023860" y="5280660"/>
              <a:ext cx="1332643" cy="243840"/>
            </a:xfrm>
            <a:prstGeom prst="rect">
              <a:avLst/>
            </a:prstGeom>
            <a:noFill/>
            <a:ln>
              <a:noFill/>
            </a:ln>
          </p:spPr>
          <p:txBody>
            <a:bodyPr wrap="none" lIns="0" tIns="0" rIns="0" bIns="0" anchor="t" anchorCtr="0">
              <a:spAutoFit/>
            </a:bodyPr>
            <a:lstStyle/>
            <a:p>
              <a:pPr algn="l"/>
              <a:r>
                <a:rPr lang="zh-CN" sz="1200" b="1" dirty="0">
                  <a:solidFill>
                    <a:srgbClr val="2B2D33"/>
                  </a:solidFill>
                  <a:latin typeface="Apple SD Gothic Neo"/>
                  <a:ea typeface="Malgun Gothic"/>
                  <a:cs typeface="Apple SD Gothic Neo"/>
                </a:rPr>
                <a:t xml:space="preserve">GDP와 상관계수 </a:t>
              </a:r>
              <a:r>
                <a:rPr lang="zh-CN" sz="1500" b="1" dirty="0">
                  <a:solidFill>
                    <a:srgbClr val="457B9D"/>
                  </a:solidFill>
                  <a:latin typeface="Apple SD Gothic Neo"/>
                  <a:ea typeface="Malgun Gothic"/>
                  <a:cs typeface="Apple SD Gothic Neo"/>
                </a:rPr>
                <a:t>+0.06</a:t>
              </a:r>
            </a:p>
          </p:txBody>
        </p:sp>
        <p:sp>
          <p:nvSpPr>
            <p:cNvPr id="31" name="TextBox 31"/>
            <p:cNvSpPr txBox="1"/>
            <p:nvPr/>
          </p:nvSpPr>
          <p:spPr>
            <a:xfrm>
              <a:off x="8025765" y="5563552"/>
              <a:ext cx="1546860"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1인당 GDP와 자살률은 사실상 무상관 — </a:t>
              </a:r>
              <a:r>
                <a:rPr lang="zh-CN" sz="1050" dirty="0">
                  <a:solidFill>
                    <a:srgbClr val="5C6470"/>
                  </a:solidFill>
                  <a:latin typeface="Apple SD Gothic Neo"/>
                  <a:ea typeface="Malgun Gothic"/>
                  <a:cs typeface="Apple SD Gothic Neo"/>
                </a:rPr>
                <a:t>"돈이 많은 나라 = 안전"이 아니다</a:t>
              </a:r>
            </a:p>
          </p:txBody>
        </p:sp>
      </p:grpSp>
      <p:grpSp>
        <p:nvGrpSpPr>
          <p:cNvPr id="35" name="Group 35"/>
          <p:cNvGrpSpPr/>
          <p:nvPr/>
        </p:nvGrpSpPr>
        <p:grpSpPr>
          <a:xfrm>
            <a:off x="751522" y="6483191"/>
            <a:ext cx="10688955" cy="167640"/>
            <a:chOff x="751522" y="6483191"/>
            <a:chExt cx="10688955" cy="167640"/>
          </a:xfrm>
        </p:grpSpPr>
        <p:sp>
          <p:nvSpPr>
            <p:cNvPr id="33" name="TextBox 33"/>
            <p:cNvSpPr txBox="1"/>
            <p:nvPr/>
          </p:nvSpPr>
          <p:spPr>
            <a:xfrm>
              <a:off x="751522" y="6483191"/>
              <a:ext cx="3183850"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Suicide Rates Overview 1985–2016 (Kaggle) · 자체 분석</a:t>
              </a:r>
            </a:p>
          </p:txBody>
        </p:sp>
        <p:sp>
          <p:nvSpPr>
            <p:cNvPr id="34" name="TextBox 34"/>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p:bldP spid="27"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4100655" cy="671512"/>
            <a:chOff x="762000" y="476250"/>
            <a:chExt cx="4100655"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3900630"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최고 위험국은 구소련·동구권에 집중되어 있다</a:t>
              </a:r>
            </a:p>
          </p:txBody>
        </p:sp>
        <p:sp>
          <p:nvSpPr>
            <p:cNvPr id="5" name="TextBox 5"/>
            <p:cNvSpPr txBox="1"/>
            <p:nvPr/>
          </p:nvSpPr>
          <p:spPr>
            <a:xfrm>
              <a:off x="977265" y="934402"/>
              <a:ext cx="3327233"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02 탐색적 데이터 분석 · 국가별 평균 자살률 TOP 10 (1985–2016)</a:t>
              </a:r>
            </a:p>
          </p:txBody>
        </p:sp>
      </p:grpSp>
      <p:grpSp>
        <p:nvGrpSpPr>
          <p:cNvPr id="9" name="Group 9"/>
          <p:cNvGrpSpPr/>
          <p:nvPr/>
        </p:nvGrpSpPr>
        <p:grpSpPr>
          <a:xfrm>
            <a:off x="762000" y="1428750"/>
            <a:ext cx="6953250" cy="4000500"/>
            <a:chOff x="762000" y="1428750"/>
            <a:chExt cx="6953250" cy="4000500"/>
          </a:xfrm>
        </p:grpSpPr>
        <p:sp>
          <p:nvSpPr>
            <p:cNvPr id="7" name="Rectangle 7"/>
            <p:cNvSpPr/>
            <p:nvPr/>
          </p:nvSpPr>
          <p:spPr>
            <a:xfrm>
              <a:off x="762000" y="1428750"/>
              <a:ext cx="6953250" cy="4000500"/>
            </a:xfrm>
            <a:prstGeom prst="roundRect">
              <a:avLst>
                <a:gd name="adj" fmla="val 3333"/>
              </a:avLst>
            </a:prstGeom>
            <a:solidFill>
              <a:srgbClr val="FFFFFF"/>
            </a:solidFill>
            <a:ln w="9525">
              <a:solidFill>
                <a:srgbClr val="D8DEE6"/>
              </a:solidFill>
            </a:ln>
          </p:spPr>
        </p:sp>
        <p:pic>
          <p:nvPicPr>
            <p:cNvPr id="8" name="Image 8"/>
            <p:cNvPicPr>
              <a:picLocks noChangeAspect="1"/>
            </p:cNvPicPr>
            <p:nvPr/>
          </p:nvPicPr>
          <p:blipFill>
            <a:blip r:embed="rId2"/>
            <a:stretch>
              <a:fillRect/>
            </a:stretch>
          </p:blipFill>
          <p:spPr>
            <a:xfrm>
              <a:off x="904875" y="1524000"/>
              <a:ext cx="6667500" cy="3810000"/>
            </a:xfrm>
            <a:prstGeom prst="roundRect">
              <a:avLst>
                <a:gd name="adj" fmla="val 3500"/>
              </a:avLst>
            </a:prstGeom>
          </p:spPr>
        </p:pic>
      </p:grpSp>
      <p:grpSp>
        <p:nvGrpSpPr>
          <p:cNvPr id="17" name="Group 17"/>
          <p:cNvGrpSpPr/>
          <p:nvPr/>
        </p:nvGrpSpPr>
        <p:grpSpPr>
          <a:xfrm>
            <a:off x="8020050" y="1428750"/>
            <a:ext cx="3409950" cy="2324100"/>
            <a:chOff x="8020050" y="1428750"/>
            <a:chExt cx="3409950" cy="2324100"/>
          </a:xfrm>
        </p:grpSpPr>
        <p:sp>
          <p:nvSpPr>
            <p:cNvPr id="10" name="Rectangle 10"/>
            <p:cNvSpPr/>
            <p:nvPr/>
          </p:nvSpPr>
          <p:spPr>
            <a:xfrm>
              <a:off x="8020050" y="1428750"/>
              <a:ext cx="3409950" cy="2324100"/>
            </a:xfrm>
            <a:prstGeom prst="roundRect">
              <a:avLst>
                <a:gd name="adj" fmla="val 4918"/>
              </a:avLst>
            </a:prstGeom>
            <a:solidFill>
              <a:srgbClr val="1E3A5F"/>
            </a:solidFill>
            <a:ln>
              <a:noFill/>
            </a:ln>
          </p:spPr>
        </p:sp>
        <p:sp>
          <p:nvSpPr>
            <p:cNvPr id="11" name="TextBox 11"/>
            <p:cNvSpPr txBox="1"/>
            <p:nvPr/>
          </p:nvSpPr>
          <p:spPr>
            <a:xfrm>
              <a:off x="8311515" y="1696402"/>
              <a:ext cx="1033746" cy="213360"/>
            </a:xfrm>
            <a:prstGeom prst="rect">
              <a:avLst/>
            </a:prstGeom>
            <a:noFill/>
            <a:ln>
              <a:noFill/>
            </a:ln>
          </p:spPr>
          <p:txBody>
            <a:bodyPr wrap="none" lIns="0" tIns="0" rIns="0" bIns="0" anchor="t" anchorCtr="0">
              <a:spAutoFit/>
            </a:bodyPr>
            <a:lstStyle/>
            <a:p>
              <a:pPr algn="l"/>
              <a:r>
                <a:rPr lang="zh-CN" sz="1050" b="1" dirty="0">
                  <a:solidFill>
                    <a:srgbClr val="8DA3BB"/>
                  </a:solidFill>
                  <a:latin typeface="Apple SD Gothic Neo"/>
                  <a:ea typeface="Malgun Gothic"/>
                  <a:cs typeface="Apple SD Gothic Neo"/>
                </a:rPr>
                <a:t>TOP 5 (10만명당)</a:t>
              </a:r>
            </a:p>
          </p:txBody>
        </p:sp>
        <p:sp>
          <p:nvSpPr>
            <p:cNvPr id="12" name="TextBox 12"/>
            <p:cNvSpPr txBox="1"/>
            <p:nvPr/>
          </p:nvSpPr>
          <p:spPr>
            <a:xfrm>
              <a:off x="8309610" y="2023110"/>
              <a:ext cx="1094613"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pple SD Gothic Neo"/>
                  <a:ea typeface="Malgun Gothic"/>
                  <a:cs typeface="Apple SD Gothic Neo"/>
                </a:rPr>
                <a:t xml:space="preserve">1. 리투아니아 </a:t>
              </a:r>
              <a:r>
                <a:rPr lang="zh-CN" sz="1200" b="1" dirty="0">
                  <a:solidFill>
                    <a:srgbClr val="F4A7AE"/>
                  </a:solidFill>
                  <a:latin typeface="Apple SD Gothic Neo"/>
                  <a:ea typeface="Malgun Gothic"/>
                  <a:cs typeface="Apple SD Gothic Neo"/>
                </a:rPr>
                <a:t>40.4</a:t>
              </a:r>
            </a:p>
          </p:txBody>
        </p:sp>
        <p:sp>
          <p:nvSpPr>
            <p:cNvPr id="13" name="TextBox 13"/>
            <p:cNvSpPr txBox="1"/>
            <p:nvPr/>
          </p:nvSpPr>
          <p:spPr>
            <a:xfrm>
              <a:off x="8309610" y="2327910"/>
              <a:ext cx="1006602"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pple SD Gothic Neo"/>
                  <a:ea typeface="Malgun Gothic"/>
                  <a:cs typeface="Apple SD Gothic Neo"/>
                </a:rPr>
                <a:t xml:space="preserve">2. 스리랑카 </a:t>
              </a:r>
              <a:r>
                <a:rPr lang="zh-CN" sz="1200" b="1" dirty="0">
                  <a:solidFill>
                    <a:srgbClr val="FFFFFF"/>
                  </a:solidFill>
                  <a:latin typeface="Apple SD Gothic Neo"/>
                  <a:ea typeface="Malgun Gothic"/>
                  <a:cs typeface="Apple SD Gothic Neo"/>
                </a:rPr>
                <a:t>35.3</a:t>
              </a:r>
            </a:p>
          </p:txBody>
        </p:sp>
        <p:sp>
          <p:nvSpPr>
            <p:cNvPr id="14" name="TextBox 14"/>
            <p:cNvSpPr txBox="1"/>
            <p:nvPr/>
          </p:nvSpPr>
          <p:spPr>
            <a:xfrm>
              <a:off x="8309610" y="2632710"/>
              <a:ext cx="918591"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pple SD Gothic Neo"/>
                  <a:ea typeface="Malgun Gothic"/>
                  <a:cs typeface="Apple SD Gothic Neo"/>
                </a:rPr>
                <a:t xml:space="preserve">3. 러시아 </a:t>
              </a:r>
              <a:r>
                <a:rPr lang="zh-CN" sz="1200" b="1" dirty="0">
                  <a:solidFill>
                    <a:srgbClr val="FFFFFF"/>
                  </a:solidFill>
                  <a:latin typeface="Apple SD Gothic Neo"/>
                  <a:ea typeface="Malgun Gothic"/>
                  <a:cs typeface="Apple SD Gothic Neo"/>
                </a:rPr>
                <a:t>34.9</a:t>
              </a:r>
            </a:p>
          </p:txBody>
        </p:sp>
        <p:sp>
          <p:nvSpPr>
            <p:cNvPr id="15" name="TextBox 15"/>
            <p:cNvSpPr txBox="1"/>
            <p:nvPr/>
          </p:nvSpPr>
          <p:spPr>
            <a:xfrm>
              <a:off x="8309610" y="2937510"/>
              <a:ext cx="918591"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pple SD Gothic Neo"/>
                  <a:ea typeface="Malgun Gothic"/>
                  <a:cs typeface="Apple SD Gothic Neo"/>
                </a:rPr>
                <a:t xml:space="preserve">4. 헝가리 </a:t>
              </a:r>
              <a:r>
                <a:rPr lang="zh-CN" sz="1200" b="1" dirty="0">
                  <a:solidFill>
                    <a:srgbClr val="FFFFFF"/>
                  </a:solidFill>
                  <a:latin typeface="Apple SD Gothic Neo"/>
                  <a:ea typeface="Malgun Gothic"/>
                  <a:cs typeface="Apple SD Gothic Neo"/>
                </a:rPr>
                <a:t>32.8</a:t>
              </a:r>
            </a:p>
          </p:txBody>
        </p:sp>
        <p:sp>
          <p:nvSpPr>
            <p:cNvPr id="16" name="TextBox 16"/>
            <p:cNvSpPr txBox="1"/>
            <p:nvPr/>
          </p:nvSpPr>
          <p:spPr>
            <a:xfrm>
              <a:off x="8309610" y="3242310"/>
              <a:ext cx="1006602"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pple SD Gothic Neo"/>
                  <a:ea typeface="Malgun Gothic"/>
                  <a:cs typeface="Apple SD Gothic Neo"/>
                </a:rPr>
                <a:t xml:space="preserve">5. 벨라루스 </a:t>
              </a:r>
              <a:r>
                <a:rPr lang="zh-CN" sz="1200" b="1" dirty="0">
                  <a:solidFill>
                    <a:srgbClr val="FFFFFF"/>
                  </a:solidFill>
                  <a:latin typeface="Apple SD Gothic Neo"/>
                  <a:ea typeface="Malgun Gothic"/>
                  <a:cs typeface="Apple SD Gothic Neo"/>
                </a:rPr>
                <a:t>31.1</a:t>
              </a:r>
            </a:p>
          </p:txBody>
        </p:sp>
      </p:grpSp>
      <p:grpSp>
        <p:nvGrpSpPr>
          <p:cNvPr id="22" name="Group 22"/>
          <p:cNvGrpSpPr/>
          <p:nvPr/>
        </p:nvGrpSpPr>
        <p:grpSpPr>
          <a:xfrm>
            <a:off x="8020050" y="3981450"/>
            <a:ext cx="3409950" cy="1447800"/>
            <a:chOff x="8020050" y="3981450"/>
            <a:chExt cx="3409950" cy="1447800"/>
          </a:xfrm>
        </p:grpSpPr>
        <p:sp>
          <p:nvSpPr>
            <p:cNvPr id="18" name="Rectangle 18"/>
            <p:cNvSpPr/>
            <p:nvPr/>
          </p:nvSpPr>
          <p:spPr>
            <a:xfrm>
              <a:off x="8020050" y="3981450"/>
              <a:ext cx="3409950" cy="1447800"/>
            </a:xfrm>
            <a:prstGeom prst="roundRect">
              <a:avLst>
                <a:gd name="adj" fmla="val 7895"/>
              </a:avLst>
            </a:prstGeom>
            <a:solidFill>
              <a:srgbClr val="FFFFFF"/>
            </a:solidFill>
            <a:ln w="9525">
              <a:solidFill>
                <a:srgbClr val="D8DEE6"/>
              </a:solidFill>
            </a:ln>
          </p:spPr>
        </p:sp>
        <p:sp>
          <p:nvSpPr>
            <p:cNvPr id="19" name="Rectangle 19"/>
            <p:cNvSpPr/>
            <p:nvPr/>
          </p:nvSpPr>
          <p:spPr>
            <a:xfrm>
              <a:off x="8020050" y="3981450"/>
              <a:ext cx="57150" cy="1447800"/>
            </a:xfrm>
            <a:prstGeom prst="roundRect">
              <a:avLst>
                <a:gd name="adj" fmla="val 50000"/>
              </a:avLst>
            </a:prstGeom>
            <a:solidFill>
              <a:srgbClr val="E63946"/>
            </a:solidFill>
            <a:ln>
              <a:noFill/>
            </a:ln>
          </p:spPr>
        </p:sp>
        <p:sp>
          <p:nvSpPr>
            <p:cNvPr id="20" name="TextBox 20"/>
            <p:cNvSpPr txBox="1"/>
            <p:nvPr/>
          </p:nvSpPr>
          <p:spPr>
            <a:xfrm>
              <a:off x="8309610" y="4175760"/>
              <a:ext cx="778173" cy="243840"/>
            </a:xfrm>
            <a:prstGeom prst="rect">
              <a:avLst/>
            </a:prstGeom>
            <a:noFill/>
            <a:ln>
              <a:noFill/>
            </a:ln>
          </p:spPr>
          <p:txBody>
            <a:bodyPr wrap="none" lIns="0" tIns="0" rIns="0" bIns="0" anchor="t" anchorCtr="0">
              <a:spAutoFit/>
            </a:bodyPr>
            <a:lstStyle/>
            <a:p>
              <a:pPr algn="l"/>
              <a:r>
                <a:rPr lang="zh-CN" sz="1200" b="1" dirty="0">
                  <a:solidFill>
                    <a:srgbClr val="2B2D33"/>
                  </a:solidFill>
                  <a:latin typeface="Apple SD Gothic Neo"/>
                  <a:ea typeface="Malgun Gothic"/>
                  <a:cs typeface="Apple SD Gothic Neo"/>
                </a:rPr>
                <a:t>왜 이 지역인가?</a:t>
              </a:r>
            </a:p>
          </p:txBody>
        </p:sp>
        <p:sp>
          <p:nvSpPr>
            <p:cNvPr id="21" name="TextBox 21"/>
            <p:cNvSpPr txBox="1"/>
            <p:nvPr/>
          </p:nvSpPr>
          <p:spPr>
            <a:xfrm>
              <a:off x="8311515" y="4458652"/>
              <a:ext cx="1320165" cy="8420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1990년대 </a:t>
              </a:r>
              <a:r>
                <a:rPr lang="zh-CN" sz="1050" b="1" dirty="0">
                  <a:solidFill>
                    <a:srgbClr val="1E3A5F"/>
                  </a:solidFill>
                  <a:latin typeface="Apple SD Gothic Neo"/>
                  <a:ea typeface="Malgun Gothic"/>
                  <a:cs typeface="Apple SD Gothic Neo"/>
                </a:rPr>
                <a:t>체제전환기 사회 격변</a:t>
              </a:r>
              <a:r>
                <a:rPr lang="zh-CN" sz="1050" dirty="0">
                  <a:solidFill>
                    <a:srgbClr val="5C6470"/>
                  </a:solidFill>
                  <a:latin typeface="Apple SD Gothic Neo"/>
                  <a:ea typeface="Malgun Gothic"/>
                  <a:cs typeface="Apple SD Gothic Neo"/>
                </a:rPr>
                <a:t xml:space="preserve">과 </a:t>
              </a:r>
              <a:r>
                <a:rPr lang="zh-CN" sz="1050" dirty="0">
                  <a:solidFill>
                    <a:srgbClr val="5C6470"/>
                  </a:solidFill>
                  <a:latin typeface="Apple SD Gothic Neo"/>
                  <a:ea typeface="Malgun Gothic"/>
                  <a:cs typeface="Apple SD Gothic Neo"/>
                </a:rPr>
                <a:t xml:space="preserve">안전망 붕괴 시기가 정점과 일치 — </a:t>
              </a:r>
              <a:r>
                <a:rPr lang="zh-CN" sz="1050" dirty="0">
                  <a:solidFill>
                    <a:srgbClr val="5C6470"/>
                  </a:solidFill>
                  <a:latin typeface="Apple SD Gothic Neo"/>
                  <a:ea typeface="Malgun Gothic"/>
                  <a:cs typeface="Apple SD Gothic Neo"/>
                </a:rPr>
                <a:t xml:space="preserve">사회적 충격이 경제 수치보다 </a:t>
              </a:r>
              <a:r>
                <a:rPr lang="zh-CN" sz="1050" dirty="0">
                  <a:solidFill>
                    <a:srgbClr val="5C6470"/>
                  </a:solidFill>
                  <a:latin typeface="Apple SD Gothic Neo"/>
                  <a:ea typeface="Malgun Gothic"/>
                  <a:cs typeface="Apple SD Gothic Neo"/>
                </a:rPr>
                <a:t>자살률에 더 크게 작용</a:t>
              </a:r>
            </a:p>
          </p:txBody>
        </p:sp>
      </p:grpSp>
      <p:grpSp>
        <p:nvGrpSpPr>
          <p:cNvPr id="25" name="Group 25"/>
          <p:cNvGrpSpPr/>
          <p:nvPr/>
        </p:nvGrpSpPr>
        <p:grpSpPr>
          <a:xfrm>
            <a:off x="762000" y="5676900"/>
            <a:ext cx="6953250" cy="476250"/>
            <a:chOff x="762000" y="5676900"/>
            <a:chExt cx="6953250" cy="476250"/>
          </a:xfrm>
        </p:grpSpPr>
        <p:sp>
          <p:nvSpPr>
            <p:cNvPr id="23" name="Rectangle 23"/>
            <p:cNvSpPr/>
            <p:nvPr/>
          </p:nvSpPr>
          <p:spPr>
            <a:xfrm>
              <a:off x="762000" y="5676900"/>
              <a:ext cx="6953250" cy="476250"/>
            </a:xfrm>
            <a:prstGeom prst="roundRect">
              <a:avLst>
                <a:gd name="adj" fmla="val 20000"/>
              </a:avLst>
            </a:prstGeom>
            <a:solidFill>
              <a:srgbClr val="457B9D">
                <a:alpha val="10000"/>
              </a:srgbClr>
            </a:solidFill>
            <a:ln>
              <a:noFill/>
            </a:ln>
          </p:spPr>
        </p:sp>
        <p:sp>
          <p:nvSpPr>
            <p:cNvPr id="24" name="TextBox 24"/>
            <p:cNvSpPr txBox="1"/>
            <p:nvPr/>
          </p:nvSpPr>
          <p:spPr>
            <a:xfrm>
              <a:off x="976312" y="5850731"/>
              <a:ext cx="3253978" cy="228600"/>
            </a:xfrm>
            <a:prstGeom prst="rect">
              <a:avLst/>
            </a:prstGeom>
            <a:noFill/>
            <a:ln>
              <a:noFill/>
            </a:ln>
          </p:spPr>
          <p:txBody>
            <a:bodyPr wrap="none" lIns="0" tIns="0" rIns="0" bIns="0" anchor="t" anchorCtr="0">
              <a:spAutoFit/>
            </a:bodyPr>
            <a:lstStyle/>
            <a:p>
              <a:pPr algn="l"/>
              <a:r>
                <a:rPr lang="zh-CN" sz="1125" dirty="0">
                  <a:solidFill>
                    <a:srgbClr val="2B2D33"/>
                  </a:solidFill>
                  <a:latin typeface="Apple SD Gothic Neo"/>
                  <a:ea typeface="Malgun Gothic"/>
                  <a:cs typeface="Apple SD Gothic Neo"/>
                </a:rPr>
                <a:t xml:space="preserve">국가 간 격차 최대 </a:t>
              </a:r>
              <a:r>
                <a:rPr lang="zh-CN" sz="1125" b="1" dirty="0">
                  <a:solidFill>
                    <a:srgbClr val="E63946"/>
                  </a:solidFill>
                  <a:latin typeface="Apple SD Gothic Neo"/>
                  <a:ea typeface="Malgun Gothic"/>
                  <a:cs typeface="Apple SD Gothic Neo"/>
                </a:rPr>
                <a:t>40배 이상</a:t>
              </a:r>
              <a:r>
                <a:rPr lang="zh-CN" sz="1125" dirty="0">
                  <a:solidFill>
                    <a:srgbClr val="2B2D33"/>
                  </a:solidFill>
                  <a:latin typeface="Apple SD Gothic Neo"/>
                  <a:ea typeface="Malgun Gothic"/>
                  <a:cs typeface="Apple SD Gothic Neo"/>
                </a:rPr>
                <a:t xml:space="preserve"> — 자살률은 보편 현상이 아니라 </a:t>
              </a:r>
              <a:r>
                <a:rPr lang="zh-CN" sz="1125" b="1" dirty="0">
                  <a:solidFill>
                    <a:srgbClr val="1E3A5F"/>
                  </a:solidFill>
                  <a:latin typeface="Apple SD Gothic Neo"/>
                  <a:ea typeface="Malgun Gothic"/>
                  <a:cs typeface="Apple SD Gothic Neo"/>
                </a:rPr>
                <a:t>사회 구조의 산물</a:t>
              </a:r>
            </a:p>
          </p:txBody>
        </p:sp>
      </p:grpSp>
      <p:grpSp>
        <p:nvGrpSpPr>
          <p:cNvPr id="28" name="Group 28"/>
          <p:cNvGrpSpPr/>
          <p:nvPr/>
        </p:nvGrpSpPr>
        <p:grpSpPr>
          <a:xfrm>
            <a:off x="751522" y="6483191"/>
            <a:ext cx="10688955" cy="167640"/>
            <a:chOff x="751522" y="6483191"/>
            <a:chExt cx="10688955" cy="167640"/>
          </a:xfrm>
        </p:grpSpPr>
        <p:sp>
          <p:nvSpPr>
            <p:cNvPr id="26" name="TextBox 26"/>
            <p:cNvSpPr txBox="1"/>
            <p:nvPr/>
          </p:nvSpPr>
          <p:spPr>
            <a:xfrm>
              <a:off x="751522" y="6483191"/>
              <a:ext cx="3183850"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Suicide Rates Overview 1985–2016 (Kaggle) · 자체 분석</a:t>
              </a:r>
            </a:p>
          </p:txBody>
        </p:sp>
        <p:sp>
          <p:nvSpPr>
            <p:cNvPr id="27" name="TextBox 27"/>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400"/>
                                        <p:tgtEl>
                                          <p:spTgt spid="2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22"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4478703" cy="671512"/>
            <a:chOff x="762000" y="476250"/>
            <a:chExt cx="4478703"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4278678"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정제 → 축소 → 군집 → 분류, 4단계 파이프라인</a:t>
              </a:r>
            </a:p>
          </p:txBody>
        </p:sp>
        <p:sp>
          <p:nvSpPr>
            <p:cNvPr id="5" name="TextBox 5"/>
            <p:cNvSpPr txBox="1"/>
            <p:nvPr/>
          </p:nvSpPr>
          <p:spPr>
            <a:xfrm>
              <a:off x="977265" y="934402"/>
              <a:ext cx="2650948"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03 머신러닝 분석 · 각 단계의 산출물이 다음 단계의 입력이 된다</a:t>
              </a:r>
            </a:p>
          </p:txBody>
        </p:sp>
      </p:grpSp>
      <p:grpSp>
        <p:nvGrpSpPr>
          <p:cNvPr id="16" name="Group 16"/>
          <p:cNvGrpSpPr/>
          <p:nvPr/>
        </p:nvGrpSpPr>
        <p:grpSpPr>
          <a:xfrm>
            <a:off x="762000" y="1619250"/>
            <a:ext cx="2476500" cy="3619500"/>
            <a:chOff x="762000" y="1619250"/>
            <a:chExt cx="2476500" cy="3619500"/>
          </a:xfrm>
        </p:grpSpPr>
        <p:sp>
          <p:nvSpPr>
            <p:cNvPr id="7" name="Rectangle 7"/>
            <p:cNvSpPr/>
            <p:nvPr/>
          </p:nvSpPr>
          <p:spPr>
            <a:xfrm>
              <a:off x="762000" y="1619250"/>
              <a:ext cx="2476500" cy="3619500"/>
            </a:xfrm>
            <a:prstGeom prst="roundRect">
              <a:avLst>
                <a:gd name="adj" fmla="val 4615"/>
              </a:avLst>
            </a:prstGeom>
            <a:solidFill>
              <a:srgbClr val="FFFFFF"/>
            </a:solidFill>
            <a:ln w="14288">
              <a:solidFill>
                <a:srgbClr val="D8DEE6"/>
              </a:solidFill>
            </a:ln>
            <a:effectLst>
              <a:outerShdw blurRad="76200" dist="19050" dir="5400000" algn="ctr" rotWithShape="0">
                <a:srgbClr val="1E3A5F">
                  <a:alpha val="4500"/>
                </a:srgbClr>
              </a:outerShdw>
            </a:effectLst>
          </p:spPr>
        </p:sp>
        <p:sp>
          <p:nvSpPr>
            <p:cNvPr id="8" name="Freeform 8"/>
            <p:cNvSpPr/>
            <p:nvPr/>
          </p:nvSpPr>
          <p:spPr>
            <a:xfrm>
              <a:off x="762000" y="1619250"/>
              <a:ext cx="2476500" cy="533400"/>
            </a:xfrm>
            <a:custGeom>
              <a:avLst/>
              <a:gdLst/>
              <a:ahLst/>
              <a:cxnLst/>
              <a:rect l="l" t="t" r="r" b="b"/>
              <a:pathLst>
                <a:path w="2476500" h="533400">
                  <a:moveTo>
                    <a:pt x="0" y="114300"/>
                  </a:moveTo>
                  <a:cubicBezTo>
                    <a:pt x="0" y="51174"/>
                    <a:pt x="51174" y="0"/>
                    <a:pt x="114300" y="0"/>
                  </a:cubicBezTo>
                  <a:lnTo>
                    <a:pt x="2362200" y="0"/>
                  </a:lnTo>
                  <a:cubicBezTo>
                    <a:pt x="2425326" y="0"/>
                    <a:pt x="2476500" y="51174"/>
                    <a:pt x="2476500" y="114300"/>
                  </a:cubicBezTo>
                  <a:lnTo>
                    <a:pt x="2476500" y="533400"/>
                  </a:lnTo>
                  <a:lnTo>
                    <a:pt x="0" y="533400"/>
                  </a:lnTo>
                  <a:close/>
                </a:path>
              </a:pathLst>
            </a:custGeom>
            <a:solidFill>
              <a:srgbClr val="1E3A5F"/>
            </a:solidFill>
            <a:ln>
              <a:noFill/>
            </a:ln>
          </p:spPr>
        </p:sp>
        <p:sp>
          <p:nvSpPr>
            <p:cNvPr id="9" name="TextBox 9"/>
            <p:cNvSpPr txBox="1"/>
            <p:nvPr/>
          </p:nvSpPr>
          <p:spPr>
            <a:xfrm>
              <a:off x="972502" y="1808321"/>
              <a:ext cx="924081"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pple SD Gothic Neo"/>
                  <a:ea typeface="Malgun Gothic"/>
                  <a:cs typeface="Apple SD Gothic Neo"/>
                </a:rPr>
                <a:t>① 데이터 전처리</a:t>
              </a:r>
            </a:p>
          </p:txBody>
        </p:sp>
        <p:grpSp>
          <p:nvGrpSpPr>
            <p:cNvPr id="12" name="Group 12"/>
            <p:cNvGrpSpPr/>
            <p:nvPr/>
          </p:nvGrpSpPr>
          <p:grpSpPr>
            <a:xfrm>
              <a:off x="1024792" y="2434492"/>
              <a:ext cx="312661" cy="312661"/>
              <a:chOff x="1024792" y="2434492"/>
              <a:chExt cx="312661" cy="312661"/>
            </a:xfrm>
          </p:grpSpPr>
          <p:sp>
            <p:nvSpPr>
              <p:cNvPr id="10" name="Freeform 10"/>
              <p:cNvSpPr/>
              <p:nvPr/>
            </p:nvSpPr>
            <p:spPr>
              <a:xfrm>
                <a:off x="1037302" y="2446972"/>
                <a:ext cx="287729" cy="287744"/>
              </a:xfrm>
              <a:custGeom>
                <a:avLst/>
                <a:gdLst/>
                <a:ahLst/>
                <a:cxnLst/>
                <a:rect l="l" t="t" r="r" b="b"/>
                <a:pathLst>
                  <a:path w="287729" h="287744">
                    <a:moveTo>
                      <a:pt x="262652" y="136654"/>
                    </a:moveTo>
                    <a:lnTo>
                      <a:pt x="287625" y="105400"/>
                    </a:lnTo>
                    <a:cubicBezTo>
                      <a:pt x="284257" y="92738"/>
                      <a:pt x="279217" y="80581"/>
                      <a:pt x="272638" y="69250"/>
                    </a:cubicBezTo>
                    <a:lnTo>
                      <a:pt x="232901" y="64785"/>
                    </a:lnTo>
                    <a:cubicBezTo>
                      <a:pt x="229727" y="61208"/>
                      <a:pt x="226342" y="57824"/>
                      <a:pt x="222766" y="54650"/>
                    </a:cubicBezTo>
                    <a:lnTo>
                      <a:pt x="218301" y="14898"/>
                    </a:lnTo>
                    <a:cubicBezTo>
                      <a:pt x="206958" y="8359"/>
                      <a:pt x="194796" y="3354"/>
                      <a:pt x="182136" y="15"/>
                    </a:cubicBezTo>
                    <a:lnTo>
                      <a:pt x="150882" y="24973"/>
                    </a:lnTo>
                    <a:cubicBezTo>
                      <a:pt x="146104" y="24691"/>
                      <a:pt x="141313" y="24691"/>
                      <a:pt x="136535" y="24973"/>
                    </a:cubicBezTo>
                    <a:lnTo>
                      <a:pt x="105281" y="0"/>
                    </a:lnTo>
                    <a:cubicBezTo>
                      <a:pt x="92660" y="3378"/>
                      <a:pt x="80544" y="8418"/>
                      <a:pt x="69250" y="14987"/>
                    </a:cubicBezTo>
                    <a:lnTo>
                      <a:pt x="64785" y="54724"/>
                    </a:lnTo>
                    <a:cubicBezTo>
                      <a:pt x="61208" y="57898"/>
                      <a:pt x="57824" y="61283"/>
                      <a:pt x="54650" y="64859"/>
                    </a:cubicBezTo>
                    <a:lnTo>
                      <a:pt x="14898" y="69324"/>
                    </a:lnTo>
                    <a:cubicBezTo>
                      <a:pt x="8359" y="80668"/>
                      <a:pt x="3354" y="92829"/>
                      <a:pt x="15" y="105489"/>
                    </a:cubicBezTo>
                    <a:lnTo>
                      <a:pt x="24973" y="136743"/>
                    </a:lnTo>
                    <a:cubicBezTo>
                      <a:pt x="24691" y="141521"/>
                      <a:pt x="24691" y="146312"/>
                      <a:pt x="24973" y="151090"/>
                    </a:cubicBezTo>
                    <a:lnTo>
                      <a:pt x="0" y="182344"/>
                    </a:lnTo>
                    <a:cubicBezTo>
                      <a:pt x="3368" y="195006"/>
                      <a:pt x="8408" y="207163"/>
                      <a:pt x="14987" y="218495"/>
                    </a:cubicBezTo>
                    <a:lnTo>
                      <a:pt x="54724" y="222959"/>
                    </a:lnTo>
                    <a:cubicBezTo>
                      <a:pt x="57898" y="226536"/>
                      <a:pt x="61283" y="229920"/>
                      <a:pt x="64859" y="233095"/>
                    </a:cubicBezTo>
                    <a:lnTo>
                      <a:pt x="69324" y="272847"/>
                    </a:lnTo>
                    <a:cubicBezTo>
                      <a:pt x="80668" y="279386"/>
                      <a:pt x="92829" y="284390"/>
                      <a:pt x="105489" y="287729"/>
                    </a:cubicBezTo>
                    <a:lnTo>
                      <a:pt x="136743" y="262771"/>
                    </a:lnTo>
                    <a:cubicBezTo>
                      <a:pt x="141521" y="263054"/>
                      <a:pt x="146312" y="263054"/>
                      <a:pt x="151090" y="262771"/>
                    </a:cubicBezTo>
                    <a:lnTo>
                      <a:pt x="182344" y="287744"/>
                    </a:lnTo>
                    <a:cubicBezTo>
                      <a:pt x="195006" y="284376"/>
                      <a:pt x="207163" y="279336"/>
                      <a:pt x="218495" y="272757"/>
                    </a:cubicBezTo>
                    <a:lnTo>
                      <a:pt x="222959" y="233020"/>
                    </a:lnTo>
                    <a:cubicBezTo>
                      <a:pt x="226536" y="229846"/>
                      <a:pt x="229920" y="226461"/>
                      <a:pt x="233095" y="222885"/>
                    </a:cubicBezTo>
                    <a:lnTo>
                      <a:pt x="272847" y="218420"/>
                    </a:lnTo>
                    <a:cubicBezTo>
                      <a:pt x="279386" y="207077"/>
                      <a:pt x="284390" y="194915"/>
                      <a:pt x="287729" y="182255"/>
                    </a:cubicBezTo>
                    <a:lnTo>
                      <a:pt x="262771" y="151001"/>
                    </a:lnTo>
                    <a:cubicBezTo>
                      <a:pt x="263014" y="146221"/>
                      <a:pt x="262974" y="141430"/>
                      <a:pt x="262652" y="136654"/>
                    </a:cubicBezTo>
                    <a:close/>
                    <a:moveTo>
                      <a:pt x="143798" y="203359"/>
                    </a:moveTo>
                    <a:cubicBezTo>
                      <a:pt x="110920" y="203359"/>
                      <a:pt x="84266" y="176706"/>
                      <a:pt x="84266" y="143828"/>
                    </a:cubicBezTo>
                    <a:cubicBezTo>
                      <a:pt x="84266" y="110949"/>
                      <a:pt x="110920" y="84296"/>
                      <a:pt x="143798" y="84296"/>
                    </a:cubicBezTo>
                    <a:cubicBezTo>
                      <a:pt x="176676" y="84296"/>
                      <a:pt x="203329" y="110949"/>
                      <a:pt x="203329" y="143828"/>
                    </a:cubicBezTo>
                    <a:cubicBezTo>
                      <a:pt x="203329" y="176706"/>
                      <a:pt x="176676" y="203359"/>
                      <a:pt x="143798" y="203359"/>
                    </a:cubicBezTo>
                    <a:close/>
                  </a:path>
                </a:pathLst>
              </a:custGeom>
              <a:solidFill>
                <a:srgbClr val="1E3A5F">
                  <a:alpha val="20000"/>
                </a:srgbClr>
              </a:solidFill>
              <a:ln>
                <a:noFill/>
              </a:ln>
            </p:spPr>
          </p:sp>
          <p:sp>
            <p:nvSpPr>
              <p:cNvPr id="11" name="Freeform 11"/>
              <p:cNvSpPr/>
              <p:nvPr/>
            </p:nvSpPr>
            <p:spPr>
              <a:xfrm>
                <a:off x="1024792" y="2434492"/>
                <a:ext cx="312661" cy="312661"/>
              </a:xfrm>
              <a:custGeom>
                <a:avLst/>
                <a:gdLst/>
                <a:ahLst/>
                <a:cxnLst/>
                <a:rect l="l" t="t" r="r" b="b"/>
                <a:pathLst>
                  <a:path w="312661" h="312661">
                    <a:moveTo>
                      <a:pt x="156308" y="84870"/>
                    </a:moveTo>
                    <a:cubicBezTo>
                      <a:pt x="116854" y="84870"/>
                      <a:pt x="84870" y="116854"/>
                      <a:pt x="84870" y="156308"/>
                    </a:cubicBezTo>
                    <a:cubicBezTo>
                      <a:pt x="84870" y="195762"/>
                      <a:pt x="116854" y="227745"/>
                      <a:pt x="156308" y="227745"/>
                    </a:cubicBezTo>
                    <a:cubicBezTo>
                      <a:pt x="195762" y="227745"/>
                      <a:pt x="227745" y="195762"/>
                      <a:pt x="227745" y="156308"/>
                    </a:cubicBezTo>
                    <a:cubicBezTo>
                      <a:pt x="227704" y="116871"/>
                      <a:pt x="195745" y="84912"/>
                      <a:pt x="156308" y="84870"/>
                    </a:cubicBezTo>
                    <a:close/>
                    <a:moveTo>
                      <a:pt x="156308" y="203933"/>
                    </a:moveTo>
                    <a:cubicBezTo>
                      <a:pt x="130005" y="203933"/>
                      <a:pt x="108683" y="182611"/>
                      <a:pt x="108683" y="156308"/>
                    </a:cubicBezTo>
                    <a:cubicBezTo>
                      <a:pt x="108683" y="130005"/>
                      <a:pt x="130005" y="108683"/>
                      <a:pt x="156308" y="108683"/>
                    </a:cubicBezTo>
                    <a:cubicBezTo>
                      <a:pt x="182611" y="108683"/>
                      <a:pt x="203933" y="130005"/>
                      <a:pt x="203933" y="156308"/>
                    </a:cubicBezTo>
                    <a:cubicBezTo>
                      <a:pt x="203933" y="182611"/>
                      <a:pt x="182611" y="203933"/>
                      <a:pt x="156308" y="203933"/>
                    </a:cubicBezTo>
                    <a:close/>
                    <a:moveTo>
                      <a:pt x="287277" y="159523"/>
                    </a:moveTo>
                    <a:cubicBezTo>
                      <a:pt x="287336" y="157380"/>
                      <a:pt x="287336" y="155236"/>
                      <a:pt x="287277" y="153093"/>
                    </a:cubicBezTo>
                    <a:lnTo>
                      <a:pt x="309482" y="125352"/>
                    </a:lnTo>
                    <a:cubicBezTo>
                      <a:pt x="311843" y="122398"/>
                      <a:pt x="312661" y="118498"/>
                      <a:pt x="311685" y="114844"/>
                    </a:cubicBezTo>
                    <a:cubicBezTo>
                      <a:pt x="308038" y="101163"/>
                      <a:pt x="302593" y="88026"/>
                      <a:pt x="295492" y="75777"/>
                    </a:cubicBezTo>
                    <a:cubicBezTo>
                      <a:pt x="293605" y="72528"/>
                      <a:pt x="290295" y="70359"/>
                      <a:pt x="286562" y="69928"/>
                    </a:cubicBezTo>
                    <a:lnTo>
                      <a:pt x="251260" y="65999"/>
                    </a:lnTo>
                    <a:cubicBezTo>
                      <a:pt x="249792" y="64451"/>
                      <a:pt x="248304" y="62963"/>
                      <a:pt x="246795" y="61534"/>
                    </a:cubicBezTo>
                    <a:lnTo>
                      <a:pt x="242628" y="26143"/>
                    </a:lnTo>
                    <a:cubicBezTo>
                      <a:pt x="242194" y="22407"/>
                      <a:pt x="240020" y="19097"/>
                      <a:pt x="236764" y="17213"/>
                    </a:cubicBezTo>
                    <a:cubicBezTo>
                      <a:pt x="224516" y="10118"/>
                      <a:pt x="211378" y="4683"/>
                      <a:pt x="197697" y="1050"/>
                    </a:cubicBezTo>
                    <a:cubicBezTo>
                      <a:pt x="194044" y="74"/>
                      <a:pt x="190144" y="892"/>
                      <a:pt x="187190" y="3253"/>
                    </a:cubicBezTo>
                    <a:lnTo>
                      <a:pt x="159523" y="25339"/>
                    </a:lnTo>
                    <a:cubicBezTo>
                      <a:pt x="157380" y="25339"/>
                      <a:pt x="155236" y="25339"/>
                      <a:pt x="153093" y="25339"/>
                    </a:cubicBezTo>
                    <a:lnTo>
                      <a:pt x="125352" y="3179"/>
                    </a:lnTo>
                    <a:cubicBezTo>
                      <a:pt x="122398" y="818"/>
                      <a:pt x="118498" y="0"/>
                      <a:pt x="114844" y="976"/>
                    </a:cubicBezTo>
                    <a:cubicBezTo>
                      <a:pt x="101163" y="4623"/>
                      <a:pt x="88026" y="10068"/>
                      <a:pt x="75777" y="17169"/>
                    </a:cubicBezTo>
                    <a:cubicBezTo>
                      <a:pt x="72528" y="19055"/>
                      <a:pt x="70359" y="22366"/>
                      <a:pt x="69928" y="26098"/>
                    </a:cubicBezTo>
                    <a:lnTo>
                      <a:pt x="65999" y="61460"/>
                    </a:lnTo>
                    <a:cubicBezTo>
                      <a:pt x="64451" y="62938"/>
                      <a:pt x="62963" y="64426"/>
                      <a:pt x="61534" y="65925"/>
                    </a:cubicBezTo>
                    <a:lnTo>
                      <a:pt x="26143" y="69988"/>
                    </a:lnTo>
                    <a:cubicBezTo>
                      <a:pt x="22407" y="70422"/>
                      <a:pt x="19097" y="72596"/>
                      <a:pt x="17213" y="75852"/>
                    </a:cubicBezTo>
                    <a:cubicBezTo>
                      <a:pt x="10119" y="88103"/>
                      <a:pt x="4679" y="101239"/>
                      <a:pt x="1036" y="114919"/>
                    </a:cubicBezTo>
                    <a:cubicBezTo>
                      <a:pt x="64" y="118575"/>
                      <a:pt x="887" y="122475"/>
                      <a:pt x="3253" y="125426"/>
                    </a:cubicBezTo>
                    <a:lnTo>
                      <a:pt x="25339" y="153093"/>
                    </a:lnTo>
                    <a:cubicBezTo>
                      <a:pt x="25339" y="155236"/>
                      <a:pt x="25339" y="157380"/>
                      <a:pt x="25339" y="159523"/>
                    </a:cubicBezTo>
                    <a:lnTo>
                      <a:pt x="3179" y="187264"/>
                    </a:lnTo>
                    <a:cubicBezTo>
                      <a:pt x="818" y="190218"/>
                      <a:pt x="0" y="194118"/>
                      <a:pt x="976" y="197772"/>
                    </a:cubicBezTo>
                    <a:cubicBezTo>
                      <a:pt x="4623" y="211453"/>
                      <a:pt x="10068" y="224590"/>
                      <a:pt x="17169" y="236839"/>
                    </a:cubicBezTo>
                    <a:cubicBezTo>
                      <a:pt x="19055" y="240088"/>
                      <a:pt x="22366" y="242257"/>
                      <a:pt x="26098" y="242688"/>
                    </a:cubicBezTo>
                    <a:lnTo>
                      <a:pt x="61400" y="246617"/>
                    </a:lnTo>
                    <a:cubicBezTo>
                      <a:pt x="62879" y="248165"/>
                      <a:pt x="64367" y="249653"/>
                      <a:pt x="65865" y="251082"/>
                    </a:cubicBezTo>
                    <a:lnTo>
                      <a:pt x="69988" y="286473"/>
                    </a:lnTo>
                    <a:cubicBezTo>
                      <a:pt x="70422" y="290209"/>
                      <a:pt x="72596" y="293519"/>
                      <a:pt x="75852" y="295403"/>
                    </a:cubicBezTo>
                    <a:cubicBezTo>
                      <a:pt x="88103" y="302497"/>
                      <a:pt x="101239" y="307937"/>
                      <a:pt x="114919" y="311580"/>
                    </a:cubicBezTo>
                    <a:cubicBezTo>
                      <a:pt x="118575" y="312552"/>
                      <a:pt x="122475" y="311729"/>
                      <a:pt x="125426" y="309363"/>
                    </a:cubicBezTo>
                    <a:lnTo>
                      <a:pt x="153093" y="287277"/>
                    </a:lnTo>
                    <a:cubicBezTo>
                      <a:pt x="155236" y="287336"/>
                      <a:pt x="157380" y="287336"/>
                      <a:pt x="159523" y="287277"/>
                    </a:cubicBezTo>
                    <a:lnTo>
                      <a:pt x="187264" y="309482"/>
                    </a:lnTo>
                    <a:cubicBezTo>
                      <a:pt x="190218" y="311843"/>
                      <a:pt x="194118" y="312661"/>
                      <a:pt x="197772" y="311685"/>
                    </a:cubicBezTo>
                    <a:cubicBezTo>
                      <a:pt x="211455" y="308044"/>
                      <a:pt x="224593" y="302599"/>
                      <a:pt x="236839" y="295492"/>
                    </a:cubicBezTo>
                    <a:cubicBezTo>
                      <a:pt x="240088" y="293605"/>
                      <a:pt x="242257" y="290295"/>
                      <a:pt x="242688" y="286562"/>
                    </a:cubicBezTo>
                    <a:lnTo>
                      <a:pt x="246617" y="251260"/>
                    </a:lnTo>
                    <a:cubicBezTo>
                      <a:pt x="248165" y="249792"/>
                      <a:pt x="249653" y="248304"/>
                      <a:pt x="251082" y="246795"/>
                    </a:cubicBezTo>
                    <a:lnTo>
                      <a:pt x="286473" y="242628"/>
                    </a:lnTo>
                    <a:cubicBezTo>
                      <a:pt x="290209" y="242194"/>
                      <a:pt x="293519" y="240020"/>
                      <a:pt x="295403" y="236764"/>
                    </a:cubicBezTo>
                    <a:cubicBezTo>
                      <a:pt x="302497" y="224513"/>
                      <a:pt x="307937" y="211377"/>
                      <a:pt x="311580" y="197697"/>
                    </a:cubicBezTo>
                    <a:cubicBezTo>
                      <a:pt x="312552" y="194041"/>
                      <a:pt x="311729" y="190141"/>
                      <a:pt x="309363" y="187190"/>
                    </a:cubicBezTo>
                    <a:close/>
                    <a:moveTo>
                      <a:pt x="263315" y="149849"/>
                    </a:moveTo>
                    <a:cubicBezTo>
                      <a:pt x="263568" y="154151"/>
                      <a:pt x="263568" y="158465"/>
                      <a:pt x="263315" y="162767"/>
                    </a:cubicBezTo>
                    <a:cubicBezTo>
                      <a:pt x="263138" y="165713"/>
                      <a:pt x="264061" y="168619"/>
                      <a:pt x="265905" y="170923"/>
                    </a:cubicBezTo>
                    <a:lnTo>
                      <a:pt x="287024" y="197310"/>
                    </a:lnTo>
                    <a:cubicBezTo>
                      <a:pt x="284600" y="205012"/>
                      <a:pt x="281498" y="212482"/>
                      <a:pt x="277752" y="219634"/>
                    </a:cubicBezTo>
                    <a:lnTo>
                      <a:pt x="244117" y="223444"/>
                    </a:lnTo>
                    <a:cubicBezTo>
                      <a:pt x="241187" y="223770"/>
                      <a:pt x="238483" y="225169"/>
                      <a:pt x="236526" y="227373"/>
                    </a:cubicBezTo>
                    <a:cubicBezTo>
                      <a:pt x="233662" y="230595"/>
                      <a:pt x="230610" y="233647"/>
                      <a:pt x="227388" y="236511"/>
                    </a:cubicBezTo>
                    <a:cubicBezTo>
                      <a:pt x="225184" y="238468"/>
                      <a:pt x="223784" y="241173"/>
                      <a:pt x="223459" y="244102"/>
                    </a:cubicBezTo>
                    <a:lnTo>
                      <a:pt x="219724" y="277707"/>
                    </a:lnTo>
                    <a:cubicBezTo>
                      <a:pt x="212572" y="281455"/>
                      <a:pt x="205101" y="284558"/>
                      <a:pt x="197399" y="286979"/>
                    </a:cubicBezTo>
                    <a:lnTo>
                      <a:pt x="170997" y="265860"/>
                    </a:lnTo>
                    <a:cubicBezTo>
                      <a:pt x="168885" y="264172"/>
                      <a:pt x="166260" y="263254"/>
                      <a:pt x="163556" y="263256"/>
                    </a:cubicBezTo>
                    <a:lnTo>
                      <a:pt x="162842" y="263256"/>
                    </a:lnTo>
                    <a:cubicBezTo>
                      <a:pt x="158539" y="263509"/>
                      <a:pt x="154226" y="263509"/>
                      <a:pt x="149923" y="263256"/>
                    </a:cubicBezTo>
                    <a:cubicBezTo>
                      <a:pt x="146979" y="263087"/>
                      <a:pt x="144075" y="264009"/>
                      <a:pt x="141767" y="265845"/>
                    </a:cubicBezTo>
                    <a:lnTo>
                      <a:pt x="115306" y="286979"/>
                    </a:lnTo>
                    <a:cubicBezTo>
                      <a:pt x="107604" y="284556"/>
                      <a:pt x="100134" y="281453"/>
                      <a:pt x="92982" y="277707"/>
                    </a:cubicBezTo>
                    <a:lnTo>
                      <a:pt x="89172" y="244117"/>
                    </a:lnTo>
                    <a:cubicBezTo>
                      <a:pt x="88846" y="241187"/>
                      <a:pt x="87447" y="238483"/>
                      <a:pt x="85243" y="236526"/>
                    </a:cubicBezTo>
                    <a:cubicBezTo>
                      <a:pt x="82021" y="233662"/>
                      <a:pt x="78969" y="230610"/>
                      <a:pt x="76105" y="227388"/>
                    </a:cubicBezTo>
                    <a:cubicBezTo>
                      <a:pt x="74148" y="225184"/>
                      <a:pt x="71443" y="223784"/>
                      <a:pt x="68514" y="223459"/>
                    </a:cubicBezTo>
                    <a:lnTo>
                      <a:pt x="34909" y="219709"/>
                    </a:lnTo>
                    <a:cubicBezTo>
                      <a:pt x="31161" y="212558"/>
                      <a:pt x="28058" y="205087"/>
                      <a:pt x="25637" y="197385"/>
                    </a:cubicBezTo>
                    <a:lnTo>
                      <a:pt x="46756" y="170982"/>
                    </a:lnTo>
                    <a:cubicBezTo>
                      <a:pt x="48600" y="168679"/>
                      <a:pt x="49523" y="165772"/>
                      <a:pt x="49345" y="162827"/>
                    </a:cubicBezTo>
                    <a:cubicBezTo>
                      <a:pt x="49092" y="158524"/>
                      <a:pt x="49092" y="154211"/>
                      <a:pt x="49345" y="149908"/>
                    </a:cubicBezTo>
                    <a:cubicBezTo>
                      <a:pt x="49523" y="146963"/>
                      <a:pt x="48600" y="144056"/>
                      <a:pt x="46756" y="141753"/>
                    </a:cubicBezTo>
                    <a:lnTo>
                      <a:pt x="25637" y="115306"/>
                    </a:lnTo>
                    <a:cubicBezTo>
                      <a:pt x="28060" y="107604"/>
                      <a:pt x="31163" y="100134"/>
                      <a:pt x="34909" y="92982"/>
                    </a:cubicBezTo>
                    <a:lnTo>
                      <a:pt x="68499" y="89172"/>
                    </a:lnTo>
                    <a:cubicBezTo>
                      <a:pt x="71429" y="88846"/>
                      <a:pt x="74133" y="87447"/>
                      <a:pt x="76090" y="85243"/>
                    </a:cubicBezTo>
                    <a:cubicBezTo>
                      <a:pt x="78954" y="82021"/>
                      <a:pt x="82006" y="78969"/>
                      <a:pt x="85228" y="76105"/>
                    </a:cubicBezTo>
                    <a:cubicBezTo>
                      <a:pt x="87440" y="74147"/>
                      <a:pt x="88846" y="71436"/>
                      <a:pt x="89172" y="68499"/>
                    </a:cubicBezTo>
                    <a:lnTo>
                      <a:pt x="92907" y="34909"/>
                    </a:lnTo>
                    <a:cubicBezTo>
                      <a:pt x="100058" y="31161"/>
                      <a:pt x="107529" y="28058"/>
                      <a:pt x="115231" y="25637"/>
                    </a:cubicBezTo>
                    <a:lnTo>
                      <a:pt x="141634" y="46756"/>
                    </a:lnTo>
                    <a:cubicBezTo>
                      <a:pt x="143937" y="48600"/>
                      <a:pt x="146844" y="49523"/>
                      <a:pt x="149789" y="49345"/>
                    </a:cubicBezTo>
                    <a:cubicBezTo>
                      <a:pt x="154092" y="49092"/>
                      <a:pt x="158405" y="49092"/>
                      <a:pt x="162708" y="49345"/>
                    </a:cubicBezTo>
                    <a:cubicBezTo>
                      <a:pt x="165652" y="49514"/>
                      <a:pt x="168556" y="48592"/>
                      <a:pt x="170863" y="46756"/>
                    </a:cubicBezTo>
                    <a:lnTo>
                      <a:pt x="197310" y="25637"/>
                    </a:lnTo>
                    <a:cubicBezTo>
                      <a:pt x="205012" y="28060"/>
                      <a:pt x="212482" y="31163"/>
                      <a:pt x="219634" y="34909"/>
                    </a:cubicBezTo>
                    <a:lnTo>
                      <a:pt x="223444" y="68499"/>
                    </a:lnTo>
                    <a:cubicBezTo>
                      <a:pt x="223770" y="71429"/>
                      <a:pt x="225169" y="74133"/>
                      <a:pt x="227373" y="76090"/>
                    </a:cubicBezTo>
                    <a:cubicBezTo>
                      <a:pt x="230595" y="78954"/>
                      <a:pt x="233647" y="82006"/>
                      <a:pt x="236511" y="85228"/>
                    </a:cubicBezTo>
                    <a:cubicBezTo>
                      <a:pt x="238468" y="87432"/>
                      <a:pt x="241173" y="88832"/>
                      <a:pt x="244102" y="89157"/>
                    </a:cubicBezTo>
                    <a:lnTo>
                      <a:pt x="277707" y="92892"/>
                    </a:lnTo>
                    <a:cubicBezTo>
                      <a:pt x="281455" y="100044"/>
                      <a:pt x="284558" y="107515"/>
                      <a:pt x="286979" y="115217"/>
                    </a:cubicBezTo>
                    <a:lnTo>
                      <a:pt x="265860" y="141619"/>
                    </a:lnTo>
                    <a:cubicBezTo>
                      <a:pt x="263999" y="143942"/>
                      <a:pt x="263075" y="146878"/>
                      <a:pt x="263271" y="149849"/>
                    </a:cubicBezTo>
                    <a:close/>
                  </a:path>
                </a:pathLst>
              </a:custGeom>
              <a:solidFill>
                <a:srgbClr val="1E3A5F"/>
              </a:solidFill>
              <a:ln>
                <a:noFill/>
              </a:ln>
            </p:spPr>
          </p:sp>
        </p:grpSp>
        <p:sp>
          <p:nvSpPr>
            <p:cNvPr id="13" name="TextBox 13"/>
            <p:cNvSpPr txBox="1"/>
            <p:nvPr/>
          </p:nvSpPr>
          <p:spPr>
            <a:xfrm>
              <a:off x="977265" y="3106102"/>
              <a:ext cx="1500188" cy="956310"/>
            </a:xfrm>
            <a:prstGeom prst="rect">
              <a:avLst/>
            </a:prstGeom>
            <a:noFill/>
            <a:ln>
              <a:noFill/>
            </a:ln>
          </p:spPr>
          <p:txBody>
            <a:bodyPr wrap="square" lIns="0" tIns="0" rIns="0" bIns="0" anchor="t" anchorCtr="0"/>
            <a:lstStyle/>
            <a:p>
              <a:pPr algn="l">
                <a:lnSpc>
                  <a:spcPts val="1950"/>
                </a:lnSpc>
              </a:pPr>
              <a:r>
                <a:rPr lang="zh-CN" sz="1050" dirty="0">
                  <a:solidFill>
                    <a:srgbClr val="2B2D33"/>
                  </a:solidFill>
                  <a:latin typeface="Apple SD Gothic Neo"/>
                  <a:ea typeface="Malgun Gothic"/>
                  <a:cs typeface="Apple SD Gothic Neo"/>
                </a:rPr>
                <a:t xml:space="preserve">· HDI 결측 70% → 중앙값 대체 </a:t>
              </a:r>
              <a:r>
                <a:rPr lang="zh-CN" sz="1050" dirty="0">
                  <a:solidFill>
                    <a:srgbClr val="2B2D33"/>
                  </a:solidFill>
                  <a:latin typeface="Apple SD Gothic Neo"/>
                  <a:ea typeface="Malgun Gothic"/>
                  <a:cs typeface="Apple SD Gothic Neo"/>
                </a:rPr>
                <a:t xml:space="preserve">· GDP 문자열 → 숫자 변환 </a:t>
              </a:r>
              <a:r>
                <a:rPr lang="zh-CN" sz="1050" dirty="0">
                  <a:solidFill>
                    <a:srgbClr val="2B2D33"/>
                  </a:solidFill>
                  <a:latin typeface="Apple SD Gothic Neo"/>
                  <a:ea typeface="Malgun Gothic"/>
                  <a:cs typeface="Apple SD Gothic Neo"/>
                </a:rPr>
                <a:t xml:space="preserve">· 성별·연령·세대 원핫인코딩 </a:t>
              </a:r>
              <a:r>
                <a:rPr lang="zh-CN" sz="1050" dirty="0">
                  <a:solidFill>
                    <a:srgbClr val="2B2D33"/>
                  </a:solidFill>
                  <a:latin typeface="Apple SD Gothic Neo"/>
                  <a:ea typeface="Malgun Gothic"/>
                  <a:cs typeface="Apple SD Gothic Neo"/>
                </a:rPr>
                <a:t>· 표준화(StandardScaler)</a:t>
              </a:r>
            </a:p>
          </p:txBody>
        </p:sp>
        <p:sp>
          <p:nvSpPr>
            <p:cNvPr id="14" name="Rectangle 14"/>
            <p:cNvSpPr/>
            <p:nvPr/>
          </p:nvSpPr>
          <p:spPr>
            <a:xfrm>
              <a:off x="990600" y="4533900"/>
              <a:ext cx="2019300" cy="457200"/>
            </a:xfrm>
            <a:prstGeom prst="roundRect">
              <a:avLst>
                <a:gd name="adj" fmla="val 16667"/>
              </a:avLst>
            </a:prstGeom>
            <a:solidFill>
              <a:srgbClr val="1E3A5F">
                <a:alpha val="8000"/>
              </a:srgbClr>
            </a:solidFill>
            <a:ln>
              <a:noFill/>
            </a:ln>
          </p:spPr>
        </p:sp>
        <p:sp>
          <p:nvSpPr>
            <p:cNvPr id="15" name="TextBox 15"/>
            <p:cNvSpPr txBox="1"/>
            <p:nvPr/>
          </p:nvSpPr>
          <p:spPr>
            <a:xfrm>
              <a:off x="1435596" y="4706302"/>
              <a:ext cx="1129308" cy="213360"/>
            </a:xfrm>
            <a:prstGeom prst="rect">
              <a:avLst/>
            </a:prstGeom>
            <a:noFill/>
            <a:ln>
              <a:noFill/>
            </a:ln>
          </p:spPr>
          <p:txBody>
            <a:bodyPr wrap="none" lIns="0" tIns="0" rIns="0" bIns="0" anchor="t" anchorCtr="0">
              <a:spAutoFit/>
            </a:bodyPr>
            <a:lstStyle/>
            <a:p>
              <a:pPr algn="ctr"/>
              <a:r>
                <a:rPr lang="zh-CN" sz="1050" b="1" dirty="0">
                  <a:solidFill>
                    <a:srgbClr val="1E3A5F"/>
                  </a:solidFill>
                  <a:latin typeface="Apple SD Gothic Neo"/>
                  <a:ea typeface="Malgun Gothic"/>
                  <a:cs typeface="Apple SD Gothic Neo"/>
                </a:rPr>
                <a:t>산출: 정제 데이터 18변수</a:t>
              </a:r>
            </a:p>
          </p:txBody>
        </p:sp>
      </p:grpSp>
      <p:grpSp>
        <p:nvGrpSpPr>
          <p:cNvPr id="26" name="Group 26"/>
          <p:cNvGrpSpPr/>
          <p:nvPr/>
        </p:nvGrpSpPr>
        <p:grpSpPr>
          <a:xfrm>
            <a:off x="3495675" y="1619250"/>
            <a:ext cx="2476500" cy="3619500"/>
            <a:chOff x="3495675" y="1619250"/>
            <a:chExt cx="2476500" cy="3619500"/>
          </a:xfrm>
        </p:grpSpPr>
        <p:sp>
          <p:nvSpPr>
            <p:cNvPr id="17" name="Rectangle 17"/>
            <p:cNvSpPr/>
            <p:nvPr/>
          </p:nvSpPr>
          <p:spPr>
            <a:xfrm>
              <a:off x="3495675" y="1619250"/>
              <a:ext cx="2476500" cy="3619500"/>
            </a:xfrm>
            <a:prstGeom prst="roundRect">
              <a:avLst>
                <a:gd name="adj" fmla="val 4615"/>
              </a:avLst>
            </a:prstGeom>
            <a:solidFill>
              <a:srgbClr val="FFFFFF"/>
            </a:solidFill>
            <a:ln w="14288">
              <a:solidFill>
                <a:srgbClr val="D8DEE6"/>
              </a:solidFill>
            </a:ln>
            <a:effectLst>
              <a:outerShdw blurRad="76200" dist="19050" dir="5400000" algn="ctr" rotWithShape="0">
                <a:srgbClr val="1E3A5F">
                  <a:alpha val="4500"/>
                </a:srgbClr>
              </a:outerShdw>
            </a:effectLst>
          </p:spPr>
        </p:sp>
        <p:sp>
          <p:nvSpPr>
            <p:cNvPr id="18" name="Freeform 18"/>
            <p:cNvSpPr/>
            <p:nvPr/>
          </p:nvSpPr>
          <p:spPr>
            <a:xfrm>
              <a:off x="3495675" y="1619250"/>
              <a:ext cx="2476500" cy="533400"/>
            </a:xfrm>
            <a:custGeom>
              <a:avLst/>
              <a:gdLst/>
              <a:ahLst/>
              <a:cxnLst/>
              <a:rect l="l" t="t" r="r" b="b"/>
              <a:pathLst>
                <a:path w="2476500" h="533400">
                  <a:moveTo>
                    <a:pt x="0" y="114300"/>
                  </a:moveTo>
                  <a:cubicBezTo>
                    <a:pt x="0" y="51174"/>
                    <a:pt x="51174" y="0"/>
                    <a:pt x="114300" y="0"/>
                  </a:cubicBezTo>
                  <a:lnTo>
                    <a:pt x="2362200" y="0"/>
                  </a:lnTo>
                  <a:cubicBezTo>
                    <a:pt x="2425326" y="0"/>
                    <a:pt x="2476500" y="51174"/>
                    <a:pt x="2476500" y="114300"/>
                  </a:cubicBezTo>
                  <a:lnTo>
                    <a:pt x="2476500" y="533400"/>
                  </a:lnTo>
                  <a:lnTo>
                    <a:pt x="0" y="533400"/>
                  </a:lnTo>
                  <a:close/>
                </a:path>
              </a:pathLst>
            </a:custGeom>
            <a:solidFill>
              <a:srgbClr val="457B9D"/>
            </a:solidFill>
            <a:ln>
              <a:noFill/>
            </a:ln>
          </p:spPr>
        </p:sp>
        <p:sp>
          <p:nvSpPr>
            <p:cNvPr id="19" name="TextBox 19"/>
            <p:cNvSpPr txBox="1"/>
            <p:nvPr/>
          </p:nvSpPr>
          <p:spPr>
            <a:xfrm>
              <a:off x="3706178" y="1808321"/>
              <a:ext cx="1093677"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pple SD Gothic Neo"/>
                  <a:ea typeface="Malgun Gothic"/>
                  <a:cs typeface="Apple SD Gothic Neo"/>
                </a:rPr>
                <a:t>② PCA 차원 축소</a:t>
              </a:r>
            </a:p>
          </p:txBody>
        </p:sp>
        <p:grpSp>
          <p:nvGrpSpPr>
            <p:cNvPr id="22" name="Group 22"/>
            <p:cNvGrpSpPr/>
            <p:nvPr/>
          </p:nvGrpSpPr>
          <p:grpSpPr>
            <a:xfrm>
              <a:off x="3759994" y="2459831"/>
              <a:ext cx="309562" cy="261938"/>
              <a:chOff x="3759994" y="2459831"/>
              <a:chExt cx="309562" cy="261938"/>
            </a:xfrm>
          </p:grpSpPr>
          <p:sp>
            <p:nvSpPr>
              <p:cNvPr id="20" name="Freeform 20"/>
              <p:cNvSpPr/>
              <p:nvPr/>
            </p:nvSpPr>
            <p:spPr>
              <a:xfrm>
                <a:off x="3771900" y="2471738"/>
                <a:ext cx="285750" cy="238125"/>
              </a:xfrm>
              <a:custGeom>
                <a:avLst/>
                <a:gdLst/>
                <a:ahLst/>
                <a:cxnLst/>
                <a:rect l="l" t="t" r="r" b="b"/>
                <a:pathLst>
                  <a:path w="285750" h="238125">
                    <a:moveTo>
                      <a:pt x="285750" y="11906"/>
                    </a:moveTo>
                    <a:lnTo>
                      <a:pt x="285750" y="238125"/>
                    </a:lnTo>
                    <a:lnTo>
                      <a:pt x="0" y="238125"/>
                    </a:lnTo>
                    <a:lnTo>
                      <a:pt x="0" y="0"/>
                    </a:lnTo>
                    <a:lnTo>
                      <a:pt x="273844" y="0"/>
                    </a:lnTo>
                    <a:cubicBezTo>
                      <a:pt x="280419" y="0"/>
                      <a:pt x="285750" y="5331"/>
                      <a:pt x="285750" y="11906"/>
                    </a:cubicBezTo>
                    <a:close/>
                  </a:path>
                </a:pathLst>
              </a:custGeom>
              <a:solidFill>
                <a:srgbClr val="457B9D">
                  <a:alpha val="20000"/>
                </a:srgbClr>
              </a:solidFill>
              <a:ln>
                <a:noFill/>
              </a:ln>
            </p:spPr>
          </p:sp>
          <p:sp>
            <p:nvSpPr>
              <p:cNvPr id="21" name="Freeform 21"/>
              <p:cNvSpPr/>
              <p:nvPr/>
            </p:nvSpPr>
            <p:spPr>
              <a:xfrm>
                <a:off x="3759994" y="2459831"/>
                <a:ext cx="309562" cy="261938"/>
              </a:xfrm>
              <a:custGeom>
                <a:avLst/>
                <a:gdLst/>
                <a:ahLst/>
                <a:cxnLst/>
                <a:rect l="l" t="t" r="r" b="b"/>
                <a:pathLst>
                  <a:path w="309562" h="261938">
                    <a:moveTo>
                      <a:pt x="309562" y="250031"/>
                    </a:moveTo>
                    <a:cubicBezTo>
                      <a:pt x="309562" y="256607"/>
                      <a:pt x="304232" y="261938"/>
                      <a:pt x="297656" y="261938"/>
                    </a:cubicBezTo>
                    <a:lnTo>
                      <a:pt x="11906" y="261938"/>
                    </a:lnTo>
                    <a:cubicBezTo>
                      <a:pt x="5331" y="261938"/>
                      <a:pt x="0" y="256607"/>
                      <a:pt x="0" y="250031"/>
                    </a:cubicBezTo>
                    <a:lnTo>
                      <a:pt x="0" y="11906"/>
                    </a:lnTo>
                    <a:cubicBezTo>
                      <a:pt x="0" y="5331"/>
                      <a:pt x="5331" y="0"/>
                      <a:pt x="11906" y="0"/>
                    </a:cubicBezTo>
                    <a:cubicBezTo>
                      <a:pt x="18482" y="0"/>
                      <a:pt x="23812" y="5331"/>
                      <a:pt x="23812" y="11906"/>
                    </a:cubicBezTo>
                    <a:lnTo>
                      <a:pt x="23812" y="238125"/>
                    </a:lnTo>
                    <a:lnTo>
                      <a:pt x="297656" y="238125"/>
                    </a:lnTo>
                    <a:cubicBezTo>
                      <a:pt x="304232" y="238125"/>
                      <a:pt x="309562" y="243456"/>
                      <a:pt x="309562" y="250031"/>
                    </a:cubicBezTo>
                    <a:close/>
                    <a:moveTo>
                      <a:pt x="160734" y="178594"/>
                    </a:moveTo>
                    <a:cubicBezTo>
                      <a:pt x="170598" y="178594"/>
                      <a:pt x="178594" y="170598"/>
                      <a:pt x="178594" y="160734"/>
                    </a:cubicBezTo>
                    <a:cubicBezTo>
                      <a:pt x="178594" y="150871"/>
                      <a:pt x="170598" y="142875"/>
                      <a:pt x="160734" y="142875"/>
                    </a:cubicBezTo>
                    <a:cubicBezTo>
                      <a:pt x="150871" y="142875"/>
                      <a:pt x="142875" y="150871"/>
                      <a:pt x="142875" y="160734"/>
                    </a:cubicBezTo>
                    <a:cubicBezTo>
                      <a:pt x="142875" y="170598"/>
                      <a:pt x="150871" y="178594"/>
                      <a:pt x="160734" y="178594"/>
                    </a:cubicBezTo>
                    <a:close/>
                    <a:moveTo>
                      <a:pt x="125016" y="95250"/>
                    </a:moveTo>
                    <a:cubicBezTo>
                      <a:pt x="134879" y="95250"/>
                      <a:pt x="142875" y="87254"/>
                      <a:pt x="142875" y="77391"/>
                    </a:cubicBezTo>
                    <a:cubicBezTo>
                      <a:pt x="142875" y="67527"/>
                      <a:pt x="134879" y="59531"/>
                      <a:pt x="125016" y="59531"/>
                    </a:cubicBezTo>
                    <a:cubicBezTo>
                      <a:pt x="115152" y="59531"/>
                      <a:pt x="107156" y="67527"/>
                      <a:pt x="107156" y="77391"/>
                    </a:cubicBezTo>
                    <a:cubicBezTo>
                      <a:pt x="107156" y="87254"/>
                      <a:pt x="115152" y="95250"/>
                      <a:pt x="125016" y="95250"/>
                    </a:cubicBezTo>
                    <a:close/>
                    <a:moveTo>
                      <a:pt x="77391" y="202406"/>
                    </a:moveTo>
                    <a:cubicBezTo>
                      <a:pt x="87254" y="202406"/>
                      <a:pt x="95250" y="194410"/>
                      <a:pt x="95250" y="184547"/>
                    </a:cubicBezTo>
                    <a:cubicBezTo>
                      <a:pt x="95250" y="174683"/>
                      <a:pt x="87254" y="166688"/>
                      <a:pt x="77391" y="166688"/>
                    </a:cubicBezTo>
                    <a:cubicBezTo>
                      <a:pt x="67527" y="166688"/>
                      <a:pt x="59531" y="174683"/>
                      <a:pt x="59531" y="184547"/>
                    </a:cubicBezTo>
                    <a:cubicBezTo>
                      <a:pt x="59531" y="194410"/>
                      <a:pt x="67527" y="202406"/>
                      <a:pt x="77391" y="202406"/>
                    </a:cubicBezTo>
                    <a:close/>
                    <a:moveTo>
                      <a:pt x="220266" y="130969"/>
                    </a:moveTo>
                    <a:cubicBezTo>
                      <a:pt x="230129" y="130969"/>
                      <a:pt x="238125" y="122973"/>
                      <a:pt x="238125" y="113109"/>
                    </a:cubicBezTo>
                    <a:cubicBezTo>
                      <a:pt x="238125" y="103246"/>
                      <a:pt x="230129" y="95250"/>
                      <a:pt x="220266" y="95250"/>
                    </a:cubicBezTo>
                    <a:cubicBezTo>
                      <a:pt x="210402" y="95250"/>
                      <a:pt x="202406" y="103246"/>
                      <a:pt x="202406" y="113109"/>
                    </a:cubicBezTo>
                    <a:cubicBezTo>
                      <a:pt x="202406" y="122973"/>
                      <a:pt x="210402" y="130969"/>
                      <a:pt x="220266" y="130969"/>
                    </a:cubicBezTo>
                    <a:close/>
                    <a:moveTo>
                      <a:pt x="255984" y="71438"/>
                    </a:moveTo>
                    <a:cubicBezTo>
                      <a:pt x="265848" y="71438"/>
                      <a:pt x="273844" y="63442"/>
                      <a:pt x="273844" y="53578"/>
                    </a:cubicBezTo>
                    <a:cubicBezTo>
                      <a:pt x="273844" y="43715"/>
                      <a:pt x="265848" y="35719"/>
                      <a:pt x="255984" y="35719"/>
                    </a:cubicBezTo>
                    <a:cubicBezTo>
                      <a:pt x="246121" y="35719"/>
                      <a:pt x="238125" y="43715"/>
                      <a:pt x="238125" y="53578"/>
                    </a:cubicBezTo>
                    <a:cubicBezTo>
                      <a:pt x="238125" y="63442"/>
                      <a:pt x="246121" y="71438"/>
                      <a:pt x="255984" y="71438"/>
                    </a:cubicBezTo>
                    <a:close/>
                    <a:moveTo>
                      <a:pt x="226219" y="184547"/>
                    </a:moveTo>
                    <a:cubicBezTo>
                      <a:pt x="226219" y="194410"/>
                      <a:pt x="234215" y="202406"/>
                      <a:pt x="244078" y="202406"/>
                    </a:cubicBezTo>
                    <a:cubicBezTo>
                      <a:pt x="253942" y="202406"/>
                      <a:pt x="261938" y="194410"/>
                      <a:pt x="261938" y="184547"/>
                    </a:cubicBezTo>
                    <a:cubicBezTo>
                      <a:pt x="261938" y="174683"/>
                      <a:pt x="253942" y="166688"/>
                      <a:pt x="244078" y="166688"/>
                    </a:cubicBezTo>
                    <a:cubicBezTo>
                      <a:pt x="234215" y="166688"/>
                      <a:pt x="226219" y="174683"/>
                      <a:pt x="226219" y="184547"/>
                    </a:cubicBezTo>
                    <a:close/>
                  </a:path>
                </a:pathLst>
              </a:custGeom>
              <a:solidFill>
                <a:srgbClr val="457B9D"/>
              </a:solidFill>
              <a:ln>
                <a:noFill/>
              </a:ln>
            </p:spPr>
          </p:sp>
        </p:grpSp>
        <p:sp>
          <p:nvSpPr>
            <p:cNvPr id="23" name="TextBox 23"/>
            <p:cNvSpPr txBox="1"/>
            <p:nvPr/>
          </p:nvSpPr>
          <p:spPr>
            <a:xfrm>
              <a:off x="3710940" y="3106102"/>
              <a:ext cx="1600200" cy="956310"/>
            </a:xfrm>
            <a:prstGeom prst="rect">
              <a:avLst/>
            </a:prstGeom>
            <a:noFill/>
            <a:ln>
              <a:noFill/>
            </a:ln>
          </p:spPr>
          <p:txBody>
            <a:bodyPr wrap="square" lIns="0" tIns="0" rIns="0" bIns="0" anchor="t" anchorCtr="0"/>
            <a:lstStyle/>
            <a:p>
              <a:pPr algn="l">
                <a:lnSpc>
                  <a:spcPts val="1950"/>
                </a:lnSpc>
              </a:pPr>
              <a:r>
                <a:rPr lang="zh-CN" sz="1050" dirty="0">
                  <a:solidFill>
                    <a:srgbClr val="2B2D33"/>
                  </a:solidFill>
                  <a:latin typeface="Apple SD Gothic Neo"/>
                  <a:ea typeface="Malgun Gothic"/>
                  <a:cs typeface="Apple SD Gothic Neo"/>
                </a:rPr>
                <a:t xml:space="preserve">· 18차원 → 2차원 압축 </a:t>
              </a:r>
              <a:r>
                <a:rPr lang="zh-CN" sz="1050" dirty="0">
                  <a:solidFill>
                    <a:srgbClr val="2B2D33"/>
                  </a:solidFill>
                  <a:latin typeface="Apple SD Gothic Neo"/>
                  <a:ea typeface="Malgun Gothic"/>
                  <a:cs typeface="Apple SD Gothic Neo"/>
                </a:rPr>
                <a:t xml:space="preserve">· PC1 13.4% + PC2 11.9% </a:t>
              </a:r>
              <a:r>
                <a:rPr lang="zh-CN" sz="1050" dirty="0">
                  <a:solidFill>
                    <a:srgbClr val="2B2D33"/>
                  </a:solidFill>
                  <a:latin typeface="Apple SD Gothic Neo"/>
                  <a:ea typeface="Malgun Gothic"/>
                  <a:cs typeface="Apple SD Gothic Neo"/>
                </a:rPr>
                <a:t xml:space="preserve">· 고위험/저위험 분포를 </a:t>
              </a:r>
              <a:r>
                <a:rPr lang="zh-CN" sz="1050" dirty="0">
                  <a:solidFill>
                    <a:srgbClr val="2B2D33"/>
                  </a:solidFill>
                  <a:latin typeface="Apple SD Gothic Neo"/>
                  <a:ea typeface="Malgun Gothic"/>
                  <a:cs typeface="Apple SD Gothic Neo"/>
                </a:rPr>
                <a:t>눈으로 확인 가능하게</a:t>
              </a:r>
            </a:p>
          </p:txBody>
        </p:sp>
        <p:sp>
          <p:nvSpPr>
            <p:cNvPr id="24" name="Rectangle 24"/>
            <p:cNvSpPr/>
            <p:nvPr/>
          </p:nvSpPr>
          <p:spPr>
            <a:xfrm>
              <a:off x="3724275" y="4533900"/>
              <a:ext cx="2019300" cy="457200"/>
            </a:xfrm>
            <a:prstGeom prst="roundRect">
              <a:avLst>
                <a:gd name="adj" fmla="val 16667"/>
              </a:avLst>
            </a:prstGeom>
            <a:solidFill>
              <a:srgbClr val="457B9D">
                <a:alpha val="10000"/>
              </a:srgbClr>
            </a:solidFill>
            <a:ln>
              <a:noFill/>
            </a:ln>
          </p:spPr>
        </p:sp>
        <p:sp>
          <p:nvSpPr>
            <p:cNvPr id="25" name="TextBox 25"/>
            <p:cNvSpPr txBox="1"/>
            <p:nvPr/>
          </p:nvSpPr>
          <p:spPr>
            <a:xfrm>
              <a:off x="4250131" y="4706302"/>
              <a:ext cx="967588" cy="213360"/>
            </a:xfrm>
            <a:prstGeom prst="rect">
              <a:avLst/>
            </a:prstGeom>
            <a:noFill/>
            <a:ln>
              <a:noFill/>
            </a:ln>
          </p:spPr>
          <p:txBody>
            <a:bodyPr wrap="none" lIns="0" tIns="0" rIns="0" bIns="0" anchor="t" anchorCtr="0">
              <a:spAutoFit/>
            </a:bodyPr>
            <a:lstStyle/>
            <a:p>
              <a:pPr algn="ctr"/>
              <a:r>
                <a:rPr lang="zh-CN" sz="1050" b="1" dirty="0">
                  <a:solidFill>
                    <a:srgbClr val="457B9D"/>
                  </a:solidFill>
                  <a:latin typeface="Apple SD Gothic Neo"/>
                  <a:ea typeface="Malgun Gothic"/>
                  <a:cs typeface="Apple SD Gothic Neo"/>
                </a:rPr>
                <a:t>산출: 2D 시각화 좌표</a:t>
              </a:r>
            </a:p>
          </p:txBody>
        </p:sp>
      </p:grpSp>
      <p:grpSp>
        <p:nvGrpSpPr>
          <p:cNvPr id="36" name="Group 36"/>
          <p:cNvGrpSpPr/>
          <p:nvPr/>
        </p:nvGrpSpPr>
        <p:grpSpPr>
          <a:xfrm>
            <a:off x="6229350" y="1619250"/>
            <a:ext cx="2476500" cy="3619500"/>
            <a:chOff x="6229350" y="1619250"/>
            <a:chExt cx="2476500" cy="3619500"/>
          </a:xfrm>
        </p:grpSpPr>
        <p:sp>
          <p:nvSpPr>
            <p:cNvPr id="27" name="Rectangle 27"/>
            <p:cNvSpPr/>
            <p:nvPr/>
          </p:nvSpPr>
          <p:spPr>
            <a:xfrm>
              <a:off x="6229350" y="1619250"/>
              <a:ext cx="2476500" cy="3619500"/>
            </a:xfrm>
            <a:prstGeom prst="roundRect">
              <a:avLst>
                <a:gd name="adj" fmla="val 4615"/>
              </a:avLst>
            </a:prstGeom>
            <a:solidFill>
              <a:srgbClr val="FFFFFF"/>
            </a:solidFill>
            <a:ln w="14288">
              <a:solidFill>
                <a:srgbClr val="D8DEE6"/>
              </a:solidFill>
            </a:ln>
            <a:effectLst>
              <a:outerShdw blurRad="76200" dist="19050" dir="5400000" algn="ctr" rotWithShape="0">
                <a:srgbClr val="1E3A5F">
                  <a:alpha val="4500"/>
                </a:srgbClr>
              </a:outerShdw>
            </a:effectLst>
          </p:spPr>
        </p:sp>
        <p:sp>
          <p:nvSpPr>
            <p:cNvPr id="28" name="Freeform 28"/>
            <p:cNvSpPr/>
            <p:nvPr/>
          </p:nvSpPr>
          <p:spPr>
            <a:xfrm>
              <a:off x="6229350" y="1619250"/>
              <a:ext cx="2476500" cy="533400"/>
            </a:xfrm>
            <a:custGeom>
              <a:avLst/>
              <a:gdLst/>
              <a:ahLst/>
              <a:cxnLst/>
              <a:rect l="l" t="t" r="r" b="b"/>
              <a:pathLst>
                <a:path w="2476500" h="533400">
                  <a:moveTo>
                    <a:pt x="0" y="114300"/>
                  </a:moveTo>
                  <a:cubicBezTo>
                    <a:pt x="0" y="51174"/>
                    <a:pt x="51174" y="0"/>
                    <a:pt x="114300" y="0"/>
                  </a:cubicBezTo>
                  <a:lnTo>
                    <a:pt x="2362200" y="0"/>
                  </a:lnTo>
                  <a:cubicBezTo>
                    <a:pt x="2425326" y="0"/>
                    <a:pt x="2476500" y="51174"/>
                    <a:pt x="2476500" y="114300"/>
                  </a:cubicBezTo>
                  <a:lnTo>
                    <a:pt x="2476500" y="533400"/>
                  </a:lnTo>
                  <a:lnTo>
                    <a:pt x="0" y="533400"/>
                  </a:lnTo>
                  <a:close/>
                </a:path>
              </a:pathLst>
            </a:custGeom>
            <a:solidFill>
              <a:srgbClr val="2A9D8F"/>
            </a:solidFill>
            <a:ln>
              <a:noFill/>
            </a:ln>
          </p:spPr>
        </p:sp>
        <p:sp>
          <p:nvSpPr>
            <p:cNvPr id="29" name="TextBox 29"/>
            <p:cNvSpPr txBox="1"/>
            <p:nvPr/>
          </p:nvSpPr>
          <p:spPr>
            <a:xfrm>
              <a:off x="6439852" y="1808321"/>
              <a:ext cx="1293202"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pple SD Gothic Neo"/>
                  <a:ea typeface="Malgun Gothic"/>
                  <a:cs typeface="Apple SD Gothic Neo"/>
                </a:rPr>
                <a:t>③ K-Means 군집</a:t>
              </a:r>
            </a:p>
          </p:txBody>
        </p:sp>
        <p:grpSp>
          <p:nvGrpSpPr>
            <p:cNvPr id="32" name="Group 32"/>
            <p:cNvGrpSpPr/>
            <p:nvPr/>
          </p:nvGrpSpPr>
          <p:grpSpPr>
            <a:xfrm>
              <a:off x="6504486" y="2436019"/>
              <a:ext cx="287973" cy="297656"/>
              <a:chOff x="6504486" y="2436019"/>
              <a:chExt cx="287973" cy="297656"/>
            </a:xfrm>
          </p:grpSpPr>
          <p:sp>
            <p:nvSpPr>
              <p:cNvPr id="30" name="Freeform 30"/>
              <p:cNvSpPr/>
              <p:nvPr/>
            </p:nvSpPr>
            <p:spPr>
              <a:xfrm>
                <a:off x="6516908" y="2624435"/>
                <a:ext cx="263039" cy="97335"/>
              </a:xfrm>
              <a:custGeom>
                <a:avLst/>
                <a:gdLst/>
                <a:ahLst/>
                <a:cxnLst/>
                <a:rect l="l" t="t" r="r" b="b"/>
                <a:pathLst>
                  <a:path w="263039" h="97335">
                    <a:moveTo>
                      <a:pt x="250604" y="97334"/>
                    </a:moveTo>
                    <a:lnTo>
                      <a:pt x="12479" y="97334"/>
                    </a:lnTo>
                    <a:cubicBezTo>
                      <a:pt x="8188" y="97335"/>
                      <a:pt x="4228" y="95027"/>
                      <a:pt x="2114" y="91292"/>
                    </a:cubicBezTo>
                    <a:cubicBezTo>
                      <a:pt x="0" y="87557"/>
                      <a:pt x="59" y="82974"/>
                      <a:pt x="2270" y="79296"/>
                    </a:cubicBezTo>
                    <a:lnTo>
                      <a:pt x="47632" y="3691"/>
                    </a:lnTo>
                    <a:lnTo>
                      <a:pt x="47632" y="3691"/>
                    </a:lnTo>
                    <a:cubicBezTo>
                      <a:pt x="67322" y="0"/>
                      <a:pt x="95257" y="1592"/>
                      <a:pt x="131527" y="19943"/>
                    </a:cubicBezTo>
                    <a:cubicBezTo>
                      <a:pt x="179524" y="44247"/>
                      <a:pt x="213010" y="39157"/>
                      <a:pt x="231986" y="31328"/>
                    </a:cubicBezTo>
                    <a:lnTo>
                      <a:pt x="231986" y="31328"/>
                    </a:lnTo>
                    <a:lnTo>
                      <a:pt x="260769" y="79296"/>
                    </a:lnTo>
                    <a:cubicBezTo>
                      <a:pt x="262975" y="82967"/>
                      <a:pt x="263039" y="87541"/>
                      <a:pt x="260936" y="91273"/>
                    </a:cubicBezTo>
                    <a:cubicBezTo>
                      <a:pt x="258833" y="95004"/>
                      <a:pt x="254888" y="97319"/>
                      <a:pt x="250604" y="97334"/>
                    </a:cubicBezTo>
                    <a:close/>
                  </a:path>
                </a:pathLst>
              </a:custGeom>
              <a:solidFill>
                <a:srgbClr val="2A9D8F">
                  <a:alpha val="20000"/>
                </a:srgbClr>
              </a:solidFill>
              <a:ln>
                <a:noFill/>
              </a:ln>
            </p:spPr>
          </p:sp>
          <p:sp>
            <p:nvSpPr>
              <p:cNvPr id="31" name="Freeform 31"/>
              <p:cNvSpPr/>
              <p:nvPr/>
            </p:nvSpPr>
            <p:spPr>
              <a:xfrm>
                <a:off x="6504486" y="2436019"/>
                <a:ext cx="287973" cy="297656"/>
              </a:xfrm>
              <a:custGeom>
                <a:avLst/>
                <a:gdLst/>
                <a:ahLst/>
                <a:cxnLst/>
                <a:rect l="l" t="t" r="r" b="b"/>
                <a:pathLst>
                  <a:path w="287973" h="297656">
                    <a:moveTo>
                      <a:pt x="283401" y="261595"/>
                    </a:moveTo>
                    <a:lnTo>
                      <a:pt x="191589" y="108525"/>
                    </a:lnTo>
                    <a:lnTo>
                      <a:pt x="191589" y="23812"/>
                    </a:lnTo>
                    <a:lnTo>
                      <a:pt x="203496" y="23812"/>
                    </a:lnTo>
                    <a:cubicBezTo>
                      <a:pt x="210071" y="23812"/>
                      <a:pt x="215402" y="18482"/>
                      <a:pt x="215402" y="11906"/>
                    </a:cubicBezTo>
                    <a:cubicBezTo>
                      <a:pt x="215402" y="5331"/>
                      <a:pt x="210071" y="0"/>
                      <a:pt x="203496" y="0"/>
                    </a:cubicBezTo>
                    <a:lnTo>
                      <a:pt x="84433" y="0"/>
                    </a:lnTo>
                    <a:cubicBezTo>
                      <a:pt x="77857" y="0"/>
                      <a:pt x="72527" y="5331"/>
                      <a:pt x="72527" y="11906"/>
                    </a:cubicBezTo>
                    <a:cubicBezTo>
                      <a:pt x="72527" y="18482"/>
                      <a:pt x="77857" y="23812"/>
                      <a:pt x="84433" y="23812"/>
                    </a:cubicBezTo>
                    <a:lnTo>
                      <a:pt x="96339" y="23812"/>
                    </a:lnTo>
                    <a:lnTo>
                      <a:pt x="96339" y="108525"/>
                    </a:lnTo>
                    <a:lnTo>
                      <a:pt x="4527" y="261595"/>
                    </a:lnTo>
                    <a:cubicBezTo>
                      <a:pt x="119" y="268945"/>
                      <a:pt x="0" y="278096"/>
                      <a:pt x="4216" y="285558"/>
                    </a:cubicBezTo>
                    <a:cubicBezTo>
                      <a:pt x="8432" y="293019"/>
                      <a:pt x="16332" y="297640"/>
                      <a:pt x="24902" y="297656"/>
                    </a:cubicBezTo>
                    <a:lnTo>
                      <a:pt x="263027" y="297656"/>
                    </a:lnTo>
                    <a:cubicBezTo>
                      <a:pt x="271605" y="297656"/>
                      <a:pt x="279520" y="293041"/>
                      <a:pt x="283746" y="285577"/>
                    </a:cubicBezTo>
                    <a:cubicBezTo>
                      <a:pt x="287973" y="278112"/>
                      <a:pt x="287858" y="268951"/>
                      <a:pt x="283446" y="261595"/>
                    </a:cubicBezTo>
                    <a:close/>
                    <a:moveTo>
                      <a:pt x="118455" y="117946"/>
                    </a:moveTo>
                    <a:cubicBezTo>
                      <a:pt x="119569" y="116101"/>
                      <a:pt x="120155" y="113985"/>
                      <a:pt x="120152" y="111829"/>
                    </a:cubicBezTo>
                    <a:lnTo>
                      <a:pt x="120152" y="23812"/>
                    </a:lnTo>
                    <a:lnTo>
                      <a:pt x="167777" y="23812"/>
                    </a:lnTo>
                    <a:lnTo>
                      <a:pt x="167777" y="111829"/>
                    </a:lnTo>
                    <a:cubicBezTo>
                      <a:pt x="167773" y="113985"/>
                      <a:pt x="168360" y="116101"/>
                      <a:pt x="169473" y="117946"/>
                    </a:cubicBezTo>
                    <a:lnTo>
                      <a:pt x="226356" y="212824"/>
                    </a:lnTo>
                    <a:cubicBezTo>
                      <a:pt x="208496" y="216351"/>
                      <a:pt x="183091" y="214863"/>
                      <a:pt x="149337" y="197778"/>
                    </a:cubicBezTo>
                    <a:cubicBezTo>
                      <a:pt x="125658" y="185797"/>
                      <a:pt x="103126" y="179442"/>
                      <a:pt x="82037" y="178713"/>
                    </a:cubicBezTo>
                    <a:close/>
                    <a:moveTo>
                      <a:pt x="24902" y="273844"/>
                    </a:moveTo>
                    <a:lnTo>
                      <a:pt x="67377" y="203031"/>
                    </a:lnTo>
                    <a:cubicBezTo>
                      <a:pt x="88585" y="200457"/>
                      <a:pt x="112487" y="205785"/>
                      <a:pt x="138547" y="218986"/>
                    </a:cubicBezTo>
                    <a:cubicBezTo>
                      <a:pt x="166824" y="233288"/>
                      <a:pt x="190637" y="238155"/>
                      <a:pt x="209984" y="238155"/>
                    </a:cubicBezTo>
                    <a:cubicBezTo>
                      <a:pt x="219824" y="238198"/>
                      <a:pt x="229621" y="236845"/>
                      <a:pt x="239080" y="234136"/>
                    </a:cubicBezTo>
                    <a:lnTo>
                      <a:pt x="263027" y="273844"/>
                    </a:lnTo>
                    <a:close/>
                  </a:path>
                </a:pathLst>
              </a:custGeom>
              <a:solidFill>
                <a:srgbClr val="2A9D8F"/>
              </a:solidFill>
              <a:ln>
                <a:noFill/>
              </a:ln>
            </p:spPr>
          </p:sp>
        </p:grpSp>
        <p:sp>
          <p:nvSpPr>
            <p:cNvPr id="33" name="TextBox 33"/>
            <p:cNvSpPr txBox="1"/>
            <p:nvPr/>
          </p:nvSpPr>
          <p:spPr>
            <a:xfrm>
              <a:off x="6444615" y="3106102"/>
              <a:ext cx="1400175" cy="956310"/>
            </a:xfrm>
            <a:prstGeom prst="rect">
              <a:avLst/>
            </a:prstGeom>
            <a:noFill/>
            <a:ln>
              <a:noFill/>
            </a:ln>
          </p:spPr>
          <p:txBody>
            <a:bodyPr wrap="square" lIns="0" tIns="0" rIns="0" bIns="0" anchor="t" anchorCtr="0"/>
            <a:lstStyle/>
            <a:p>
              <a:pPr algn="l">
                <a:lnSpc>
                  <a:spcPts val="1950"/>
                </a:lnSpc>
              </a:pPr>
              <a:r>
                <a:rPr lang="zh-CN" sz="1050" dirty="0">
                  <a:solidFill>
                    <a:srgbClr val="2B2D33"/>
                  </a:solidFill>
                  <a:latin typeface="Apple SD Gothic Neo"/>
                  <a:ea typeface="Malgun Gothic"/>
                  <a:cs typeface="Apple SD Gothic Neo"/>
                </a:rPr>
                <a:t xml:space="preserve">· 엘보우 방법으로 K=3 선정 </a:t>
              </a:r>
              <a:r>
                <a:rPr lang="zh-CN" sz="1050" dirty="0">
                  <a:solidFill>
                    <a:srgbClr val="2B2D33"/>
                  </a:solidFill>
                  <a:latin typeface="Apple SD Gothic Neo"/>
                  <a:ea typeface="Malgun Gothic"/>
                  <a:cs typeface="Apple SD Gothic Neo"/>
                </a:rPr>
                <a:t xml:space="preserve">· 라벨 없이 자동 그룹화 </a:t>
              </a:r>
              <a:r>
                <a:rPr lang="zh-CN" sz="1050" dirty="0">
                  <a:solidFill>
                    <a:srgbClr val="2B2D33"/>
                  </a:solidFill>
                  <a:latin typeface="Apple SD Gothic Neo"/>
                  <a:ea typeface="Malgun Gothic"/>
                  <a:cs typeface="Apple SD Gothic Neo"/>
                </a:rPr>
                <a:t xml:space="preserve">· 군집별 자살률 </a:t>
              </a:r>
              <a:r>
                <a:rPr lang="zh-CN" sz="1050" dirty="0">
                  <a:solidFill>
                    <a:srgbClr val="2B2D33"/>
                  </a:solidFill>
                  <a:latin typeface="Apple SD Gothic Neo"/>
                  <a:ea typeface="Malgun Gothic"/>
                  <a:cs typeface="Apple SD Gothic Neo"/>
                </a:rPr>
                <a:t>19.7 / 12.3 / 4.4로 분리</a:t>
              </a:r>
            </a:p>
          </p:txBody>
        </p:sp>
        <p:sp>
          <p:nvSpPr>
            <p:cNvPr id="34" name="Rectangle 34"/>
            <p:cNvSpPr/>
            <p:nvPr/>
          </p:nvSpPr>
          <p:spPr>
            <a:xfrm>
              <a:off x="6457950" y="4533900"/>
              <a:ext cx="2019300" cy="457200"/>
            </a:xfrm>
            <a:prstGeom prst="roundRect">
              <a:avLst>
                <a:gd name="adj" fmla="val 16667"/>
              </a:avLst>
            </a:prstGeom>
            <a:solidFill>
              <a:srgbClr val="2A9D8F">
                <a:alpha val="10000"/>
              </a:srgbClr>
            </a:solidFill>
            <a:ln>
              <a:noFill/>
            </a:ln>
          </p:spPr>
        </p:sp>
        <p:sp>
          <p:nvSpPr>
            <p:cNvPr id="35" name="TextBox 35"/>
            <p:cNvSpPr txBox="1"/>
            <p:nvPr/>
          </p:nvSpPr>
          <p:spPr>
            <a:xfrm>
              <a:off x="6983806" y="4706302"/>
              <a:ext cx="967588" cy="213360"/>
            </a:xfrm>
            <a:prstGeom prst="rect">
              <a:avLst/>
            </a:prstGeom>
            <a:noFill/>
            <a:ln>
              <a:noFill/>
            </a:ln>
          </p:spPr>
          <p:txBody>
            <a:bodyPr wrap="none" lIns="0" tIns="0" rIns="0" bIns="0" anchor="t" anchorCtr="0">
              <a:spAutoFit/>
            </a:bodyPr>
            <a:lstStyle/>
            <a:p>
              <a:pPr algn="ctr"/>
              <a:r>
                <a:rPr lang="zh-CN" sz="1050" b="1" dirty="0">
                  <a:solidFill>
                    <a:srgbClr val="2A9D8F"/>
                  </a:solidFill>
                  <a:latin typeface="Apple SD Gothic Neo"/>
                  <a:ea typeface="Malgun Gothic"/>
                  <a:cs typeface="Apple SD Gothic Neo"/>
                </a:rPr>
                <a:t>산출: 위험 3계층 군집</a:t>
              </a:r>
            </a:p>
          </p:txBody>
        </p:sp>
      </p:grpSp>
      <p:grpSp>
        <p:nvGrpSpPr>
          <p:cNvPr id="46" name="Group 46"/>
          <p:cNvGrpSpPr/>
          <p:nvPr/>
        </p:nvGrpSpPr>
        <p:grpSpPr>
          <a:xfrm>
            <a:off x="8963025" y="1619250"/>
            <a:ext cx="2476500" cy="3619500"/>
            <a:chOff x="8963025" y="1619250"/>
            <a:chExt cx="2476500" cy="3619500"/>
          </a:xfrm>
        </p:grpSpPr>
        <p:sp>
          <p:nvSpPr>
            <p:cNvPr id="37" name="Rectangle 37"/>
            <p:cNvSpPr/>
            <p:nvPr/>
          </p:nvSpPr>
          <p:spPr>
            <a:xfrm>
              <a:off x="8963025" y="1619250"/>
              <a:ext cx="2476500" cy="3619500"/>
            </a:xfrm>
            <a:prstGeom prst="roundRect">
              <a:avLst>
                <a:gd name="adj" fmla="val 4615"/>
              </a:avLst>
            </a:prstGeom>
            <a:solidFill>
              <a:srgbClr val="FFFFFF"/>
            </a:solidFill>
            <a:ln w="19050">
              <a:solidFill>
                <a:srgbClr val="E63946"/>
              </a:solidFill>
            </a:ln>
            <a:effectLst>
              <a:outerShdw blurRad="76200" dist="19050" dir="5400000" algn="ctr" rotWithShape="0">
                <a:srgbClr val="1E3A5F">
                  <a:alpha val="4500"/>
                </a:srgbClr>
              </a:outerShdw>
            </a:effectLst>
          </p:spPr>
        </p:sp>
        <p:sp>
          <p:nvSpPr>
            <p:cNvPr id="38" name="Freeform 38"/>
            <p:cNvSpPr/>
            <p:nvPr/>
          </p:nvSpPr>
          <p:spPr>
            <a:xfrm>
              <a:off x="8963025" y="1619250"/>
              <a:ext cx="2476500" cy="533400"/>
            </a:xfrm>
            <a:custGeom>
              <a:avLst/>
              <a:gdLst/>
              <a:ahLst/>
              <a:cxnLst/>
              <a:rect l="l" t="t" r="r" b="b"/>
              <a:pathLst>
                <a:path w="2476500" h="533400">
                  <a:moveTo>
                    <a:pt x="0" y="114300"/>
                  </a:moveTo>
                  <a:cubicBezTo>
                    <a:pt x="0" y="51174"/>
                    <a:pt x="51174" y="0"/>
                    <a:pt x="114300" y="0"/>
                  </a:cubicBezTo>
                  <a:lnTo>
                    <a:pt x="2362200" y="0"/>
                  </a:lnTo>
                  <a:cubicBezTo>
                    <a:pt x="2425326" y="0"/>
                    <a:pt x="2476500" y="51174"/>
                    <a:pt x="2476500" y="114300"/>
                  </a:cubicBezTo>
                  <a:lnTo>
                    <a:pt x="2476500" y="533400"/>
                  </a:lnTo>
                  <a:lnTo>
                    <a:pt x="0" y="533400"/>
                  </a:lnTo>
                  <a:close/>
                </a:path>
              </a:pathLst>
            </a:custGeom>
            <a:solidFill>
              <a:srgbClr val="E63946"/>
            </a:solidFill>
            <a:ln>
              <a:noFill/>
            </a:ln>
          </p:spPr>
        </p:sp>
        <p:sp>
          <p:nvSpPr>
            <p:cNvPr id="39" name="TextBox 39"/>
            <p:cNvSpPr txBox="1"/>
            <p:nvPr/>
          </p:nvSpPr>
          <p:spPr>
            <a:xfrm>
              <a:off x="9173528" y="1808321"/>
              <a:ext cx="983938"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pple SD Gothic Neo"/>
                  <a:ea typeface="Malgun Gothic"/>
                  <a:cs typeface="Apple SD Gothic Neo"/>
                </a:rPr>
                <a:t>④ 분류 모델 비교</a:t>
              </a:r>
            </a:p>
          </p:txBody>
        </p:sp>
        <p:grpSp>
          <p:nvGrpSpPr>
            <p:cNvPr id="42" name="Group 42"/>
            <p:cNvGrpSpPr/>
            <p:nvPr/>
          </p:nvGrpSpPr>
          <p:grpSpPr>
            <a:xfrm>
              <a:off x="9203520" y="2430035"/>
              <a:ext cx="357199" cy="309623"/>
              <a:chOff x="9203520" y="2430035"/>
              <a:chExt cx="357199" cy="309623"/>
            </a:xfrm>
          </p:grpSpPr>
          <p:sp>
            <p:nvSpPr>
              <p:cNvPr id="40" name="Freeform 40"/>
              <p:cNvSpPr/>
              <p:nvPr/>
            </p:nvSpPr>
            <p:spPr>
              <a:xfrm>
                <a:off x="9215374" y="2447925"/>
                <a:ext cx="333449" cy="273844"/>
              </a:xfrm>
              <a:custGeom>
                <a:avLst/>
                <a:gdLst/>
                <a:ahLst/>
                <a:cxnLst/>
                <a:rect l="l" t="t" r="r" b="b"/>
                <a:pathLst>
                  <a:path w="333449" h="273844">
                    <a:moveTo>
                      <a:pt x="333439" y="136922"/>
                    </a:moveTo>
                    <a:cubicBezTo>
                      <a:pt x="333449" y="167204"/>
                      <a:pt x="314364" y="194202"/>
                      <a:pt x="285814" y="204296"/>
                    </a:cubicBezTo>
                    <a:lnTo>
                      <a:pt x="285814" y="204296"/>
                    </a:lnTo>
                    <a:lnTo>
                      <a:pt x="285814" y="214312"/>
                    </a:lnTo>
                    <a:cubicBezTo>
                      <a:pt x="285814" y="247191"/>
                      <a:pt x="259161" y="273844"/>
                      <a:pt x="226283" y="273844"/>
                    </a:cubicBezTo>
                    <a:cubicBezTo>
                      <a:pt x="193404" y="273844"/>
                      <a:pt x="166751" y="247191"/>
                      <a:pt x="166751" y="214312"/>
                    </a:cubicBezTo>
                    <a:cubicBezTo>
                      <a:pt x="166751" y="247191"/>
                      <a:pt x="140098" y="273844"/>
                      <a:pt x="107220" y="273844"/>
                    </a:cubicBezTo>
                    <a:cubicBezTo>
                      <a:pt x="74342" y="273844"/>
                      <a:pt x="47689" y="247191"/>
                      <a:pt x="47689" y="214312"/>
                    </a:cubicBezTo>
                    <a:lnTo>
                      <a:pt x="47689" y="204296"/>
                    </a:lnTo>
                    <a:lnTo>
                      <a:pt x="47689" y="204296"/>
                    </a:lnTo>
                    <a:cubicBezTo>
                      <a:pt x="19113" y="194224"/>
                      <a:pt x="0" y="167221"/>
                      <a:pt x="0" y="136922"/>
                    </a:cubicBezTo>
                    <a:cubicBezTo>
                      <a:pt x="0" y="106623"/>
                      <a:pt x="19113" y="79620"/>
                      <a:pt x="47689" y="69547"/>
                    </a:cubicBezTo>
                    <a:lnTo>
                      <a:pt x="47689" y="59531"/>
                    </a:lnTo>
                    <a:cubicBezTo>
                      <a:pt x="47689" y="26653"/>
                      <a:pt x="74342" y="0"/>
                      <a:pt x="107220" y="0"/>
                    </a:cubicBezTo>
                    <a:cubicBezTo>
                      <a:pt x="140098" y="0"/>
                      <a:pt x="166751" y="26653"/>
                      <a:pt x="166751" y="59531"/>
                    </a:cubicBezTo>
                    <a:cubicBezTo>
                      <a:pt x="166751" y="26653"/>
                      <a:pt x="193404" y="0"/>
                      <a:pt x="226283" y="0"/>
                    </a:cubicBezTo>
                    <a:cubicBezTo>
                      <a:pt x="259161" y="0"/>
                      <a:pt x="285814" y="26653"/>
                      <a:pt x="285814" y="59531"/>
                    </a:cubicBezTo>
                    <a:lnTo>
                      <a:pt x="285814" y="69547"/>
                    </a:lnTo>
                    <a:cubicBezTo>
                      <a:pt x="314364" y="79641"/>
                      <a:pt x="333449" y="106640"/>
                      <a:pt x="333439" y="136922"/>
                    </a:cubicBezTo>
                    <a:close/>
                  </a:path>
                </a:pathLst>
              </a:custGeom>
              <a:solidFill>
                <a:srgbClr val="E63946">
                  <a:alpha val="20000"/>
                </a:srgbClr>
              </a:solidFill>
              <a:ln>
                <a:noFill/>
              </a:ln>
            </p:spPr>
          </p:sp>
          <p:sp>
            <p:nvSpPr>
              <p:cNvPr id="41" name="Freeform 41"/>
              <p:cNvSpPr/>
              <p:nvPr/>
            </p:nvSpPr>
            <p:spPr>
              <a:xfrm>
                <a:off x="9203520" y="2430035"/>
                <a:ext cx="357199" cy="309623"/>
              </a:xfrm>
              <a:custGeom>
                <a:avLst/>
                <a:gdLst/>
                <a:ahLst/>
                <a:cxnLst/>
                <a:rect l="l" t="t" r="r" b="b"/>
                <a:pathLst>
                  <a:path w="357199" h="309623">
                    <a:moveTo>
                      <a:pt x="357199" y="154812"/>
                    </a:moveTo>
                    <a:cubicBezTo>
                      <a:pt x="357167" y="122624"/>
                      <a:pt x="338638" y="93320"/>
                      <a:pt x="309574" y="79490"/>
                    </a:cubicBezTo>
                    <a:lnTo>
                      <a:pt x="309574" y="77421"/>
                    </a:lnTo>
                    <a:cubicBezTo>
                      <a:pt x="309545" y="45922"/>
                      <a:pt x="288890" y="18159"/>
                      <a:pt x="258728" y="9079"/>
                    </a:cubicBezTo>
                    <a:cubicBezTo>
                      <a:pt x="228566" y="0"/>
                      <a:pt x="196017" y="11747"/>
                      <a:pt x="178605" y="37996"/>
                    </a:cubicBezTo>
                    <a:cubicBezTo>
                      <a:pt x="161193" y="11747"/>
                      <a:pt x="128644" y="0"/>
                      <a:pt x="98482" y="9079"/>
                    </a:cubicBezTo>
                    <a:cubicBezTo>
                      <a:pt x="68320" y="18159"/>
                      <a:pt x="47664" y="45922"/>
                      <a:pt x="47636" y="77421"/>
                    </a:cubicBezTo>
                    <a:lnTo>
                      <a:pt x="47636" y="79490"/>
                    </a:lnTo>
                    <a:cubicBezTo>
                      <a:pt x="18545" y="93284"/>
                      <a:pt x="0" y="122600"/>
                      <a:pt x="0" y="154797"/>
                    </a:cubicBezTo>
                    <a:cubicBezTo>
                      <a:pt x="0" y="186993"/>
                      <a:pt x="18545" y="216310"/>
                      <a:pt x="47636" y="230104"/>
                    </a:cubicBezTo>
                    <a:lnTo>
                      <a:pt x="47636" y="232202"/>
                    </a:lnTo>
                    <a:cubicBezTo>
                      <a:pt x="47664" y="263701"/>
                      <a:pt x="68320" y="291464"/>
                      <a:pt x="98482" y="300544"/>
                    </a:cubicBezTo>
                    <a:cubicBezTo>
                      <a:pt x="128644" y="309623"/>
                      <a:pt x="161193" y="297876"/>
                      <a:pt x="178605" y="271627"/>
                    </a:cubicBezTo>
                    <a:cubicBezTo>
                      <a:pt x="196017" y="297876"/>
                      <a:pt x="228566" y="309623"/>
                      <a:pt x="258728" y="300544"/>
                    </a:cubicBezTo>
                    <a:cubicBezTo>
                      <a:pt x="288890" y="291464"/>
                      <a:pt x="309545" y="263701"/>
                      <a:pt x="309574" y="232202"/>
                    </a:cubicBezTo>
                    <a:lnTo>
                      <a:pt x="309574" y="230104"/>
                    </a:lnTo>
                    <a:cubicBezTo>
                      <a:pt x="338634" y="216283"/>
                      <a:pt x="357162" y="186990"/>
                      <a:pt x="357199" y="154812"/>
                    </a:cubicBezTo>
                    <a:close/>
                    <a:moveTo>
                      <a:pt x="119074" y="279827"/>
                    </a:moveTo>
                    <a:cubicBezTo>
                      <a:pt x="94755" y="279824"/>
                      <a:pt x="74346" y="261499"/>
                      <a:pt x="71731" y="237322"/>
                    </a:cubicBezTo>
                    <a:cubicBezTo>
                      <a:pt x="75582" y="237871"/>
                      <a:pt x="79466" y="238150"/>
                      <a:pt x="83355" y="238155"/>
                    </a:cubicBezTo>
                    <a:lnTo>
                      <a:pt x="95261" y="238155"/>
                    </a:lnTo>
                    <a:cubicBezTo>
                      <a:pt x="101837" y="238155"/>
                      <a:pt x="107167" y="232825"/>
                      <a:pt x="107167" y="226249"/>
                    </a:cubicBezTo>
                    <a:cubicBezTo>
                      <a:pt x="107167" y="219673"/>
                      <a:pt x="101837" y="214343"/>
                      <a:pt x="95261" y="214343"/>
                    </a:cubicBezTo>
                    <a:lnTo>
                      <a:pt x="83355" y="214343"/>
                    </a:lnTo>
                    <a:cubicBezTo>
                      <a:pt x="54333" y="214377"/>
                      <a:pt x="29516" y="193478"/>
                      <a:pt x="24611" y="164874"/>
                    </a:cubicBezTo>
                    <a:cubicBezTo>
                      <a:pt x="19705" y="136269"/>
                      <a:pt x="36141" y="108296"/>
                      <a:pt x="63516" y="98659"/>
                    </a:cubicBezTo>
                    <a:cubicBezTo>
                      <a:pt x="68270" y="96976"/>
                      <a:pt x="71448" y="92480"/>
                      <a:pt x="71449" y="87437"/>
                    </a:cubicBezTo>
                    <a:lnTo>
                      <a:pt x="71449" y="77421"/>
                    </a:lnTo>
                    <a:cubicBezTo>
                      <a:pt x="71449" y="51118"/>
                      <a:pt x="92771" y="29796"/>
                      <a:pt x="119074" y="29796"/>
                    </a:cubicBezTo>
                    <a:cubicBezTo>
                      <a:pt x="145376" y="29796"/>
                      <a:pt x="166699" y="51118"/>
                      <a:pt x="166699" y="77421"/>
                    </a:cubicBezTo>
                    <a:lnTo>
                      <a:pt x="166699" y="179011"/>
                    </a:lnTo>
                    <a:cubicBezTo>
                      <a:pt x="153624" y="167252"/>
                      <a:pt x="136658" y="160752"/>
                      <a:pt x="119074" y="160765"/>
                    </a:cubicBezTo>
                    <a:cubicBezTo>
                      <a:pt x="112498" y="160765"/>
                      <a:pt x="107167" y="166095"/>
                      <a:pt x="107167" y="172671"/>
                    </a:cubicBezTo>
                    <a:cubicBezTo>
                      <a:pt x="107167" y="179247"/>
                      <a:pt x="112498" y="184577"/>
                      <a:pt x="119074" y="184577"/>
                    </a:cubicBezTo>
                    <a:cubicBezTo>
                      <a:pt x="145376" y="184577"/>
                      <a:pt x="166699" y="205900"/>
                      <a:pt x="166699" y="232202"/>
                    </a:cubicBezTo>
                    <a:cubicBezTo>
                      <a:pt x="166699" y="258505"/>
                      <a:pt x="145376" y="279827"/>
                      <a:pt x="119074" y="279827"/>
                    </a:cubicBezTo>
                    <a:close/>
                    <a:moveTo>
                      <a:pt x="273855" y="214343"/>
                    </a:moveTo>
                    <a:lnTo>
                      <a:pt x="261949" y="214343"/>
                    </a:lnTo>
                    <a:cubicBezTo>
                      <a:pt x="255373" y="214343"/>
                      <a:pt x="250042" y="219673"/>
                      <a:pt x="250042" y="226249"/>
                    </a:cubicBezTo>
                    <a:cubicBezTo>
                      <a:pt x="250042" y="232825"/>
                      <a:pt x="255373" y="238155"/>
                      <a:pt x="261949" y="238155"/>
                    </a:cubicBezTo>
                    <a:lnTo>
                      <a:pt x="273855" y="238155"/>
                    </a:lnTo>
                    <a:cubicBezTo>
                      <a:pt x="277744" y="238150"/>
                      <a:pt x="281628" y="237871"/>
                      <a:pt x="285478" y="237322"/>
                    </a:cubicBezTo>
                    <a:cubicBezTo>
                      <a:pt x="282722" y="262811"/>
                      <a:pt x="260282" y="281545"/>
                      <a:pt x="234710" y="279704"/>
                    </a:cubicBezTo>
                    <a:cubicBezTo>
                      <a:pt x="209138" y="277864"/>
                      <a:pt x="189613" y="256110"/>
                      <a:pt x="190535" y="230488"/>
                    </a:cubicBezTo>
                    <a:cubicBezTo>
                      <a:pt x="191458" y="204867"/>
                      <a:pt x="212498" y="184574"/>
                      <a:pt x="238136" y="184577"/>
                    </a:cubicBezTo>
                    <a:cubicBezTo>
                      <a:pt x="244712" y="184577"/>
                      <a:pt x="250042" y="179247"/>
                      <a:pt x="250042" y="172671"/>
                    </a:cubicBezTo>
                    <a:cubicBezTo>
                      <a:pt x="250042" y="166095"/>
                      <a:pt x="244712" y="160765"/>
                      <a:pt x="238136" y="160765"/>
                    </a:cubicBezTo>
                    <a:cubicBezTo>
                      <a:pt x="220552" y="160752"/>
                      <a:pt x="203585" y="167252"/>
                      <a:pt x="190511" y="179011"/>
                    </a:cubicBezTo>
                    <a:lnTo>
                      <a:pt x="190511" y="77421"/>
                    </a:lnTo>
                    <a:cubicBezTo>
                      <a:pt x="190511" y="51118"/>
                      <a:pt x="211834" y="29796"/>
                      <a:pt x="238136" y="29796"/>
                    </a:cubicBezTo>
                    <a:cubicBezTo>
                      <a:pt x="264439" y="29796"/>
                      <a:pt x="285761" y="51118"/>
                      <a:pt x="285761" y="77421"/>
                    </a:cubicBezTo>
                    <a:lnTo>
                      <a:pt x="285761" y="87437"/>
                    </a:lnTo>
                    <a:cubicBezTo>
                      <a:pt x="285762" y="92480"/>
                      <a:pt x="288940" y="96976"/>
                      <a:pt x="293694" y="98659"/>
                    </a:cubicBezTo>
                    <a:cubicBezTo>
                      <a:pt x="321069" y="108296"/>
                      <a:pt x="337505" y="136269"/>
                      <a:pt x="332599" y="164874"/>
                    </a:cubicBezTo>
                    <a:cubicBezTo>
                      <a:pt x="327694" y="193478"/>
                      <a:pt x="302877" y="214377"/>
                      <a:pt x="273855" y="214343"/>
                    </a:cubicBezTo>
                    <a:close/>
                    <a:moveTo>
                      <a:pt x="297667" y="136952"/>
                    </a:moveTo>
                    <a:cubicBezTo>
                      <a:pt x="297667" y="143528"/>
                      <a:pt x="292337" y="148858"/>
                      <a:pt x="285761" y="148858"/>
                    </a:cubicBezTo>
                    <a:lnTo>
                      <a:pt x="279808" y="148858"/>
                    </a:lnTo>
                    <a:cubicBezTo>
                      <a:pt x="250218" y="148858"/>
                      <a:pt x="226230" y="124871"/>
                      <a:pt x="226230" y="95280"/>
                    </a:cubicBezTo>
                    <a:lnTo>
                      <a:pt x="226230" y="89327"/>
                    </a:lnTo>
                    <a:cubicBezTo>
                      <a:pt x="226230" y="82752"/>
                      <a:pt x="231561" y="77421"/>
                      <a:pt x="238136" y="77421"/>
                    </a:cubicBezTo>
                    <a:cubicBezTo>
                      <a:pt x="244712" y="77421"/>
                      <a:pt x="250042" y="82752"/>
                      <a:pt x="250042" y="89327"/>
                    </a:cubicBezTo>
                    <a:lnTo>
                      <a:pt x="250042" y="95280"/>
                    </a:lnTo>
                    <a:cubicBezTo>
                      <a:pt x="250042" y="111719"/>
                      <a:pt x="263369" y="125046"/>
                      <a:pt x="279808" y="125046"/>
                    </a:cubicBezTo>
                    <a:lnTo>
                      <a:pt x="285761" y="125046"/>
                    </a:lnTo>
                    <a:cubicBezTo>
                      <a:pt x="292337" y="125046"/>
                      <a:pt x="297667" y="130377"/>
                      <a:pt x="297667" y="136952"/>
                    </a:cubicBezTo>
                    <a:close/>
                    <a:moveTo>
                      <a:pt x="77402" y="148858"/>
                    </a:moveTo>
                    <a:lnTo>
                      <a:pt x="71449" y="148858"/>
                    </a:lnTo>
                    <a:cubicBezTo>
                      <a:pt x="64873" y="148858"/>
                      <a:pt x="59542" y="143528"/>
                      <a:pt x="59542" y="136952"/>
                    </a:cubicBezTo>
                    <a:cubicBezTo>
                      <a:pt x="59542" y="130377"/>
                      <a:pt x="64873" y="125046"/>
                      <a:pt x="71449" y="125046"/>
                    </a:cubicBezTo>
                    <a:lnTo>
                      <a:pt x="77402" y="125046"/>
                    </a:lnTo>
                    <a:cubicBezTo>
                      <a:pt x="93841" y="125046"/>
                      <a:pt x="107167" y="111719"/>
                      <a:pt x="107167" y="95280"/>
                    </a:cubicBezTo>
                    <a:lnTo>
                      <a:pt x="107167" y="89327"/>
                    </a:lnTo>
                    <a:cubicBezTo>
                      <a:pt x="107167" y="82752"/>
                      <a:pt x="112498" y="77421"/>
                      <a:pt x="119074" y="77421"/>
                    </a:cubicBezTo>
                    <a:cubicBezTo>
                      <a:pt x="125649" y="77421"/>
                      <a:pt x="130980" y="82752"/>
                      <a:pt x="130980" y="89327"/>
                    </a:cubicBezTo>
                    <a:lnTo>
                      <a:pt x="130980" y="95280"/>
                    </a:lnTo>
                    <a:cubicBezTo>
                      <a:pt x="130980" y="124871"/>
                      <a:pt x="106992" y="148858"/>
                      <a:pt x="77402" y="148858"/>
                    </a:cubicBezTo>
                    <a:close/>
                  </a:path>
                </a:pathLst>
              </a:custGeom>
              <a:solidFill>
                <a:srgbClr val="E63946"/>
              </a:solidFill>
              <a:ln>
                <a:noFill/>
              </a:ln>
            </p:spPr>
          </p:sp>
        </p:grpSp>
        <p:sp>
          <p:nvSpPr>
            <p:cNvPr id="43" name="TextBox 43"/>
            <p:cNvSpPr txBox="1"/>
            <p:nvPr/>
          </p:nvSpPr>
          <p:spPr>
            <a:xfrm>
              <a:off x="9178290" y="3106102"/>
              <a:ext cx="1546860" cy="956310"/>
            </a:xfrm>
            <a:prstGeom prst="rect">
              <a:avLst/>
            </a:prstGeom>
            <a:noFill/>
            <a:ln>
              <a:noFill/>
            </a:ln>
          </p:spPr>
          <p:txBody>
            <a:bodyPr wrap="square" lIns="0" tIns="0" rIns="0" bIns="0" anchor="t" anchorCtr="0"/>
            <a:lstStyle/>
            <a:p>
              <a:pPr algn="l">
                <a:lnSpc>
                  <a:spcPts val="1950"/>
                </a:lnSpc>
              </a:pPr>
              <a:r>
                <a:rPr lang="zh-CN" sz="1050" dirty="0">
                  <a:solidFill>
                    <a:srgbClr val="2B2D33"/>
                  </a:solidFill>
                  <a:latin typeface="Apple SD Gothic Neo"/>
                  <a:ea typeface="Malgun Gothic"/>
                  <a:cs typeface="Apple SD Gothic Neo"/>
                </a:rPr>
                <a:t xml:space="preserve">· 학습 22,256 / 테스트 5,564 </a:t>
              </a:r>
              <a:r>
                <a:rPr lang="zh-CN" sz="1050" dirty="0">
                  <a:solidFill>
                    <a:srgbClr val="2B2D33"/>
                  </a:solidFill>
                  <a:latin typeface="Apple SD Gothic Neo"/>
                  <a:ea typeface="Malgun Gothic"/>
                  <a:cs typeface="Apple SD Gothic Neo"/>
                </a:rPr>
                <a:t xml:space="preserve">· 결정트리·로지스틱·KNN×2 </a:t>
              </a:r>
              <a:r>
                <a:rPr lang="zh-CN" sz="1050" dirty="0">
                  <a:solidFill>
                    <a:srgbClr val="2B2D33"/>
                  </a:solidFill>
                  <a:latin typeface="Apple SD Gothic Neo"/>
                  <a:ea typeface="Malgun Gothic"/>
                  <a:cs typeface="Apple SD Gothic Neo"/>
                </a:rPr>
                <a:t xml:space="preserve">· 동일 조건 정확도 비교 </a:t>
              </a:r>
              <a:r>
                <a:rPr lang="zh-CN" sz="1050" dirty="0">
                  <a:solidFill>
                    <a:srgbClr val="2B2D33"/>
                  </a:solidFill>
                  <a:latin typeface="Apple SD Gothic Neo"/>
                  <a:ea typeface="Malgun Gothic"/>
                  <a:cs typeface="Apple SD Gothic Neo"/>
                </a:rPr>
                <a:t>· 변수 중요도 추출</a:t>
              </a:r>
            </a:p>
          </p:txBody>
        </p:sp>
        <p:sp>
          <p:nvSpPr>
            <p:cNvPr id="44" name="Rectangle 44"/>
            <p:cNvSpPr/>
            <p:nvPr/>
          </p:nvSpPr>
          <p:spPr>
            <a:xfrm>
              <a:off x="9191625" y="4533900"/>
              <a:ext cx="2019300" cy="457200"/>
            </a:xfrm>
            <a:prstGeom prst="roundRect">
              <a:avLst>
                <a:gd name="adj" fmla="val 16667"/>
              </a:avLst>
            </a:prstGeom>
            <a:solidFill>
              <a:srgbClr val="E63946">
                <a:alpha val="10000"/>
              </a:srgbClr>
            </a:solidFill>
            <a:ln>
              <a:noFill/>
            </a:ln>
          </p:spPr>
        </p:sp>
        <p:sp>
          <p:nvSpPr>
            <p:cNvPr id="45" name="TextBox 45"/>
            <p:cNvSpPr txBox="1"/>
            <p:nvPr/>
          </p:nvSpPr>
          <p:spPr>
            <a:xfrm>
              <a:off x="9581489" y="4706302"/>
              <a:ext cx="1239572" cy="213360"/>
            </a:xfrm>
            <a:prstGeom prst="rect">
              <a:avLst/>
            </a:prstGeom>
            <a:noFill/>
            <a:ln>
              <a:noFill/>
            </a:ln>
          </p:spPr>
          <p:txBody>
            <a:bodyPr wrap="none" lIns="0" tIns="0" rIns="0" bIns="0" anchor="t" anchorCtr="0">
              <a:spAutoFit/>
            </a:bodyPr>
            <a:lstStyle/>
            <a:p>
              <a:pPr algn="ctr"/>
              <a:r>
                <a:rPr lang="zh-CN" sz="1050" b="1" dirty="0">
                  <a:solidFill>
                    <a:srgbClr val="E63946"/>
                  </a:solidFill>
                  <a:latin typeface="Apple SD Gothic Neo"/>
                  <a:ea typeface="Malgun Gothic"/>
                  <a:cs typeface="Apple SD Gothic Neo"/>
                </a:rPr>
                <a:t>산출: 최적 모델 80.18%</a:t>
              </a:r>
            </a:p>
          </p:txBody>
        </p:sp>
      </p:grpSp>
      <p:grpSp>
        <p:nvGrpSpPr>
          <p:cNvPr id="50" name="Group 50"/>
          <p:cNvGrpSpPr/>
          <p:nvPr/>
        </p:nvGrpSpPr>
        <p:grpSpPr>
          <a:xfrm>
            <a:off x="3257550" y="3429000"/>
            <a:ext cx="5657850" cy="1"/>
            <a:chOff x="3257550" y="3429000"/>
            <a:chExt cx="5657850" cy="1"/>
          </a:xfrm>
        </p:grpSpPr>
        <p:sp>
          <p:nvSpPr>
            <p:cNvPr id="47" name="Line 47"/>
            <p:cNvSpPr/>
            <p:nvPr/>
          </p:nvSpPr>
          <p:spPr>
            <a:xfrm>
              <a:off x="3257550" y="3429000"/>
              <a:ext cx="190500" cy="1"/>
            </a:xfrm>
            <a:prstGeom prst="line">
              <a:avLst/>
            </a:prstGeom>
            <a:noFill/>
            <a:ln w="28575">
              <a:solidFill>
                <a:srgbClr val="457B9D"/>
              </a:solidFill>
              <a:tailEnd type="triangle" w="lg" len="lg"/>
            </a:ln>
          </p:spPr>
        </p:sp>
        <p:sp>
          <p:nvSpPr>
            <p:cNvPr id="48" name="Line 48"/>
            <p:cNvSpPr/>
            <p:nvPr/>
          </p:nvSpPr>
          <p:spPr>
            <a:xfrm>
              <a:off x="5991225" y="3429000"/>
              <a:ext cx="190500" cy="1"/>
            </a:xfrm>
            <a:prstGeom prst="line">
              <a:avLst/>
            </a:prstGeom>
            <a:noFill/>
            <a:ln w="28575">
              <a:solidFill>
                <a:srgbClr val="457B9D"/>
              </a:solidFill>
              <a:tailEnd type="triangle" w="lg" len="lg"/>
            </a:ln>
          </p:spPr>
        </p:sp>
        <p:sp>
          <p:nvSpPr>
            <p:cNvPr id="49" name="Line 49"/>
            <p:cNvSpPr/>
            <p:nvPr/>
          </p:nvSpPr>
          <p:spPr>
            <a:xfrm>
              <a:off x="8724900" y="3429000"/>
              <a:ext cx="190500" cy="1"/>
            </a:xfrm>
            <a:prstGeom prst="line">
              <a:avLst/>
            </a:prstGeom>
            <a:noFill/>
            <a:ln w="28575">
              <a:solidFill>
                <a:srgbClr val="457B9D"/>
              </a:solidFill>
              <a:tailEnd type="triangle" w="lg" len="lg"/>
            </a:ln>
          </p:spPr>
        </p:sp>
      </p:grpSp>
      <p:grpSp>
        <p:nvGrpSpPr>
          <p:cNvPr id="53" name="Group 53"/>
          <p:cNvGrpSpPr/>
          <p:nvPr/>
        </p:nvGrpSpPr>
        <p:grpSpPr>
          <a:xfrm>
            <a:off x="762000" y="5524500"/>
            <a:ext cx="10668000" cy="533400"/>
            <a:chOff x="762000" y="5524500"/>
            <a:chExt cx="10668000" cy="533400"/>
          </a:xfrm>
        </p:grpSpPr>
        <p:sp>
          <p:nvSpPr>
            <p:cNvPr id="51" name="Rectangle 51"/>
            <p:cNvSpPr/>
            <p:nvPr/>
          </p:nvSpPr>
          <p:spPr>
            <a:xfrm>
              <a:off x="762000" y="5524500"/>
              <a:ext cx="10668000" cy="533400"/>
            </a:xfrm>
            <a:prstGeom prst="roundRect">
              <a:avLst>
                <a:gd name="adj" fmla="val 17857"/>
              </a:avLst>
            </a:prstGeom>
            <a:solidFill>
              <a:srgbClr val="1E3A5F">
                <a:alpha val="6000"/>
              </a:srgbClr>
            </a:solidFill>
            <a:ln>
              <a:noFill/>
            </a:ln>
          </p:spPr>
        </p:sp>
        <p:sp>
          <p:nvSpPr>
            <p:cNvPr id="52" name="TextBox 52"/>
            <p:cNvSpPr txBox="1"/>
            <p:nvPr/>
          </p:nvSpPr>
          <p:spPr>
            <a:xfrm>
              <a:off x="4060507" y="5728335"/>
              <a:ext cx="4070985" cy="243840"/>
            </a:xfrm>
            <a:prstGeom prst="rect">
              <a:avLst/>
            </a:prstGeom>
            <a:noFill/>
            <a:ln>
              <a:noFill/>
            </a:ln>
          </p:spPr>
          <p:txBody>
            <a:bodyPr wrap="none" lIns="0" tIns="0" rIns="0" bIns="0" anchor="t" anchorCtr="0">
              <a:spAutoFit/>
            </a:bodyPr>
            <a:lstStyle/>
            <a:p>
              <a:pPr algn="ctr"/>
              <a:r>
                <a:rPr lang="zh-CN" sz="1200" dirty="0">
                  <a:solidFill>
                    <a:srgbClr val="2B2D33"/>
                  </a:solidFill>
                  <a:latin typeface="Apple SD Gothic Neo"/>
                  <a:ea typeface="Malgun Gothic"/>
                  <a:cs typeface="Apple SD Gothic Neo"/>
                </a:rPr>
                <a:t xml:space="preserve">비지도 학습(군집)으로 </a:t>
              </a:r>
              <a:r>
                <a:rPr lang="zh-CN" sz="1200" b="1" dirty="0">
                  <a:solidFill>
                    <a:srgbClr val="1E3A5F"/>
                  </a:solidFill>
                  <a:latin typeface="Apple SD Gothic Neo"/>
                  <a:ea typeface="Malgun Gothic"/>
                  <a:cs typeface="Apple SD Gothic Neo"/>
                </a:rPr>
                <a:t>패턴을 발견</a:t>
              </a:r>
              <a:r>
                <a:rPr lang="zh-CN" sz="1200" dirty="0">
                  <a:solidFill>
                    <a:srgbClr val="2B2D33"/>
                  </a:solidFill>
                  <a:latin typeface="Apple SD Gothic Neo"/>
                  <a:ea typeface="Malgun Gothic"/>
                  <a:cs typeface="Apple SD Gothic Neo"/>
                </a:rPr>
                <a:t xml:space="preserve">하고, 지도 학습(분류)으로 </a:t>
              </a:r>
              <a:r>
                <a:rPr lang="zh-CN" sz="1200" b="1" dirty="0">
                  <a:solidFill>
                    <a:srgbClr val="E63946"/>
                  </a:solidFill>
                  <a:latin typeface="Apple SD Gothic Neo"/>
                  <a:ea typeface="Malgun Gothic"/>
                  <a:cs typeface="Apple SD Gothic Neo"/>
                </a:rPr>
                <a:t>예측력을 검증</a:t>
              </a:r>
              <a:r>
                <a:rPr lang="zh-CN" sz="1200" dirty="0">
                  <a:solidFill>
                    <a:srgbClr val="2B2D33"/>
                  </a:solidFill>
                  <a:latin typeface="Apple SD Gothic Neo"/>
                  <a:ea typeface="Malgun Gothic"/>
                  <a:cs typeface="Apple SD Gothic Neo"/>
                </a:rPr>
                <a:t>하는 이중 구조</a:t>
              </a:r>
            </a:p>
          </p:txBody>
        </p:sp>
      </p:grpSp>
      <p:sp>
        <p:nvSpPr>
          <p:cNvPr id="54" name="TextBox 54"/>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400"/>
                                        <p:tgtEl>
                                          <p:spTgt spid="1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slide(fromBottom)">
                                      <p:cBhvr>
                                        <p:cTn id="11" dur="400"/>
                                        <p:tgtEl>
                                          <p:spTgt spid="26"/>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slide(fromBottom)">
                                      <p:cBhvr>
                                        <p:cTn id="19" dur="400"/>
                                        <p:tgtEl>
                                          <p:spTgt spid="46"/>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image">
                                      <p:cBhvr>
                                        <p:cTn id="23" dur="400"/>
                                        <p:tgtEl>
                                          <p:spTgt spid="50"/>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6" grpId="0"/>
      <p:bldP spid="36" grpId="0"/>
      <p:bldP spid="46" grpId="0"/>
      <p:bldP spid="50" grpId="0"/>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3675352" cy="671512"/>
            <a:chOff x="762000" y="476250"/>
            <a:chExt cx="3675352"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3475327"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라벨 없이도 위험 그룹이 스스로 갈라진다</a:t>
              </a:r>
            </a:p>
          </p:txBody>
        </p:sp>
        <p:sp>
          <p:nvSpPr>
            <p:cNvPr id="5" name="TextBox 5"/>
            <p:cNvSpPr txBox="1"/>
            <p:nvPr/>
          </p:nvSpPr>
          <p:spPr>
            <a:xfrm>
              <a:off x="977265" y="934402"/>
              <a:ext cx="3003792"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03 머신러닝 분석 · PCA 차원 축소 + K-Means 군집 (K=3)</a:t>
              </a:r>
            </a:p>
          </p:txBody>
        </p:sp>
      </p:grpSp>
      <p:grpSp>
        <p:nvGrpSpPr>
          <p:cNvPr id="9" name="Group 9"/>
          <p:cNvGrpSpPr/>
          <p:nvPr/>
        </p:nvGrpSpPr>
        <p:grpSpPr>
          <a:xfrm>
            <a:off x="762000" y="1428750"/>
            <a:ext cx="5219700" cy="3619500"/>
            <a:chOff x="762000" y="1428750"/>
            <a:chExt cx="5219700" cy="3619500"/>
          </a:xfrm>
        </p:grpSpPr>
        <p:sp>
          <p:nvSpPr>
            <p:cNvPr id="7" name="Rectangle 7"/>
            <p:cNvSpPr/>
            <p:nvPr/>
          </p:nvSpPr>
          <p:spPr>
            <a:xfrm>
              <a:off x="762000" y="1428750"/>
              <a:ext cx="5219700" cy="3619500"/>
            </a:xfrm>
            <a:prstGeom prst="roundRect">
              <a:avLst>
                <a:gd name="adj" fmla="val 3684"/>
              </a:avLst>
            </a:prstGeom>
            <a:solidFill>
              <a:srgbClr val="FFFFFF"/>
            </a:solidFill>
            <a:ln w="9525">
              <a:solidFill>
                <a:srgbClr val="D8DEE6"/>
              </a:solidFill>
            </a:ln>
          </p:spPr>
        </p:sp>
        <p:pic>
          <p:nvPicPr>
            <p:cNvPr id="8" name="Image 8"/>
            <p:cNvPicPr>
              <a:picLocks noChangeAspect="1"/>
            </p:cNvPicPr>
            <p:nvPr/>
          </p:nvPicPr>
          <p:blipFill>
            <a:blip r:embed="rId2"/>
            <a:stretch>
              <a:fillRect/>
            </a:stretch>
          </p:blipFill>
          <p:spPr>
            <a:xfrm>
              <a:off x="904875" y="1524000"/>
              <a:ext cx="4933950" cy="3429000"/>
            </a:xfrm>
            <a:prstGeom prst="roundRect">
              <a:avLst>
                <a:gd name="adj" fmla="val 3888"/>
              </a:avLst>
            </a:prstGeom>
          </p:spPr>
        </p:pic>
      </p:grpSp>
      <p:grpSp>
        <p:nvGrpSpPr>
          <p:cNvPr id="12" name="Group 12"/>
          <p:cNvGrpSpPr/>
          <p:nvPr/>
        </p:nvGrpSpPr>
        <p:grpSpPr>
          <a:xfrm>
            <a:off x="6210300" y="1428750"/>
            <a:ext cx="5219700" cy="3619500"/>
            <a:chOff x="6210300" y="1428750"/>
            <a:chExt cx="5219700" cy="3619500"/>
          </a:xfrm>
        </p:grpSpPr>
        <p:sp>
          <p:nvSpPr>
            <p:cNvPr id="10" name="Rectangle 10"/>
            <p:cNvSpPr/>
            <p:nvPr/>
          </p:nvSpPr>
          <p:spPr>
            <a:xfrm>
              <a:off x="6210300" y="1428750"/>
              <a:ext cx="5219700" cy="3619500"/>
            </a:xfrm>
            <a:prstGeom prst="roundRect">
              <a:avLst>
                <a:gd name="adj" fmla="val 3684"/>
              </a:avLst>
            </a:prstGeom>
            <a:solidFill>
              <a:srgbClr val="FFFFFF"/>
            </a:solidFill>
            <a:ln w="9525">
              <a:solidFill>
                <a:srgbClr val="D8DEE6"/>
              </a:solidFill>
            </a:ln>
          </p:spPr>
        </p:sp>
        <p:pic>
          <p:nvPicPr>
            <p:cNvPr id="11" name="Image 11"/>
            <p:cNvPicPr>
              <a:picLocks noChangeAspect="1"/>
            </p:cNvPicPr>
            <p:nvPr/>
          </p:nvPicPr>
          <p:blipFill>
            <a:blip r:embed="rId3"/>
            <a:stretch>
              <a:fillRect/>
            </a:stretch>
          </p:blipFill>
          <p:spPr>
            <a:xfrm>
              <a:off x="6353175" y="1524000"/>
              <a:ext cx="4933950" cy="3429000"/>
            </a:xfrm>
            <a:prstGeom prst="roundRect">
              <a:avLst>
                <a:gd name="adj" fmla="val 3888"/>
              </a:avLst>
            </a:prstGeom>
          </p:spPr>
        </p:pic>
      </p:grpSp>
      <p:grpSp>
        <p:nvGrpSpPr>
          <p:cNvPr id="22" name="Group 22"/>
          <p:cNvGrpSpPr/>
          <p:nvPr/>
        </p:nvGrpSpPr>
        <p:grpSpPr>
          <a:xfrm>
            <a:off x="762000" y="5295900"/>
            <a:ext cx="10668000" cy="800100"/>
            <a:chOff x="762000" y="5295900"/>
            <a:chExt cx="10668000" cy="800100"/>
          </a:xfrm>
        </p:grpSpPr>
        <p:sp>
          <p:nvSpPr>
            <p:cNvPr id="13" name="Rectangle 13"/>
            <p:cNvSpPr/>
            <p:nvPr/>
          </p:nvSpPr>
          <p:spPr>
            <a:xfrm>
              <a:off x="762000" y="5295900"/>
              <a:ext cx="10668000" cy="800100"/>
            </a:xfrm>
            <a:prstGeom prst="roundRect">
              <a:avLst>
                <a:gd name="adj" fmla="val 14286"/>
              </a:avLst>
            </a:prstGeom>
            <a:solidFill>
              <a:srgbClr val="FFFFFF"/>
            </a:solidFill>
            <a:ln w="9525">
              <a:solidFill>
                <a:srgbClr val="D8DEE6"/>
              </a:solidFill>
            </a:ln>
          </p:spPr>
        </p:sp>
        <p:sp>
          <p:nvSpPr>
            <p:cNvPr id="14" name="TextBox 14"/>
            <p:cNvSpPr txBox="1"/>
            <p:nvPr/>
          </p:nvSpPr>
          <p:spPr>
            <a:xfrm>
              <a:off x="1091565" y="5506402"/>
              <a:ext cx="1371888"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군집별 평균 자살률 (10만명당)</a:t>
              </a:r>
            </a:p>
          </p:txBody>
        </p:sp>
        <p:sp>
          <p:nvSpPr>
            <p:cNvPr id="15" name="Ellipse 15"/>
            <p:cNvSpPr/>
            <p:nvPr/>
          </p:nvSpPr>
          <p:spPr>
            <a:xfrm>
              <a:off x="1171575" y="5800725"/>
              <a:ext cx="133350" cy="133350"/>
            </a:xfrm>
            <a:prstGeom prst="ellipse">
              <a:avLst/>
            </a:prstGeom>
            <a:solidFill>
              <a:srgbClr val="E63946"/>
            </a:solidFill>
            <a:ln>
              <a:noFill/>
            </a:ln>
          </p:spPr>
        </p:sp>
        <p:sp>
          <p:nvSpPr>
            <p:cNvPr id="16" name="TextBox 16"/>
            <p:cNvSpPr txBox="1"/>
            <p:nvPr/>
          </p:nvSpPr>
          <p:spPr>
            <a:xfrm>
              <a:off x="1393508" y="5786914"/>
              <a:ext cx="976003" cy="259080"/>
            </a:xfrm>
            <a:prstGeom prst="rect">
              <a:avLst/>
            </a:prstGeom>
            <a:noFill/>
            <a:ln>
              <a:noFill/>
            </a:ln>
          </p:spPr>
          <p:txBody>
            <a:bodyPr wrap="none" lIns="0" tIns="0" rIns="0" bIns="0" anchor="t" anchorCtr="0">
              <a:spAutoFit/>
            </a:bodyPr>
            <a:lstStyle/>
            <a:p>
              <a:pPr algn="l"/>
              <a:r>
                <a:rPr lang="zh-CN" sz="1275" dirty="0">
                  <a:solidFill>
                    <a:srgbClr val="2B2D33"/>
                  </a:solidFill>
                  <a:latin typeface="Apple SD Gothic Neo"/>
                  <a:ea typeface="Malgun Gothic"/>
                  <a:cs typeface="Apple SD Gothic Neo"/>
                </a:rPr>
                <a:t xml:space="preserve">고위험 군집 </a:t>
              </a:r>
              <a:r>
                <a:rPr lang="zh-CN" sz="1275" b="1" dirty="0">
                  <a:solidFill>
                    <a:srgbClr val="E63946"/>
                  </a:solidFill>
                  <a:latin typeface="Apple SD Gothic Neo"/>
                  <a:ea typeface="Malgun Gothic"/>
                  <a:cs typeface="Apple SD Gothic Neo"/>
                </a:rPr>
                <a:t>19.7</a:t>
              </a:r>
            </a:p>
          </p:txBody>
        </p:sp>
        <p:sp>
          <p:nvSpPr>
            <p:cNvPr id="17" name="Ellipse 17"/>
            <p:cNvSpPr/>
            <p:nvPr/>
          </p:nvSpPr>
          <p:spPr>
            <a:xfrm>
              <a:off x="3743325" y="5800725"/>
              <a:ext cx="133350" cy="133350"/>
            </a:xfrm>
            <a:prstGeom prst="ellipse">
              <a:avLst/>
            </a:prstGeom>
            <a:solidFill>
              <a:srgbClr val="457B9D"/>
            </a:solidFill>
            <a:ln>
              <a:noFill/>
            </a:ln>
          </p:spPr>
        </p:sp>
        <p:sp>
          <p:nvSpPr>
            <p:cNvPr id="18" name="TextBox 18"/>
            <p:cNvSpPr txBox="1"/>
            <p:nvPr/>
          </p:nvSpPr>
          <p:spPr>
            <a:xfrm>
              <a:off x="3965258" y="5786914"/>
              <a:ext cx="976003" cy="259080"/>
            </a:xfrm>
            <a:prstGeom prst="rect">
              <a:avLst/>
            </a:prstGeom>
            <a:noFill/>
            <a:ln>
              <a:noFill/>
            </a:ln>
          </p:spPr>
          <p:txBody>
            <a:bodyPr wrap="none" lIns="0" tIns="0" rIns="0" bIns="0" anchor="t" anchorCtr="0">
              <a:spAutoFit/>
            </a:bodyPr>
            <a:lstStyle/>
            <a:p>
              <a:pPr algn="l"/>
              <a:r>
                <a:rPr lang="zh-CN" sz="1275" dirty="0">
                  <a:solidFill>
                    <a:srgbClr val="2B2D33"/>
                  </a:solidFill>
                  <a:latin typeface="Apple SD Gothic Neo"/>
                  <a:ea typeface="Malgun Gothic"/>
                  <a:cs typeface="Apple SD Gothic Neo"/>
                </a:rPr>
                <a:t xml:space="preserve">중위험 군집 </a:t>
              </a:r>
              <a:r>
                <a:rPr lang="zh-CN" sz="1275" b="1" dirty="0">
                  <a:solidFill>
                    <a:srgbClr val="457B9D"/>
                  </a:solidFill>
                  <a:latin typeface="Apple SD Gothic Neo"/>
                  <a:ea typeface="Malgun Gothic"/>
                  <a:cs typeface="Apple SD Gothic Neo"/>
                </a:rPr>
                <a:t>12.3</a:t>
              </a:r>
            </a:p>
          </p:txBody>
        </p:sp>
        <p:sp>
          <p:nvSpPr>
            <p:cNvPr id="19" name="Ellipse 19"/>
            <p:cNvSpPr/>
            <p:nvPr/>
          </p:nvSpPr>
          <p:spPr>
            <a:xfrm>
              <a:off x="6315075" y="5800725"/>
              <a:ext cx="133350" cy="133350"/>
            </a:xfrm>
            <a:prstGeom prst="ellipse">
              <a:avLst/>
            </a:prstGeom>
            <a:solidFill>
              <a:srgbClr val="2A9D8F"/>
            </a:solidFill>
            <a:ln>
              <a:noFill/>
            </a:ln>
          </p:spPr>
        </p:sp>
        <p:sp>
          <p:nvSpPr>
            <p:cNvPr id="20" name="TextBox 20"/>
            <p:cNvSpPr txBox="1"/>
            <p:nvPr/>
          </p:nvSpPr>
          <p:spPr>
            <a:xfrm>
              <a:off x="6537008" y="5786914"/>
              <a:ext cx="882491" cy="259080"/>
            </a:xfrm>
            <a:prstGeom prst="rect">
              <a:avLst/>
            </a:prstGeom>
            <a:noFill/>
            <a:ln>
              <a:noFill/>
            </a:ln>
          </p:spPr>
          <p:txBody>
            <a:bodyPr wrap="none" lIns="0" tIns="0" rIns="0" bIns="0" anchor="t" anchorCtr="0">
              <a:spAutoFit/>
            </a:bodyPr>
            <a:lstStyle/>
            <a:p>
              <a:pPr algn="l"/>
              <a:r>
                <a:rPr lang="zh-CN" sz="1275" dirty="0">
                  <a:solidFill>
                    <a:srgbClr val="2B2D33"/>
                  </a:solidFill>
                  <a:latin typeface="Apple SD Gothic Neo"/>
                  <a:ea typeface="Malgun Gothic"/>
                  <a:cs typeface="Apple SD Gothic Neo"/>
                </a:rPr>
                <a:t xml:space="preserve">저위험 군집 </a:t>
              </a:r>
              <a:r>
                <a:rPr lang="zh-CN" sz="1275" b="1" dirty="0">
                  <a:solidFill>
                    <a:srgbClr val="2A9D8F"/>
                  </a:solidFill>
                  <a:latin typeface="Apple SD Gothic Neo"/>
                  <a:ea typeface="Malgun Gothic"/>
                  <a:cs typeface="Apple SD Gothic Neo"/>
                </a:rPr>
                <a:t>4.4</a:t>
              </a:r>
            </a:p>
          </p:txBody>
        </p:sp>
        <p:sp>
          <p:nvSpPr>
            <p:cNvPr id="21" name="TextBox 21"/>
            <p:cNvSpPr txBox="1"/>
            <p:nvPr/>
          </p:nvSpPr>
          <p:spPr>
            <a:xfrm>
              <a:off x="9178571" y="5786914"/>
              <a:ext cx="1924722" cy="259080"/>
            </a:xfrm>
            <a:prstGeom prst="rect">
              <a:avLst/>
            </a:prstGeom>
            <a:noFill/>
            <a:ln>
              <a:noFill/>
            </a:ln>
          </p:spPr>
          <p:txBody>
            <a:bodyPr wrap="none" lIns="0" tIns="0" rIns="0" bIns="0" anchor="t" anchorCtr="0">
              <a:spAutoFit/>
            </a:bodyPr>
            <a:lstStyle/>
            <a:p>
              <a:pPr algn="r"/>
              <a:r>
                <a:rPr lang="zh-CN" sz="1275" b="1" dirty="0">
                  <a:solidFill>
                    <a:srgbClr val="1E3A5F"/>
                  </a:solidFill>
                  <a:latin typeface="Apple SD Gothic Neo"/>
                  <a:ea typeface="Malgun Gothic"/>
                  <a:cs typeface="Apple SD Gothic Neo"/>
                </a:rPr>
                <a:t>최대 4.5배 차이 → 위험 계층화 가능</a:t>
              </a:r>
            </a:p>
          </p:txBody>
        </p:sp>
      </p:grpSp>
      <p:grpSp>
        <p:nvGrpSpPr>
          <p:cNvPr id="25" name="Group 25"/>
          <p:cNvGrpSpPr/>
          <p:nvPr/>
        </p:nvGrpSpPr>
        <p:grpSpPr>
          <a:xfrm>
            <a:off x="751522" y="6483191"/>
            <a:ext cx="10688955" cy="167640"/>
            <a:chOff x="751522" y="6483191"/>
            <a:chExt cx="10688955" cy="167640"/>
          </a:xfrm>
        </p:grpSpPr>
        <p:sp>
          <p:nvSpPr>
            <p:cNvPr id="23" name="TextBox 23"/>
            <p:cNvSpPr txBox="1"/>
            <p:nvPr/>
          </p:nvSpPr>
          <p:spPr>
            <a:xfrm>
              <a:off x="751522" y="6483191"/>
              <a:ext cx="3695414"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자체 분석 — PCA 설명분산 PC1 13.4% / PC2 11.9%, K-Means 엘보우 기준 K=3</a:t>
              </a:r>
            </a:p>
          </p:txBody>
        </p:sp>
        <p:sp>
          <p:nvSpPr>
            <p:cNvPr id="24" name="TextBox 24"/>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400"/>
                                        <p:tgtEl>
                                          <p:spTgt spid="1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image">
                                      <p:cBhvr>
                                        <p:cTn id="15"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4084903" cy="671512"/>
            <a:chOff x="762000" y="476250"/>
            <a:chExt cx="4084903"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3884878"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 xml:space="preserve">결정 트리, 정확도 </a:t>
              </a:r>
              <a:r>
                <a:rPr lang="zh-CN" sz="2250" b="1" dirty="0">
                  <a:solidFill>
                    <a:srgbClr val="E63946"/>
                  </a:solidFill>
                  <a:latin typeface="Apple SD Gothic Neo"/>
                  <a:ea typeface="Malgun Gothic"/>
                  <a:cs typeface="Apple SD Gothic Neo"/>
                </a:rPr>
                <a:t>80.18%</a:t>
              </a:r>
              <a:r>
                <a:rPr lang="zh-CN" sz="2250" b="1" dirty="0">
                  <a:solidFill>
                    <a:srgbClr val="1E3A5F"/>
                  </a:solidFill>
                  <a:latin typeface="Apple SD Gothic Neo"/>
                  <a:ea typeface="Malgun Gothic"/>
                  <a:cs typeface="Apple SD Gothic Neo"/>
                </a:rPr>
                <a:t>로 최고 성능</a:t>
              </a:r>
            </a:p>
          </p:txBody>
        </p:sp>
        <p:sp>
          <p:nvSpPr>
            <p:cNvPr id="5" name="TextBox 5"/>
            <p:cNvSpPr txBox="1"/>
            <p:nvPr/>
          </p:nvSpPr>
          <p:spPr>
            <a:xfrm>
              <a:off x="977265" y="934402"/>
              <a:ext cx="3136109"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03 머신러닝 분석 · 4개 알고리즘 비교 + 혼동행렬 (테스트 5,564건)</a:t>
              </a:r>
            </a:p>
          </p:txBody>
        </p:sp>
      </p:grpSp>
      <p:grpSp>
        <p:nvGrpSpPr>
          <p:cNvPr id="9" name="Group 9"/>
          <p:cNvGrpSpPr/>
          <p:nvPr/>
        </p:nvGrpSpPr>
        <p:grpSpPr>
          <a:xfrm>
            <a:off x="762000" y="1428750"/>
            <a:ext cx="5905500" cy="3752850"/>
            <a:chOff x="762000" y="1428750"/>
            <a:chExt cx="5905500" cy="3752850"/>
          </a:xfrm>
        </p:grpSpPr>
        <p:sp>
          <p:nvSpPr>
            <p:cNvPr id="7" name="Rectangle 7"/>
            <p:cNvSpPr/>
            <p:nvPr/>
          </p:nvSpPr>
          <p:spPr>
            <a:xfrm>
              <a:off x="762000" y="1428750"/>
              <a:ext cx="5905500" cy="3752850"/>
            </a:xfrm>
            <a:prstGeom prst="roundRect">
              <a:avLst>
                <a:gd name="adj" fmla="val 3553"/>
              </a:avLst>
            </a:prstGeom>
            <a:solidFill>
              <a:srgbClr val="FFFFFF"/>
            </a:solidFill>
            <a:ln w="9525">
              <a:solidFill>
                <a:srgbClr val="D8DEE6"/>
              </a:solidFill>
            </a:ln>
          </p:spPr>
        </p:sp>
        <p:pic>
          <p:nvPicPr>
            <p:cNvPr id="8" name="Image 8"/>
            <p:cNvPicPr>
              <a:picLocks noChangeAspect="1"/>
            </p:cNvPicPr>
            <p:nvPr/>
          </p:nvPicPr>
          <p:blipFill>
            <a:blip r:embed="rId2"/>
            <a:stretch>
              <a:fillRect/>
            </a:stretch>
          </p:blipFill>
          <p:spPr>
            <a:xfrm>
              <a:off x="904875" y="1543050"/>
              <a:ext cx="5619750" cy="3524250"/>
            </a:xfrm>
            <a:prstGeom prst="roundRect">
              <a:avLst>
                <a:gd name="adj" fmla="val 3783"/>
              </a:avLst>
            </a:prstGeom>
          </p:spPr>
        </p:pic>
      </p:grpSp>
      <p:grpSp>
        <p:nvGrpSpPr>
          <p:cNvPr id="12" name="Group 12"/>
          <p:cNvGrpSpPr/>
          <p:nvPr/>
        </p:nvGrpSpPr>
        <p:grpSpPr>
          <a:xfrm>
            <a:off x="6896100" y="1428750"/>
            <a:ext cx="4533900" cy="3752850"/>
            <a:chOff x="6896100" y="1428750"/>
            <a:chExt cx="4533900" cy="3752850"/>
          </a:xfrm>
        </p:grpSpPr>
        <p:sp>
          <p:nvSpPr>
            <p:cNvPr id="10" name="Rectangle 10"/>
            <p:cNvSpPr/>
            <p:nvPr/>
          </p:nvSpPr>
          <p:spPr>
            <a:xfrm>
              <a:off x="6896100" y="1428750"/>
              <a:ext cx="4533900" cy="3752850"/>
            </a:xfrm>
            <a:prstGeom prst="roundRect">
              <a:avLst>
                <a:gd name="adj" fmla="val 3553"/>
              </a:avLst>
            </a:prstGeom>
            <a:solidFill>
              <a:srgbClr val="FFFFFF"/>
            </a:solidFill>
            <a:ln w="9525">
              <a:solidFill>
                <a:srgbClr val="D8DEE6"/>
              </a:solidFill>
            </a:ln>
          </p:spPr>
        </p:sp>
        <p:pic>
          <p:nvPicPr>
            <p:cNvPr id="11" name="Image 11"/>
            <p:cNvPicPr>
              <a:picLocks noChangeAspect="1"/>
            </p:cNvPicPr>
            <p:nvPr/>
          </p:nvPicPr>
          <p:blipFill>
            <a:blip r:embed="rId3"/>
            <a:stretch>
              <a:fillRect/>
            </a:stretch>
          </p:blipFill>
          <p:spPr>
            <a:xfrm>
              <a:off x="7038975" y="1543050"/>
              <a:ext cx="4248150" cy="3524250"/>
            </a:xfrm>
            <a:prstGeom prst="roundRect">
              <a:avLst>
                <a:gd name="adj" fmla="val 3783"/>
              </a:avLst>
            </a:prstGeom>
          </p:spPr>
        </p:pic>
      </p:grpSp>
      <p:grpSp>
        <p:nvGrpSpPr>
          <p:cNvPr id="22" name="Group 22"/>
          <p:cNvGrpSpPr/>
          <p:nvPr/>
        </p:nvGrpSpPr>
        <p:grpSpPr>
          <a:xfrm>
            <a:off x="762000" y="5429250"/>
            <a:ext cx="5905500" cy="690562"/>
            <a:chOff x="762000" y="5429250"/>
            <a:chExt cx="5905500" cy="690562"/>
          </a:xfrm>
        </p:grpSpPr>
        <p:sp>
          <p:nvSpPr>
            <p:cNvPr id="13" name="Rectangle 13"/>
            <p:cNvSpPr/>
            <p:nvPr/>
          </p:nvSpPr>
          <p:spPr>
            <a:xfrm>
              <a:off x="762000" y="5429250"/>
              <a:ext cx="5905500" cy="666750"/>
            </a:xfrm>
            <a:prstGeom prst="roundRect">
              <a:avLst>
                <a:gd name="adj" fmla="val 17143"/>
              </a:avLst>
            </a:prstGeom>
            <a:solidFill>
              <a:srgbClr val="1E3A5F"/>
            </a:solidFill>
            <a:ln>
              <a:noFill/>
            </a:ln>
          </p:spPr>
        </p:sp>
        <p:sp>
          <p:nvSpPr>
            <p:cNvPr id="14" name="TextBox 14"/>
            <p:cNvSpPr txBox="1"/>
            <p:nvPr/>
          </p:nvSpPr>
          <p:spPr>
            <a:xfrm>
              <a:off x="1594854" y="5590699"/>
              <a:ext cx="239292" cy="198120"/>
            </a:xfrm>
            <a:prstGeom prst="rect">
              <a:avLst/>
            </a:prstGeom>
            <a:noFill/>
            <a:ln>
              <a:noFill/>
            </a:ln>
          </p:spPr>
          <p:txBody>
            <a:bodyPr wrap="none" lIns="0" tIns="0" rIns="0" bIns="0" anchor="t" anchorCtr="0">
              <a:spAutoFit/>
            </a:bodyPr>
            <a:lstStyle/>
            <a:p>
              <a:pPr algn="ctr"/>
              <a:r>
                <a:rPr lang="zh-CN" sz="975" dirty="0">
                  <a:solidFill>
                    <a:srgbClr val="8DA3BB"/>
                  </a:solidFill>
                  <a:latin typeface="Apple SD Gothic Neo"/>
                  <a:ea typeface="Malgun Gothic"/>
                  <a:cs typeface="Apple SD Gothic Neo"/>
                </a:rPr>
                <a:t>정밀도</a:t>
              </a:r>
            </a:p>
          </p:txBody>
        </p:sp>
        <p:sp>
          <p:nvSpPr>
            <p:cNvPr id="15" name="TextBox 15"/>
            <p:cNvSpPr txBox="1"/>
            <p:nvPr/>
          </p:nvSpPr>
          <p:spPr>
            <a:xfrm>
              <a:off x="1375880" y="5784532"/>
              <a:ext cx="67723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pple SD Gothic Neo"/>
                  <a:ea typeface="Malgun Gothic"/>
                  <a:cs typeface="Apple SD Gothic Neo"/>
                </a:rPr>
                <a:t>0.805</a:t>
              </a:r>
            </a:p>
          </p:txBody>
        </p:sp>
        <p:sp>
          <p:nvSpPr>
            <p:cNvPr id="16" name="Line 16"/>
            <p:cNvSpPr/>
            <p:nvPr/>
          </p:nvSpPr>
          <p:spPr>
            <a:xfrm>
              <a:off x="2714625" y="5572125"/>
              <a:ext cx="9525" cy="381000"/>
            </a:xfrm>
            <a:custGeom>
              <a:avLst/>
              <a:gdLst/>
              <a:ahLst/>
              <a:cxnLst/>
              <a:rect l="l" t="t" r="r" b="b"/>
              <a:pathLst>
                <a:path w="9525" h="381000">
                  <a:moveTo>
                    <a:pt x="0" y="0"/>
                  </a:moveTo>
                  <a:lnTo>
                    <a:pt x="0" y="381000"/>
                  </a:lnTo>
                </a:path>
              </a:pathLst>
            </a:custGeom>
            <a:noFill/>
            <a:ln w="9525">
              <a:solidFill>
                <a:srgbClr val="FFFFFF">
                  <a:alpha val="20000"/>
                </a:srgbClr>
              </a:solidFill>
            </a:ln>
          </p:spPr>
        </p:sp>
        <p:sp>
          <p:nvSpPr>
            <p:cNvPr id="17" name="TextBox 17"/>
            <p:cNvSpPr txBox="1"/>
            <p:nvPr/>
          </p:nvSpPr>
          <p:spPr>
            <a:xfrm>
              <a:off x="3595104" y="5590699"/>
              <a:ext cx="239292" cy="198120"/>
            </a:xfrm>
            <a:prstGeom prst="rect">
              <a:avLst/>
            </a:prstGeom>
            <a:noFill/>
            <a:ln>
              <a:noFill/>
            </a:ln>
          </p:spPr>
          <p:txBody>
            <a:bodyPr wrap="none" lIns="0" tIns="0" rIns="0" bIns="0" anchor="t" anchorCtr="0">
              <a:spAutoFit/>
            </a:bodyPr>
            <a:lstStyle/>
            <a:p>
              <a:pPr algn="ctr"/>
              <a:r>
                <a:rPr lang="zh-CN" sz="975" dirty="0">
                  <a:solidFill>
                    <a:srgbClr val="8DA3BB"/>
                  </a:solidFill>
                  <a:latin typeface="Apple SD Gothic Neo"/>
                  <a:ea typeface="Malgun Gothic"/>
                  <a:cs typeface="Apple SD Gothic Neo"/>
                </a:rPr>
                <a:t>재현율</a:t>
              </a:r>
            </a:p>
          </p:txBody>
        </p:sp>
        <p:sp>
          <p:nvSpPr>
            <p:cNvPr id="18" name="TextBox 18"/>
            <p:cNvSpPr txBox="1"/>
            <p:nvPr/>
          </p:nvSpPr>
          <p:spPr>
            <a:xfrm>
              <a:off x="3376130" y="5784532"/>
              <a:ext cx="67723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pple SD Gothic Neo"/>
                  <a:ea typeface="Malgun Gothic"/>
                  <a:cs typeface="Apple SD Gothic Neo"/>
                </a:rPr>
                <a:t>0.797</a:t>
              </a:r>
            </a:p>
          </p:txBody>
        </p:sp>
        <p:sp>
          <p:nvSpPr>
            <p:cNvPr id="19" name="Line 19"/>
            <p:cNvSpPr/>
            <p:nvPr/>
          </p:nvSpPr>
          <p:spPr>
            <a:xfrm>
              <a:off x="4714875" y="5572125"/>
              <a:ext cx="9525" cy="381000"/>
            </a:xfrm>
            <a:custGeom>
              <a:avLst/>
              <a:gdLst/>
              <a:ahLst/>
              <a:cxnLst/>
              <a:rect l="l" t="t" r="r" b="b"/>
              <a:pathLst>
                <a:path w="9525" h="381000">
                  <a:moveTo>
                    <a:pt x="0" y="0"/>
                  </a:moveTo>
                  <a:lnTo>
                    <a:pt x="0" y="381000"/>
                  </a:lnTo>
                </a:path>
              </a:pathLst>
            </a:custGeom>
            <a:noFill/>
            <a:ln w="9525">
              <a:solidFill>
                <a:srgbClr val="FFFFFF">
                  <a:alpha val="20000"/>
                </a:srgbClr>
              </a:solidFill>
            </a:ln>
          </p:spPr>
        </p:sp>
        <p:sp>
          <p:nvSpPr>
            <p:cNvPr id="20" name="TextBox 20"/>
            <p:cNvSpPr txBox="1"/>
            <p:nvPr/>
          </p:nvSpPr>
          <p:spPr>
            <a:xfrm>
              <a:off x="5368957" y="5590699"/>
              <a:ext cx="596836" cy="198120"/>
            </a:xfrm>
            <a:prstGeom prst="rect">
              <a:avLst/>
            </a:prstGeom>
            <a:noFill/>
            <a:ln>
              <a:noFill/>
            </a:ln>
          </p:spPr>
          <p:txBody>
            <a:bodyPr wrap="none" lIns="0" tIns="0" rIns="0" bIns="0" anchor="t" anchorCtr="0">
              <a:spAutoFit/>
            </a:bodyPr>
            <a:lstStyle/>
            <a:p>
              <a:pPr algn="ctr"/>
              <a:r>
                <a:rPr lang="zh-CN" sz="975" dirty="0">
                  <a:solidFill>
                    <a:srgbClr val="8DA3BB"/>
                  </a:solidFill>
                  <a:latin typeface="Apple SD Gothic Neo"/>
                  <a:ea typeface="Malgun Gothic"/>
                  <a:cs typeface="Apple SD Gothic Neo"/>
                </a:rPr>
                <a:t>F1-Score</a:t>
              </a:r>
            </a:p>
          </p:txBody>
        </p:sp>
        <p:sp>
          <p:nvSpPr>
            <p:cNvPr id="21" name="TextBox 21"/>
            <p:cNvSpPr txBox="1"/>
            <p:nvPr/>
          </p:nvSpPr>
          <p:spPr>
            <a:xfrm>
              <a:off x="5328755" y="5784532"/>
              <a:ext cx="67723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pple SD Gothic Neo"/>
                  <a:ea typeface="Malgun Gothic"/>
                  <a:cs typeface="Apple SD Gothic Neo"/>
                </a:rPr>
                <a:t>0.801</a:t>
              </a:r>
            </a:p>
          </p:txBody>
        </p:sp>
      </p:grpSp>
      <p:grpSp>
        <p:nvGrpSpPr>
          <p:cNvPr id="29" name="Group 29"/>
          <p:cNvGrpSpPr/>
          <p:nvPr/>
        </p:nvGrpSpPr>
        <p:grpSpPr>
          <a:xfrm>
            <a:off x="6896100" y="5429250"/>
            <a:ext cx="4533900" cy="666750"/>
            <a:chOff x="6896100" y="5429250"/>
            <a:chExt cx="4533900" cy="666750"/>
          </a:xfrm>
        </p:grpSpPr>
        <p:sp>
          <p:nvSpPr>
            <p:cNvPr id="23" name="Rectangle 23"/>
            <p:cNvSpPr/>
            <p:nvPr/>
          </p:nvSpPr>
          <p:spPr>
            <a:xfrm>
              <a:off x="6896100" y="5429250"/>
              <a:ext cx="4533900" cy="666750"/>
            </a:xfrm>
            <a:prstGeom prst="roundRect">
              <a:avLst>
                <a:gd name="adj" fmla="val 17143"/>
              </a:avLst>
            </a:prstGeom>
            <a:solidFill>
              <a:srgbClr val="E63946">
                <a:alpha val="9000"/>
              </a:srgbClr>
            </a:solidFill>
            <a:ln>
              <a:noFill/>
            </a:ln>
          </p:spPr>
        </p:sp>
        <p:grpSp>
          <p:nvGrpSpPr>
            <p:cNvPr id="26" name="Group 26"/>
            <p:cNvGrpSpPr/>
            <p:nvPr/>
          </p:nvGrpSpPr>
          <p:grpSpPr>
            <a:xfrm>
              <a:off x="7142463" y="5629274"/>
              <a:ext cx="269267" cy="238235"/>
              <a:chOff x="7142463" y="5629274"/>
              <a:chExt cx="269267" cy="238235"/>
            </a:xfrm>
          </p:grpSpPr>
          <p:sp>
            <p:nvSpPr>
              <p:cNvPr id="24" name="Freeform 24"/>
              <p:cNvSpPr/>
              <p:nvPr/>
            </p:nvSpPr>
            <p:spPr>
              <a:xfrm>
                <a:off x="7148512" y="5635490"/>
                <a:ext cx="257175" cy="222385"/>
              </a:xfrm>
              <a:custGeom>
                <a:avLst/>
                <a:gdLst/>
                <a:ahLst/>
                <a:cxnLst/>
                <a:rect l="l" t="t" r="r" b="b"/>
                <a:pathLst>
                  <a:path w="257175" h="222385">
                    <a:moveTo>
                      <a:pt x="232720" y="222385"/>
                    </a:moveTo>
                    <a:lnTo>
                      <a:pt x="24455" y="222385"/>
                    </a:lnTo>
                    <a:cubicBezTo>
                      <a:pt x="9430" y="222385"/>
                      <a:pt x="0" y="206657"/>
                      <a:pt x="7299" y="193917"/>
                    </a:cubicBezTo>
                    <a:lnTo>
                      <a:pt x="111431" y="13097"/>
                    </a:lnTo>
                    <a:cubicBezTo>
                      <a:pt x="118932" y="0"/>
                      <a:pt x="138243" y="0"/>
                      <a:pt x="145744" y="13097"/>
                    </a:cubicBezTo>
                    <a:lnTo>
                      <a:pt x="249876" y="193917"/>
                    </a:lnTo>
                    <a:cubicBezTo>
                      <a:pt x="257175" y="206657"/>
                      <a:pt x="247745" y="222385"/>
                      <a:pt x="232720" y="222385"/>
                    </a:cubicBezTo>
                    <a:close/>
                  </a:path>
                </a:pathLst>
              </a:custGeom>
              <a:solidFill>
                <a:srgbClr val="E63946">
                  <a:alpha val="20000"/>
                </a:srgbClr>
              </a:solidFill>
              <a:ln>
                <a:noFill/>
              </a:ln>
            </p:spPr>
          </p:sp>
          <p:sp>
            <p:nvSpPr>
              <p:cNvPr id="25" name="Freeform 25"/>
              <p:cNvSpPr/>
              <p:nvPr/>
            </p:nvSpPr>
            <p:spPr>
              <a:xfrm>
                <a:off x="7142463" y="5629274"/>
                <a:ext cx="269267" cy="238235"/>
              </a:xfrm>
              <a:custGeom>
                <a:avLst/>
                <a:gdLst/>
                <a:ahLst/>
                <a:cxnLst/>
                <a:rect l="l" t="t" r="r" b="b"/>
                <a:pathLst>
                  <a:path w="269267" h="238235">
                    <a:moveTo>
                      <a:pt x="264177" y="195370"/>
                    </a:moveTo>
                    <a:lnTo>
                      <a:pt x="160057" y="14550"/>
                    </a:lnTo>
                    <a:lnTo>
                      <a:pt x="160057" y="14550"/>
                    </a:lnTo>
                    <a:cubicBezTo>
                      <a:pt x="154763" y="5536"/>
                      <a:pt x="145091" y="0"/>
                      <a:pt x="134637" y="0"/>
                    </a:cubicBezTo>
                    <a:cubicBezTo>
                      <a:pt x="124183" y="0"/>
                      <a:pt x="114511" y="5536"/>
                      <a:pt x="109217" y="14550"/>
                    </a:cubicBezTo>
                    <a:lnTo>
                      <a:pt x="5097" y="195370"/>
                    </a:lnTo>
                    <a:cubicBezTo>
                      <a:pt x="0" y="204094"/>
                      <a:pt x="0" y="214888"/>
                      <a:pt x="5097" y="223612"/>
                    </a:cubicBezTo>
                    <a:cubicBezTo>
                      <a:pt x="10327" y="232686"/>
                      <a:pt x="20044" y="238235"/>
                      <a:pt x="30517" y="238126"/>
                    </a:cubicBezTo>
                    <a:lnTo>
                      <a:pt x="238757" y="238126"/>
                    </a:lnTo>
                    <a:cubicBezTo>
                      <a:pt x="249222" y="238226"/>
                      <a:pt x="258928" y="232679"/>
                      <a:pt x="264153" y="223612"/>
                    </a:cubicBezTo>
                    <a:cubicBezTo>
                      <a:pt x="269258" y="214892"/>
                      <a:pt x="269267" y="204099"/>
                      <a:pt x="264177" y="195370"/>
                    </a:cubicBezTo>
                    <a:close/>
                    <a:moveTo>
                      <a:pt x="247663" y="214075"/>
                    </a:moveTo>
                    <a:cubicBezTo>
                      <a:pt x="245815" y="217228"/>
                      <a:pt x="242411" y="219139"/>
                      <a:pt x="238757" y="219076"/>
                    </a:cubicBezTo>
                    <a:lnTo>
                      <a:pt x="30517" y="219076"/>
                    </a:lnTo>
                    <a:cubicBezTo>
                      <a:pt x="26863" y="219139"/>
                      <a:pt x="23459" y="217228"/>
                      <a:pt x="21611" y="214075"/>
                    </a:cubicBezTo>
                    <a:cubicBezTo>
                      <a:pt x="19936" y="211240"/>
                      <a:pt x="19936" y="207719"/>
                      <a:pt x="21611" y="204884"/>
                    </a:cubicBezTo>
                    <a:lnTo>
                      <a:pt x="125731" y="24063"/>
                    </a:lnTo>
                    <a:cubicBezTo>
                      <a:pt x="127615" y="20929"/>
                      <a:pt x="131004" y="19011"/>
                      <a:pt x="134661" y="19011"/>
                    </a:cubicBezTo>
                    <a:cubicBezTo>
                      <a:pt x="138318" y="19011"/>
                      <a:pt x="141707" y="20929"/>
                      <a:pt x="143591" y="24063"/>
                    </a:cubicBezTo>
                    <a:lnTo>
                      <a:pt x="247711" y="204884"/>
                    </a:lnTo>
                    <a:cubicBezTo>
                      <a:pt x="249371" y="207727"/>
                      <a:pt x="249352" y="211249"/>
                      <a:pt x="247663" y="214075"/>
                    </a:cubicBezTo>
                    <a:close/>
                    <a:moveTo>
                      <a:pt x="125112" y="142876"/>
                    </a:moveTo>
                    <a:lnTo>
                      <a:pt x="125112" y="95251"/>
                    </a:lnTo>
                    <a:cubicBezTo>
                      <a:pt x="125112" y="89990"/>
                      <a:pt x="129377" y="85726"/>
                      <a:pt x="134637" y="85726"/>
                    </a:cubicBezTo>
                    <a:cubicBezTo>
                      <a:pt x="139898" y="85726"/>
                      <a:pt x="144162" y="89990"/>
                      <a:pt x="144162" y="95251"/>
                    </a:cubicBezTo>
                    <a:lnTo>
                      <a:pt x="144162" y="142876"/>
                    </a:lnTo>
                    <a:cubicBezTo>
                      <a:pt x="144162" y="148136"/>
                      <a:pt x="139898" y="152401"/>
                      <a:pt x="134637" y="152401"/>
                    </a:cubicBezTo>
                    <a:cubicBezTo>
                      <a:pt x="129377" y="152401"/>
                      <a:pt x="125112" y="148136"/>
                      <a:pt x="125112" y="142876"/>
                    </a:cubicBezTo>
                    <a:close/>
                    <a:moveTo>
                      <a:pt x="148925" y="185738"/>
                    </a:moveTo>
                    <a:cubicBezTo>
                      <a:pt x="148925" y="193629"/>
                      <a:pt x="142528" y="200026"/>
                      <a:pt x="134637" y="200026"/>
                    </a:cubicBezTo>
                    <a:cubicBezTo>
                      <a:pt x="126746" y="200026"/>
                      <a:pt x="120350" y="193629"/>
                      <a:pt x="120350" y="185738"/>
                    </a:cubicBezTo>
                    <a:cubicBezTo>
                      <a:pt x="120350" y="177848"/>
                      <a:pt x="126746" y="171451"/>
                      <a:pt x="134637" y="171451"/>
                    </a:cubicBezTo>
                    <a:cubicBezTo>
                      <a:pt x="142528" y="171451"/>
                      <a:pt x="148925" y="177848"/>
                      <a:pt x="148925" y="185738"/>
                    </a:cubicBezTo>
                    <a:close/>
                  </a:path>
                </a:pathLst>
              </a:custGeom>
              <a:solidFill>
                <a:srgbClr val="E63946"/>
              </a:solidFill>
              <a:ln>
                <a:noFill/>
              </a:ln>
            </p:spPr>
          </p:sp>
        </p:grpSp>
        <p:sp>
          <p:nvSpPr>
            <p:cNvPr id="27" name="TextBox 27"/>
            <p:cNvSpPr txBox="1"/>
            <p:nvPr/>
          </p:nvSpPr>
          <p:spPr>
            <a:xfrm>
              <a:off x="7567612" y="5574506"/>
              <a:ext cx="1335988" cy="228600"/>
            </a:xfrm>
            <a:prstGeom prst="rect">
              <a:avLst/>
            </a:prstGeom>
            <a:noFill/>
            <a:ln>
              <a:noFill/>
            </a:ln>
          </p:spPr>
          <p:txBody>
            <a:bodyPr wrap="none" lIns="0" tIns="0" rIns="0" bIns="0" anchor="t" anchorCtr="0">
              <a:spAutoFit/>
            </a:bodyPr>
            <a:lstStyle/>
            <a:p>
              <a:pPr algn="l"/>
              <a:r>
                <a:rPr lang="zh-CN" sz="1125" b="1" dirty="0">
                  <a:solidFill>
                    <a:srgbClr val="2B2D33"/>
                  </a:solidFill>
                  <a:latin typeface="Apple SD Gothic Neo"/>
                  <a:ea typeface="Malgun Gothic"/>
                  <a:cs typeface="Apple SD Gothic Neo"/>
                </a:rPr>
                <a:t xml:space="preserve">고위험 미탐지(FN) </a:t>
              </a:r>
              <a:r>
                <a:rPr lang="zh-CN" sz="1125" b="1" dirty="0">
                  <a:solidFill>
                    <a:srgbClr val="E63946"/>
                  </a:solidFill>
                  <a:latin typeface="Apple SD Gothic Neo"/>
                  <a:ea typeface="Malgun Gothic"/>
                  <a:cs typeface="Apple SD Gothic Neo"/>
                </a:rPr>
                <a:t>566건</a:t>
              </a:r>
            </a:p>
          </p:txBody>
        </p:sp>
        <p:sp>
          <p:nvSpPr>
            <p:cNvPr id="28" name="TextBox 28"/>
            <p:cNvSpPr txBox="1"/>
            <p:nvPr/>
          </p:nvSpPr>
          <p:spPr>
            <a:xfrm>
              <a:off x="7569518" y="5838349"/>
              <a:ext cx="2092023" cy="198120"/>
            </a:xfrm>
            <a:prstGeom prst="rect">
              <a:avLst/>
            </a:prstGeom>
            <a:noFill/>
            <a:ln>
              <a:noFill/>
            </a:ln>
          </p:spPr>
          <p:txBody>
            <a:bodyPr wrap="none" lIns="0" tIns="0" rIns="0" bIns="0" anchor="t" anchorCtr="0">
              <a:spAutoFit/>
            </a:bodyPr>
            <a:lstStyle/>
            <a:p>
              <a:pPr algn="l"/>
              <a:r>
                <a:rPr lang="zh-CN" sz="975" dirty="0">
                  <a:solidFill>
                    <a:srgbClr val="5C6470"/>
                  </a:solidFill>
                  <a:latin typeface="Apple SD Gothic Neo"/>
                  <a:ea typeface="Malgun Gothic"/>
                  <a:cs typeface="Apple SD Gothic Neo"/>
                </a:rPr>
                <a:t>놓친 고위험이 정책적 비용이 가장 큰 오류 — 개선 우선순위</a:t>
              </a:r>
            </a:p>
          </p:txBody>
        </p:sp>
      </p:grpSp>
      <p:grpSp>
        <p:nvGrpSpPr>
          <p:cNvPr id="32" name="Group 32"/>
          <p:cNvGrpSpPr/>
          <p:nvPr/>
        </p:nvGrpSpPr>
        <p:grpSpPr>
          <a:xfrm>
            <a:off x="751522" y="6483191"/>
            <a:ext cx="10688955" cy="167640"/>
            <a:chOff x="751522" y="6483191"/>
            <a:chExt cx="10688955" cy="167640"/>
          </a:xfrm>
        </p:grpSpPr>
        <p:sp>
          <p:nvSpPr>
            <p:cNvPr id="30" name="TextBox 30"/>
            <p:cNvSpPr txBox="1"/>
            <p:nvPr/>
          </p:nvSpPr>
          <p:spPr>
            <a:xfrm>
              <a:off x="751522" y="6483191"/>
              <a:ext cx="5010079"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자체 분석 — 결정트리(max_depth=8) 80.18% / KNN(11) 78.68% / KNN(5) 78.22% / 로지스틱 77.95%</a:t>
              </a:r>
            </a:p>
          </p:txBody>
        </p:sp>
        <p:sp>
          <p:nvSpPr>
            <p:cNvPr id="31" name="TextBox 31"/>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400"/>
                                        <p:tgtEl>
                                          <p:spTgt spid="1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slide(fromBottom)">
                                      <p:cBhvr>
                                        <p:cTn id="15" dur="400"/>
                                        <p:tgtEl>
                                          <p:spTgt spid="22"/>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image">
                                      <p:cBhvr>
                                        <p:cTn id="19"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22"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4368439" cy="671512"/>
            <a:chOff x="762000" y="476250"/>
            <a:chExt cx="4368439"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4168414"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위험을 가르는 것은 경제가 아니라 '누구인가'다</a:t>
              </a:r>
            </a:p>
          </p:txBody>
        </p:sp>
        <p:sp>
          <p:nvSpPr>
            <p:cNvPr id="5" name="TextBox 5"/>
            <p:cNvSpPr txBox="1"/>
            <p:nvPr/>
          </p:nvSpPr>
          <p:spPr>
            <a:xfrm>
              <a:off x="977265" y="934402"/>
              <a:ext cx="2445122"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03 머신러닝 분석 · 결정 트리 변수 중요도 (상위 15개)</a:t>
              </a:r>
            </a:p>
          </p:txBody>
        </p:sp>
      </p:grpSp>
      <p:grpSp>
        <p:nvGrpSpPr>
          <p:cNvPr id="9" name="Group 9"/>
          <p:cNvGrpSpPr/>
          <p:nvPr/>
        </p:nvGrpSpPr>
        <p:grpSpPr>
          <a:xfrm>
            <a:off x="762000" y="1428750"/>
            <a:ext cx="6953250" cy="4381500"/>
            <a:chOff x="762000" y="1428750"/>
            <a:chExt cx="6953250" cy="4381500"/>
          </a:xfrm>
        </p:grpSpPr>
        <p:sp>
          <p:nvSpPr>
            <p:cNvPr id="7" name="Rectangle 7"/>
            <p:cNvSpPr/>
            <p:nvPr/>
          </p:nvSpPr>
          <p:spPr>
            <a:xfrm>
              <a:off x="762000" y="1428750"/>
              <a:ext cx="6953250" cy="4381500"/>
            </a:xfrm>
            <a:prstGeom prst="roundRect">
              <a:avLst>
                <a:gd name="adj" fmla="val 3043"/>
              </a:avLst>
            </a:prstGeom>
            <a:solidFill>
              <a:srgbClr val="FFFFFF"/>
            </a:solidFill>
            <a:ln w="9525">
              <a:solidFill>
                <a:srgbClr val="D8DEE6"/>
              </a:solidFill>
            </a:ln>
          </p:spPr>
        </p:sp>
        <p:pic>
          <p:nvPicPr>
            <p:cNvPr id="8" name="Image 8"/>
            <p:cNvPicPr>
              <a:picLocks noChangeAspect="1"/>
            </p:cNvPicPr>
            <p:nvPr/>
          </p:nvPicPr>
          <p:blipFill>
            <a:blip r:embed="rId2"/>
            <a:stretch>
              <a:fillRect/>
            </a:stretch>
          </p:blipFill>
          <p:spPr>
            <a:xfrm>
              <a:off x="904875" y="1543050"/>
              <a:ext cx="6667500" cy="4152900"/>
            </a:xfrm>
            <a:prstGeom prst="roundRect">
              <a:avLst>
                <a:gd name="adj" fmla="val 3211"/>
              </a:avLst>
            </a:prstGeom>
          </p:spPr>
        </p:pic>
      </p:grpSp>
      <p:grpSp>
        <p:nvGrpSpPr>
          <p:cNvPr id="14" name="Group 14"/>
          <p:cNvGrpSpPr/>
          <p:nvPr/>
        </p:nvGrpSpPr>
        <p:grpSpPr>
          <a:xfrm>
            <a:off x="8020050" y="1428750"/>
            <a:ext cx="3409950" cy="990600"/>
            <a:chOff x="8020050" y="1428750"/>
            <a:chExt cx="3409950" cy="990600"/>
          </a:xfrm>
        </p:grpSpPr>
        <p:sp>
          <p:nvSpPr>
            <p:cNvPr id="10" name="Rectangle 10"/>
            <p:cNvSpPr/>
            <p:nvPr/>
          </p:nvSpPr>
          <p:spPr>
            <a:xfrm>
              <a:off x="8020050" y="1428750"/>
              <a:ext cx="3409950" cy="990600"/>
            </a:xfrm>
            <a:prstGeom prst="roundRect">
              <a:avLst>
                <a:gd name="adj" fmla="val 11538"/>
              </a:avLst>
            </a:prstGeom>
            <a:solidFill>
              <a:srgbClr val="FFFFFF"/>
            </a:solidFill>
            <a:ln w="19050">
              <a:solidFill>
                <a:srgbClr val="E63946"/>
              </a:solidFill>
            </a:ln>
          </p:spPr>
        </p:sp>
        <p:sp>
          <p:nvSpPr>
            <p:cNvPr id="11" name="TextBox 11"/>
            <p:cNvSpPr txBox="1"/>
            <p:nvPr/>
          </p:nvSpPr>
          <p:spPr>
            <a:xfrm>
              <a:off x="8311515" y="1658302"/>
              <a:ext cx="1048448" cy="213360"/>
            </a:xfrm>
            <a:prstGeom prst="rect">
              <a:avLst/>
            </a:prstGeom>
            <a:noFill/>
            <a:ln>
              <a:noFill/>
            </a:ln>
          </p:spPr>
          <p:txBody>
            <a:bodyPr wrap="none" lIns="0" tIns="0" rIns="0" bIns="0" anchor="t" anchorCtr="0">
              <a:spAutoFit/>
            </a:bodyPr>
            <a:lstStyle/>
            <a:p>
              <a:pPr algn="l"/>
              <a:r>
                <a:rPr lang="zh-CN" sz="1050" b="1" dirty="0">
                  <a:solidFill>
                    <a:srgbClr val="E63946"/>
                  </a:solidFill>
                  <a:latin typeface="Apple SD Gothic Neo"/>
                  <a:ea typeface="Malgun Gothic"/>
                  <a:cs typeface="Apple SD Gothic Neo"/>
                </a:rPr>
                <a:t>1위 · 중요도 0.366</a:t>
              </a:r>
            </a:p>
          </p:txBody>
        </p:sp>
        <p:sp>
          <p:nvSpPr>
            <p:cNvPr id="12" name="TextBox 12"/>
            <p:cNvSpPr txBox="1"/>
            <p:nvPr/>
          </p:nvSpPr>
          <p:spPr>
            <a:xfrm>
              <a:off x="8306752" y="1903571"/>
              <a:ext cx="1253297" cy="289560"/>
            </a:xfrm>
            <a:prstGeom prst="rect">
              <a:avLst/>
            </a:prstGeom>
            <a:noFill/>
            <a:ln>
              <a:noFill/>
            </a:ln>
          </p:spPr>
          <p:txBody>
            <a:bodyPr wrap="none" lIns="0" tIns="0" rIns="0" bIns="0" anchor="t" anchorCtr="0">
              <a:spAutoFit/>
            </a:bodyPr>
            <a:lstStyle/>
            <a:p>
              <a:pPr algn="l"/>
              <a:r>
                <a:rPr lang="zh-CN" sz="1425" b="1" dirty="0">
                  <a:solidFill>
                    <a:srgbClr val="2B2D33"/>
                  </a:solidFill>
                  <a:latin typeface="Apple SD Gothic Neo"/>
                  <a:ea typeface="Malgun Gothic"/>
                  <a:cs typeface="Apple SD Gothic Neo"/>
                </a:rPr>
                <a:t>연령: 5–14세 여부</a:t>
              </a:r>
            </a:p>
          </p:txBody>
        </p:sp>
        <p:sp>
          <p:nvSpPr>
            <p:cNvPr id="13" name="TextBox 13"/>
            <p:cNvSpPr txBox="1"/>
            <p:nvPr/>
          </p:nvSpPr>
          <p:spPr>
            <a:xfrm>
              <a:off x="8312468" y="2180749"/>
              <a:ext cx="1766983" cy="198120"/>
            </a:xfrm>
            <a:prstGeom prst="rect">
              <a:avLst/>
            </a:prstGeom>
            <a:noFill/>
            <a:ln>
              <a:noFill/>
            </a:ln>
          </p:spPr>
          <p:txBody>
            <a:bodyPr wrap="none" lIns="0" tIns="0" rIns="0" bIns="0" anchor="t" anchorCtr="0">
              <a:spAutoFit/>
            </a:bodyPr>
            <a:lstStyle/>
            <a:p>
              <a:pPr algn="l"/>
              <a:r>
                <a:rPr lang="zh-CN" sz="975" dirty="0">
                  <a:solidFill>
                    <a:srgbClr val="5C6470"/>
                  </a:solidFill>
                  <a:latin typeface="Apple SD Gothic Neo"/>
                  <a:ea typeface="Malgun Gothic"/>
                  <a:cs typeface="Apple SD Gothic Neo"/>
                </a:rPr>
                <a:t>소아 연령대는 거의 전부 저위험 — 최강 분리 변수</a:t>
              </a:r>
            </a:p>
          </p:txBody>
        </p:sp>
      </p:grpSp>
      <p:grpSp>
        <p:nvGrpSpPr>
          <p:cNvPr id="19" name="Group 19"/>
          <p:cNvGrpSpPr/>
          <p:nvPr/>
        </p:nvGrpSpPr>
        <p:grpSpPr>
          <a:xfrm>
            <a:off x="8020050" y="2571750"/>
            <a:ext cx="3409950" cy="990600"/>
            <a:chOff x="8020050" y="2571750"/>
            <a:chExt cx="3409950" cy="990600"/>
          </a:xfrm>
        </p:grpSpPr>
        <p:sp>
          <p:nvSpPr>
            <p:cNvPr id="15" name="Rectangle 15"/>
            <p:cNvSpPr/>
            <p:nvPr/>
          </p:nvSpPr>
          <p:spPr>
            <a:xfrm>
              <a:off x="8020050" y="2571750"/>
              <a:ext cx="3409950" cy="990600"/>
            </a:xfrm>
            <a:prstGeom prst="roundRect">
              <a:avLst>
                <a:gd name="adj" fmla="val 11538"/>
              </a:avLst>
            </a:prstGeom>
            <a:solidFill>
              <a:srgbClr val="FFFFFF"/>
            </a:solidFill>
            <a:ln w="9525">
              <a:solidFill>
                <a:srgbClr val="D8DEE6"/>
              </a:solidFill>
            </a:ln>
          </p:spPr>
        </p:sp>
        <p:sp>
          <p:nvSpPr>
            <p:cNvPr id="16" name="TextBox 16"/>
            <p:cNvSpPr txBox="1"/>
            <p:nvPr/>
          </p:nvSpPr>
          <p:spPr>
            <a:xfrm>
              <a:off x="8311515" y="2801302"/>
              <a:ext cx="1048448"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pple SD Gothic Neo"/>
                  <a:ea typeface="Malgun Gothic"/>
                  <a:cs typeface="Apple SD Gothic Neo"/>
                </a:rPr>
                <a:t>2위 · 중요도 0.299</a:t>
              </a:r>
            </a:p>
          </p:txBody>
        </p:sp>
        <p:sp>
          <p:nvSpPr>
            <p:cNvPr id="17" name="TextBox 17"/>
            <p:cNvSpPr txBox="1"/>
            <p:nvPr/>
          </p:nvSpPr>
          <p:spPr>
            <a:xfrm>
              <a:off x="8306752" y="3046571"/>
              <a:ext cx="924081" cy="289560"/>
            </a:xfrm>
            <a:prstGeom prst="rect">
              <a:avLst/>
            </a:prstGeom>
            <a:noFill/>
            <a:ln>
              <a:noFill/>
            </a:ln>
          </p:spPr>
          <p:txBody>
            <a:bodyPr wrap="none" lIns="0" tIns="0" rIns="0" bIns="0" anchor="t" anchorCtr="0">
              <a:spAutoFit/>
            </a:bodyPr>
            <a:lstStyle/>
            <a:p>
              <a:pPr algn="l"/>
              <a:r>
                <a:rPr lang="zh-CN" sz="1425" b="1" dirty="0">
                  <a:solidFill>
                    <a:srgbClr val="2B2D33"/>
                  </a:solidFill>
                  <a:latin typeface="Apple SD Gothic Neo"/>
                  <a:ea typeface="Malgun Gothic"/>
                  <a:cs typeface="Apple SD Gothic Neo"/>
                </a:rPr>
                <a:t>성별: 남성 여부</a:t>
              </a:r>
            </a:p>
          </p:txBody>
        </p:sp>
        <p:sp>
          <p:nvSpPr>
            <p:cNvPr id="18" name="TextBox 18"/>
            <p:cNvSpPr txBox="1"/>
            <p:nvPr/>
          </p:nvSpPr>
          <p:spPr>
            <a:xfrm>
              <a:off x="8312468" y="3323749"/>
              <a:ext cx="999887" cy="198120"/>
            </a:xfrm>
            <a:prstGeom prst="rect">
              <a:avLst/>
            </a:prstGeom>
            <a:noFill/>
            <a:ln>
              <a:noFill/>
            </a:ln>
          </p:spPr>
          <p:txBody>
            <a:bodyPr wrap="none" lIns="0" tIns="0" rIns="0" bIns="0" anchor="t" anchorCtr="0">
              <a:spAutoFit/>
            </a:bodyPr>
            <a:lstStyle/>
            <a:p>
              <a:pPr algn="l"/>
              <a:r>
                <a:rPr lang="zh-CN" sz="975" dirty="0">
                  <a:solidFill>
                    <a:srgbClr val="5C6470"/>
                  </a:solidFill>
                  <a:latin typeface="Apple SD Gothic Neo"/>
                  <a:ea typeface="Malgun Gothic"/>
                  <a:cs typeface="Apple SD Gothic Neo"/>
                </a:rPr>
                <a:t>남성이면 고위험 확률 급상승</a:t>
              </a:r>
            </a:p>
          </p:txBody>
        </p:sp>
      </p:grpSp>
      <p:grpSp>
        <p:nvGrpSpPr>
          <p:cNvPr id="24" name="Group 24"/>
          <p:cNvGrpSpPr/>
          <p:nvPr/>
        </p:nvGrpSpPr>
        <p:grpSpPr>
          <a:xfrm>
            <a:off x="8020050" y="3714750"/>
            <a:ext cx="3409950" cy="990600"/>
            <a:chOff x="8020050" y="3714750"/>
            <a:chExt cx="3409950" cy="990600"/>
          </a:xfrm>
        </p:grpSpPr>
        <p:sp>
          <p:nvSpPr>
            <p:cNvPr id="20" name="Rectangle 20"/>
            <p:cNvSpPr/>
            <p:nvPr/>
          </p:nvSpPr>
          <p:spPr>
            <a:xfrm>
              <a:off x="8020050" y="3714750"/>
              <a:ext cx="3409950" cy="990600"/>
            </a:xfrm>
            <a:prstGeom prst="roundRect">
              <a:avLst>
                <a:gd name="adj" fmla="val 11538"/>
              </a:avLst>
            </a:prstGeom>
            <a:solidFill>
              <a:srgbClr val="FFFFFF"/>
            </a:solidFill>
            <a:ln w="9525">
              <a:solidFill>
                <a:srgbClr val="D8DEE6"/>
              </a:solidFill>
            </a:ln>
          </p:spPr>
        </p:sp>
        <p:sp>
          <p:nvSpPr>
            <p:cNvPr id="21" name="TextBox 21"/>
            <p:cNvSpPr txBox="1"/>
            <p:nvPr/>
          </p:nvSpPr>
          <p:spPr>
            <a:xfrm>
              <a:off x="8311515" y="3944302"/>
              <a:ext cx="1048448" cy="213360"/>
            </a:xfrm>
            <a:prstGeom prst="rect">
              <a:avLst/>
            </a:prstGeom>
            <a:noFill/>
            <a:ln>
              <a:noFill/>
            </a:ln>
          </p:spPr>
          <p:txBody>
            <a:bodyPr wrap="none" lIns="0" tIns="0" rIns="0" bIns="0" anchor="t" anchorCtr="0">
              <a:spAutoFit/>
            </a:bodyPr>
            <a:lstStyle/>
            <a:p>
              <a:pPr algn="l"/>
              <a:r>
                <a:rPr lang="zh-CN" sz="1050" b="1" dirty="0">
                  <a:solidFill>
                    <a:srgbClr val="457B9D"/>
                  </a:solidFill>
                  <a:latin typeface="Apple SD Gothic Neo"/>
                  <a:ea typeface="Malgun Gothic"/>
                  <a:cs typeface="Apple SD Gothic Neo"/>
                </a:rPr>
                <a:t>3위 · 중요도 0.130</a:t>
              </a:r>
            </a:p>
          </p:txBody>
        </p:sp>
        <p:sp>
          <p:nvSpPr>
            <p:cNvPr id="22" name="TextBox 22"/>
            <p:cNvSpPr txBox="1"/>
            <p:nvPr/>
          </p:nvSpPr>
          <p:spPr>
            <a:xfrm>
              <a:off x="8306752" y="4189571"/>
              <a:ext cx="924081" cy="289560"/>
            </a:xfrm>
            <a:prstGeom prst="rect">
              <a:avLst/>
            </a:prstGeom>
            <a:noFill/>
            <a:ln>
              <a:noFill/>
            </a:ln>
          </p:spPr>
          <p:txBody>
            <a:bodyPr wrap="none" lIns="0" tIns="0" rIns="0" bIns="0" anchor="t" anchorCtr="0">
              <a:spAutoFit/>
            </a:bodyPr>
            <a:lstStyle/>
            <a:p>
              <a:pPr algn="l"/>
              <a:r>
                <a:rPr lang="zh-CN" sz="1425" b="1" dirty="0">
                  <a:solidFill>
                    <a:srgbClr val="2B2D33"/>
                  </a:solidFill>
                  <a:latin typeface="Apple SD Gothic Neo"/>
                  <a:ea typeface="Malgun Gothic"/>
                  <a:cs typeface="Apple SD Gothic Neo"/>
                </a:rPr>
                <a:t>국가 GDP 규모</a:t>
              </a:r>
            </a:p>
          </p:txBody>
        </p:sp>
        <p:sp>
          <p:nvSpPr>
            <p:cNvPr id="23" name="TextBox 23"/>
            <p:cNvSpPr txBox="1"/>
            <p:nvPr/>
          </p:nvSpPr>
          <p:spPr>
            <a:xfrm>
              <a:off x="8312468" y="4466749"/>
              <a:ext cx="1110401" cy="198120"/>
            </a:xfrm>
            <a:prstGeom prst="rect">
              <a:avLst/>
            </a:prstGeom>
            <a:noFill/>
            <a:ln>
              <a:noFill/>
            </a:ln>
          </p:spPr>
          <p:txBody>
            <a:bodyPr wrap="none" lIns="0" tIns="0" rIns="0" bIns="0" anchor="t" anchorCtr="0">
              <a:spAutoFit/>
            </a:bodyPr>
            <a:lstStyle/>
            <a:p>
              <a:pPr algn="l"/>
              <a:r>
                <a:rPr lang="zh-CN" sz="975" dirty="0">
                  <a:solidFill>
                    <a:srgbClr val="5C6470"/>
                  </a:solidFill>
                  <a:latin typeface="Apple SD Gothic Neo"/>
                  <a:ea typeface="Malgun Gothic"/>
                  <a:cs typeface="Apple SD Gothic Neo"/>
                </a:rPr>
                <a:t>경제 변수는 보조적 역할에 그침</a:t>
              </a:r>
            </a:p>
          </p:txBody>
        </p:sp>
      </p:grpSp>
      <p:grpSp>
        <p:nvGrpSpPr>
          <p:cNvPr id="28" name="Group 28"/>
          <p:cNvGrpSpPr/>
          <p:nvPr/>
        </p:nvGrpSpPr>
        <p:grpSpPr>
          <a:xfrm>
            <a:off x="8020050" y="4857750"/>
            <a:ext cx="3409950" cy="957262"/>
            <a:chOff x="8020050" y="4857750"/>
            <a:chExt cx="3409950" cy="957262"/>
          </a:xfrm>
        </p:grpSpPr>
        <p:sp>
          <p:nvSpPr>
            <p:cNvPr id="25" name="Rectangle 25"/>
            <p:cNvSpPr/>
            <p:nvPr/>
          </p:nvSpPr>
          <p:spPr>
            <a:xfrm>
              <a:off x="8020050" y="4857750"/>
              <a:ext cx="3409950" cy="952500"/>
            </a:xfrm>
            <a:prstGeom prst="roundRect">
              <a:avLst>
                <a:gd name="adj" fmla="val 12000"/>
              </a:avLst>
            </a:prstGeom>
            <a:solidFill>
              <a:srgbClr val="1E3A5F"/>
            </a:solidFill>
            <a:ln>
              <a:noFill/>
            </a:ln>
          </p:spPr>
        </p:sp>
        <p:sp>
          <p:nvSpPr>
            <p:cNvPr id="26" name="TextBox 26"/>
            <p:cNvSpPr txBox="1"/>
            <p:nvPr/>
          </p:nvSpPr>
          <p:spPr>
            <a:xfrm>
              <a:off x="8310562" y="5098256"/>
              <a:ext cx="1438751" cy="228600"/>
            </a:xfrm>
            <a:prstGeom prst="rect">
              <a:avLst/>
            </a:prstGeom>
            <a:noFill/>
            <a:ln>
              <a:noFill/>
            </a:ln>
          </p:spPr>
          <p:txBody>
            <a:bodyPr wrap="none" lIns="0" tIns="0" rIns="0" bIns="0" anchor="t" anchorCtr="0">
              <a:spAutoFit/>
            </a:bodyPr>
            <a:lstStyle/>
            <a:p>
              <a:pPr algn="l"/>
              <a:r>
                <a:rPr lang="zh-CN" sz="1125" dirty="0">
                  <a:solidFill>
                    <a:srgbClr val="B9C6D6"/>
                  </a:solidFill>
                  <a:latin typeface="Apple SD Gothic Neo"/>
                  <a:ea typeface="Malgun Gothic"/>
                  <a:cs typeface="Apple SD Gothic Neo"/>
                </a:rPr>
                <a:t>인구통계(연령+성별) 합산 중요도</a:t>
              </a:r>
            </a:p>
          </p:txBody>
        </p:sp>
        <p:sp>
          <p:nvSpPr>
            <p:cNvPr id="27" name="TextBox 27"/>
            <p:cNvSpPr txBox="1"/>
            <p:nvPr/>
          </p:nvSpPr>
          <p:spPr>
            <a:xfrm>
              <a:off x="8296275" y="5357812"/>
              <a:ext cx="2908256"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pple SD Gothic Neo"/>
                  <a:ea typeface="Malgun Gothic"/>
                  <a:cs typeface="Apple SD Gothic Neo"/>
                </a:rPr>
                <a:t xml:space="preserve">약 67% </a:t>
              </a:r>
              <a:r>
                <a:rPr lang="zh-CN" sz="1200" dirty="0">
                  <a:solidFill>
                    <a:srgbClr val="8DA3BB"/>
                  </a:solidFill>
                  <a:latin typeface="Apple SD Gothic Neo"/>
                  <a:ea typeface="Malgun Gothic"/>
                  <a:cs typeface="Apple SD Gothic Neo"/>
                </a:rPr>
                <a:t>vs 경제 변수 24%</a:t>
              </a:r>
            </a:p>
          </p:txBody>
        </p:sp>
      </p:grpSp>
      <p:grpSp>
        <p:nvGrpSpPr>
          <p:cNvPr id="31" name="Group 31"/>
          <p:cNvGrpSpPr/>
          <p:nvPr/>
        </p:nvGrpSpPr>
        <p:grpSpPr>
          <a:xfrm>
            <a:off x="751522" y="6483191"/>
            <a:ext cx="10688955" cy="167640"/>
            <a:chOff x="751522" y="6483191"/>
            <a:chExt cx="10688955" cy="167640"/>
          </a:xfrm>
        </p:grpSpPr>
        <p:sp>
          <p:nvSpPr>
            <p:cNvPr id="29" name="TextBox 29"/>
            <p:cNvSpPr txBox="1"/>
            <p:nvPr/>
          </p:nvSpPr>
          <p:spPr>
            <a:xfrm>
              <a:off x="751522" y="6483191"/>
              <a:ext cx="3200352"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자체 분석 — 결정 트리(max_depth=8) feature_importances_</a:t>
              </a:r>
            </a:p>
          </p:txBody>
        </p:sp>
        <p:sp>
          <p:nvSpPr>
            <p:cNvPr id="30" name="TextBox 30"/>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lide(fromBottom)">
                                      <p:cBhvr>
                                        <p:cTn id="15" dur="400"/>
                                        <p:tgtEl>
                                          <p:spTgt spid="19"/>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image">
                                      <p:cBhvr>
                                        <p:cTn id="19" dur="400"/>
                                        <p:tgtEl>
                                          <p:spTgt spid="24"/>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p:bldP spid="24"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1E3A5F"/>
                </a:gs>
                <a:gs pos="100000">
                  <a:srgbClr val="16293F"/>
                </a:gs>
              </a:gsLst>
              <a:lin ang="2700000" scaled="1"/>
            </a:gradFill>
            <a:ln>
              <a:noFill/>
            </a:ln>
          </p:spPr>
        </p:sp>
        <p:sp>
          <p:nvSpPr>
            <p:cNvPr id="3" name="Rectangle 3"/>
            <p:cNvSpPr/>
            <p:nvPr/>
          </p:nvSpPr>
          <p:spPr>
            <a:xfrm>
              <a:off x="0" y="0"/>
              <a:ext cx="12192000" cy="6858000"/>
            </a:xfrm>
            <a:prstGeom prst="rect">
              <a:avLst/>
            </a:prstGeom>
            <a:gradFill>
              <a:gsLst>
                <a:gs pos="0">
                  <a:srgbClr val="E63946">
                    <a:alpha val="18000"/>
                  </a:srgbClr>
                </a:gs>
                <a:gs pos="100000">
                  <a:srgbClr val="E63946">
                    <a:alpha val="0"/>
                  </a:srgbClr>
                </a:gs>
              </a:gsLst>
              <a:path path="circle">
                <a:fillToRect l="50000" t="50000" r="50000" b="50000"/>
              </a:path>
            </a:gradFill>
            <a:ln>
              <a:noFill/>
            </a:ln>
          </p:spPr>
        </p:sp>
      </p:grpSp>
      <p:sp>
        <p:nvSpPr>
          <p:cNvPr id="5" name="TextBox 5"/>
          <p:cNvSpPr txBox="1"/>
          <p:nvPr/>
        </p:nvSpPr>
        <p:spPr>
          <a:xfrm>
            <a:off x="5236454" y="1013460"/>
            <a:ext cx="1719091" cy="243840"/>
          </a:xfrm>
          <a:prstGeom prst="rect">
            <a:avLst/>
          </a:prstGeom>
          <a:noFill/>
          <a:ln>
            <a:noFill/>
          </a:ln>
        </p:spPr>
        <p:txBody>
          <a:bodyPr wrap="none" lIns="0" tIns="0" rIns="0" bIns="0" anchor="t" anchorCtr="0">
            <a:spAutoFit/>
          </a:bodyPr>
          <a:lstStyle/>
          <a:p>
            <a:pPr algn="ctr"/>
            <a:r>
              <a:rPr lang="zh-CN" sz="1200" b="1" dirty="0">
                <a:solidFill>
                  <a:srgbClr val="8DA3BB"/>
                </a:solidFill>
                <a:latin typeface="Apple SD Gothic Neo"/>
                <a:ea typeface="Malgun Gothic"/>
                <a:cs typeface="Apple SD Gothic Neo"/>
              </a:rPr>
              <a:t>핵심 인사이트 1 · 가장 취약한 집단</a:t>
            </a:r>
          </a:p>
        </p:txBody>
      </p:sp>
      <p:grpSp>
        <p:nvGrpSpPr>
          <p:cNvPr id="8" name="Group 8"/>
          <p:cNvGrpSpPr/>
          <p:nvPr/>
        </p:nvGrpSpPr>
        <p:grpSpPr>
          <a:xfrm>
            <a:off x="2725990" y="2414588"/>
            <a:ext cx="6740021" cy="1409700"/>
            <a:chOff x="2725990" y="2414588"/>
            <a:chExt cx="6740021" cy="1409700"/>
          </a:xfrm>
        </p:grpSpPr>
        <p:sp>
          <p:nvSpPr>
            <p:cNvPr id="6" name="TextBox 6"/>
            <p:cNvSpPr txBox="1"/>
            <p:nvPr/>
          </p:nvSpPr>
          <p:spPr>
            <a:xfrm>
              <a:off x="2725990" y="2414588"/>
              <a:ext cx="6740021" cy="1371600"/>
            </a:xfrm>
            <a:prstGeom prst="rect">
              <a:avLst/>
            </a:prstGeom>
            <a:noFill/>
            <a:ln>
              <a:noFill/>
            </a:ln>
          </p:spPr>
          <p:txBody>
            <a:bodyPr wrap="none" lIns="0" tIns="0" rIns="0" bIns="0" anchor="t" anchorCtr="0">
              <a:spAutoFit/>
            </a:bodyPr>
            <a:lstStyle/>
            <a:p>
              <a:pPr algn="ctr"/>
              <a:r>
                <a:rPr lang="zh-CN" sz="6750" b="1" dirty="0">
                  <a:solidFill>
                    <a:srgbClr val="FFFFFF"/>
                  </a:solidFill>
                  <a:latin typeface="Apple SD Gothic Neo"/>
                  <a:ea typeface="Malgun Gothic"/>
                  <a:cs typeface="Apple SD Gothic Neo"/>
                </a:rPr>
                <a:t xml:space="preserve">75세 이상 남성, </a:t>
              </a:r>
              <a:r>
                <a:rPr lang="zh-CN" sz="6750" b="1" dirty="0">
                  <a:solidFill>
                    <a:srgbClr val="E63946"/>
                  </a:solidFill>
                  <a:latin typeface="Apple SD Gothic Neo"/>
                  <a:ea typeface="Malgun Gothic"/>
                  <a:cs typeface="Apple SD Gothic Neo"/>
                </a:rPr>
                <a:t>38명</a:t>
              </a:r>
            </a:p>
          </p:txBody>
        </p:sp>
        <p:sp>
          <p:nvSpPr>
            <p:cNvPr id="7" name="TextBox 7"/>
            <p:cNvSpPr txBox="1"/>
            <p:nvPr/>
          </p:nvSpPr>
          <p:spPr>
            <a:xfrm>
              <a:off x="4507349" y="3489008"/>
              <a:ext cx="3177302" cy="335280"/>
            </a:xfrm>
            <a:prstGeom prst="rect">
              <a:avLst/>
            </a:prstGeom>
            <a:noFill/>
            <a:ln>
              <a:noFill/>
            </a:ln>
          </p:spPr>
          <p:txBody>
            <a:bodyPr wrap="none" lIns="0" tIns="0" rIns="0" bIns="0" anchor="t" anchorCtr="0">
              <a:spAutoFit/>
            </a:bodyPr>
            <a:lstStyle/>
            <a:p>
              <a:pPr algn="ctr"/>
              <a:r>
                <a:rPr lang="zh-CN" sz="1650" dirty="0">
                  <a:solidFill>
                    <a:srgbClr val="B9C6D6"/>
                  </a:solidFill>
                  <a:latin typeface="Apple SD Gothic Neo"/>
                  <a:ea typeface="Malgun Gothic"/>
                  <a:cs typeface="Apple SD Gothic Neo"/>
                </a:rPr>
                <a:t>인구 10만명당 자살자 수 — 전 집단 중 압도적 1위</a:t>
              </a:r>
            </a:p>
          </p:txBody>
        </p:sp>
      </p:grpSp>
      <p:grpSp>
        <p:nvGrpSpPr>
          <p:cNvPr id="14" name="Group 14"/>
          <p:cNvGrpSpPr/>
          <p:nvPr/>
        </p:nvGrpSpPr>
        <p:grpSpPr>
          <a:xfrm>
            <a:off x="2286000" y="4381500"/>
            <a:ext cx="7620000" cy="1171575"/>
            <a:chOff x="2286000" y="4381500"/>
            <a:chExt cx="7620000" cy="1171575"/>
          </a:xfrm>
        </p:grpSpPr>
        <p:sp>
          <p:nvSpPr>
            <p:cNvPr id="9" name="Line 9"/>
            <p:cNvSpPr/>
            <p:nvPr/>
          </p:nvSpPr>
          <p:spPr>
            <a:xfrm>
              <a:off x="2286000" y="4381500"/>
              <a:ext cx="7620000" cy="9525"/>
            </a:xfrm>
            <a:custGeom>
              <a:avLst/>
              <a:gdLst/>
              <a:ahLst/>
              <a:cxnLst/>
              <a:rect l="l" t="t" r="r" b="b"/>
              <a:pathLst>
                <a:path w="7620000" h="9525">
                  <a:moveTo>
                    <a:pt x="0" y="0"/>
                  </a:moveTo>
                  <a:lnTo>
                    <a:pt x="7620000" y="0"/>
                  </a:lnTo>
                </a:path>
              </a:pathLst>
            </a:custGeom>
            <a:noFill/>
            <a:ln w="9525">
              <a:solidFill>
                <a:srgbClr val="FFFFFF">
                  <a:alpha val="15000"/>
                </a:srgbClr>
              </a:solidFill>
            </a:ln>
          </p:spPr>
        </p:sp>
        <p:sp>
          <p:nvSpPr>
            <p:cNvPr id="10" name="TextBox 10"/>
            <p:cNvSpPr txBox="1"/>
            <p:nvPr/>
          </p:nvSpPr>
          <p:spPr>
            <a:xfrm>
              <a:off x="3152751" y="4720114"/>
              <a:ext cx="933498" cy="259080"/>
            </a:xfrm>
            <a:prstGeom prst="rect">
              <a:avLst/>
            </a:prstGeom>
            <a:noFill/>
            <a:ln>
              <a:noFill/>
            </a:ln>
          </p:spPr>
          <p:txBody>
            <a:bodyPr wrap="none" lIns="0" tIns="0" rIns="0" bIns="0" anchor="t" anchorCtr="0">
              <a:spAutoFit/>
            </a:bodyPr>
            <a:lstStyle/>
            <a:p>
              <a:pPr algn="ctr"/>
              <a:r>
                <a:rPr lang="zh-CN" sz="1275" dirty="0">
                  <a:solidFill>
                    <a:srgbClr val="8DA3BB"/>
                  </a:solidFill>
                  <a:latin typeface="Apple SD Gothic Neo"/>
                  <a:ea typeface="Malgun Gothic"/>
                  <a:cs typeface="Apple SD Gothic Neo"/>
                </a:rPr>
                <a:t>같은 연령 여성 대비</a:t>
              </a:r>
            </a:p>
          </p:txBody>
        </p:sp>
        <p:sp>
          <p:nvSpPr>
            <p:cNvPr id="11" name="TextBox 11"/>
            <p:cNvSpPr txBox="1"/>
            <p:nvPr/>
          </p:nvSpPr>
          <p:spPr>
            <a:xfrm>
              <a:off x="3169358" y="5004435"/>
              <a:ext cx="900284" cy="548640"/>
            </a:xfrm>
            <a:prstGeom prst="rect">
              <a:avLst/>
            </a:prstGeom>
            <a:noFill/>
            <a:ln>
              <a:noFill/>
            </a:ln>
          </p:spPr>
          <p:txBody>
            <a:bodyPr wrap="none" lIns="0" tIns="0" rIns="0" bIns="0" anchor="t" anchorCtr="0">
              <a:spAutoFit/>
            </a:bodyPr>
            <a:lstStyle/>
            <a:p>
              <a:pPr algn="ctr"/>
              <a:r>
                <a:rPr lang="zh-CN" sz="2700" b="1" dirty="0">
                  <a:solidFill>
                    <a:srgbClr val="E63946"/>
                  </a:solidFill>
                  <a:latin typeface="Apple SD Gothic Neo"/>
                  <a:ea typeface="Malgun Gothic"/>
                  <a:cs typeface="Apple SD Gothic Neo"/>
                </a:rPr>
                <a:t>3.8배</a:t>
              </a:r>
            </a:p>
          </p:txBody>
        </p:sp>
        <p:sp>
          <p:nvSpPr>
            <p:cNvPr id="12" name="TextBox 12"/>
            <p:cNvSpPr txBox="1"/>
            <p:nvPr/>
          </p:nvSpPr>
          <p:spPr>
            <a:xfrm>
              <a:off x="8224766" y="4720114"/>
              <a:ext cx="695468" cy="259080"/>
            </a:xfrm>
            <a:prstGeom prst="rect">
              <a:avLst/>
            </a:prstGeom>
            <a:noFill/>
            <a:ln>
              <a:noFill/>
            </a:ln>
          </p:spPr>
          <p:txBody>
            <a:bodyPr wrap="none" lIns="0" tIns="0" rIns="0" bIns="0" anchor="t" anchorCtr="0">
              <a:spAutoFit/>
            </a:bodyPr>
            <a:lstStyle/>
            <a:p>
              <a:pPr algn="ctr"/>
              <a:r>
                <a:rPr lang="zh-CN" sz="1275" dirty="0">
                  <a:solidFill>
                    <a:srgbClr val="8DA3BB"/>
                  </a:solidFill>
                  <a:latin typeface="Apple SD Gothic Neo"/>
                  <a:ea typeface="Malgun Gothic"/>
                  <a:cs typeface="Apple SD Gothic Neo"/>
                </a:rPr>
                <a:t>전체 평균 대비</a:t>
              </a:r>
            </a:p>
          </p:txBody>
        </p:sp>
        <p:sp>
          <p:nvSpPr>
            <p:cNvPr id="13" name="TextBox 13"/>
            <p:cNvSpPr txBox="1"/>
            <p:nvPr/>
          </p:nvSpPr>
          <p:spPr>
            <a:xfrm>
              <a:off x="8122358" y="5004435"/>
              <a:ext cx="900284" cy="548640"/>
            </a:xfrm>
            <a:prstGeom prst="rect">
              <a:avLst/>
            </a:prstGeom>
            <a:noFill/>
            <a:ln>
              <a:noFill/>
            </a:ln>
          </p:spPr>
          <p:txBody>
            <a:bodyPr wrap="none" lIns="0" tIns="0" rIns="0" bIns="0" anchor="t" anchorCtr="0">
              <a:spAutoFit/>
            </a:bodyPr>
            <a:lstStyle/>
            <a:p>
              <a:pPr algn="ctr"/>
              <a:r>
                <a:rPr lang="zh-CN" sz="2700" b="1" dirty="0">
                  <a:solidFill>
                    <a:srgbClr val="FFFFFF"/>
                  </a:solidFill>
                  <a:latin typeface="Apple SD Gothic Neo"/>
                  <a:ea typeface="Malgun Gothic"/>
                  <a:cs typeface="Apple SD Gothic Neo"/>
                </a:rPr>
                <a:t>3.0배</a:t>
              </a:r>
            </a:p>
          </p:txBody>
        </p:sp>
      </p:grpSp>
      <p:grpSp>
        <p:nvGrpSpPr>
          <p:cNvPr id="16" name="Group 16"/>
          <p:cNvGrpSpPr/>
          <p:nvPr/>
        </p:nvGrpSpPr>
        <p:grpSpPr>
          <a:xfrm>
            <a:off x="4406741" y="5934075"/>
            <a:ext cx="3378518" cy="304800"/>
            <a:chOff x="4406741" y="5934075"/>
            <a:chExt cx="3378518" cy="304800"/>
          </a:xfrm>
        </p:grpSpPr>
        <p:sp>
          <p:nvSpPr>
            <p:cNvPr id="15" name="TextBox 15"/>
            <p:cNvSpPr txBox="1"/>
            <p:nvPr/>
          </p:nvSpPr>
          <p:spPr>
            <a:xfrm>
              <a:off x="4406741" y="5934075"/>
              <a:ext cx="3378518"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Apple SD Gothic Neo"/>
                  <a:ea typeface="Malgun Gothic"/>
                  <a:cs typeface="Apple SD Gothic Neo"/>
                </a:rPr>
                <a:t xml:space="preserve">노인 남성 대상 </a:t>
              </a:r>
              <a:r>
                <a:rPr lang="zh-CN" sz="1500" b="1" dirty="0">
                  <a:solidFill>
                    <a:srgbClr val="F4A7AE"/>
                  </a:solidFill>
                  <a:latin typeface="Apple SD Gothic Neo"/>
                  <a:ea typeface="Malgun Gothic"/>
                  <a:cs typeface="Apple SD Gothic Neo"/>
                </a:rPr>
                <a:t>정신건강 지원이 자살 예방의 최우선 과제</a:t>
              </a:r>
              <a:r>
                <a:rPr lang="zh-CN" sz="1500" dirty="0">
                  <a:solidFill>
                    <a:srgbClr val="FFFFFF"/>
                  </a:solidFill>
                  <a:latin typeface="Apple SD Gothic Neo"/>
                  <a:ea typeface="Malgun Gothic"/>
                  <a:cs typeface="Apple SD Gothic Neo"/>
                </a:rPr>
                <a:t>입니다</a:t>
              </a:r>
            </a:p>
          </p:txBody>
        </p:sp>
      </p:grpSp>
      <p:sp>
        <p:nvSpPr>
          <p:cNvPr id="17" name="TextBox 17"/>
          <p:cNvSpPr txBox="1"/>
          <p:nvPr/>
        </p:nvSpPr>
        <p:spPr>
          <a:xfrm>
            <a:off x="11298507" y="6578441"/>
            <a:ext cx="141970" cy="167640"/>
          </a:xfrm>
          <a:prstGeom prst="rect">
            <a:avLst/>
          </a:prstGeom>
          <a:noFill/>
          <a:ln>
            <a:noFill/>
          </a:ln>
        </p:spPr>
        <p:txBody>
          <a:bodyPr wrap="none" lIns="0" tIns="0" rIns="0" bIns="0" anchor="t" anchorCtr="0">
            <a:spAutoFit/>
          </a:bodyPr>
          <a:lstStyle/>
          <a:p>
            <a:pPr algn="r"/>
            <a:r>
              <a:rPr lang="zh-CN" sz="825" dirty="0">
                <a:solidFill>
                  <a:srgbClr val="5C6470"/>
                </a:solidFill>
                <a:latin typeface="Apple SD Gothic Neo"/>
                <a:ea typeface="Malgun Gothic"/>
                <a:cs typeface="Apple SD Gothic Neo"/>
              </a:rPr>
              <a:t>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4)">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lide(fromBottom)">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3769864" cy="671512"/>
            <a:chOff x="762000" y="476250"/>
            <a:chExt cx="3769864"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3569839"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잘사는 나라가 더 위험하다 — 발전의 역설</a:t>
              </a:r>
            </a:p>
          </p:txBody>
        </p:sp>
        <p:sp>
          <p:nvSpPr>
            <p:cNvPr id="5" name="TextBox 5"/>
            <p:cNvSpPr txBox="1"/>
            <p:nvPr/>
          </p:nvSpPr>
          <p:spPr>
            <a:xfrm>
              <a:off x="977265" y="934402"/>
              <a:ext cx="2614193"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04 핵심 인사이트 2 · 연령×성별 교차 + HDI 구간별 자살률</a:t>
              </a:r>
            </a:p>
          </p:txBody>
        </p:sp>
      </p:grpSp>
      <p:grpSp>
        <p:nvGrpSpPr>
          <p:cNvPr id="9" name="Group 9"/>
          <p:cNvGrpSpPr/>
          <p:nvPr/>
        </p:nvGrpSpPr>
        <p:grpSpPr>
          <a:xfrm>
            <a:off x="762000" y="1428750"/>
            <a:ext cx="10668000" cy="3143250"/>
            <a:chOff x="762000" y="1428750"/>
            <a:chExt cx="10668000" cy="3143250"/>
          </a:xfrm>
        </p:grpSpPr>
        <p:sp>
          <p:nvSpPr>
            <p:cNvPr id="7" name="Rectangle 7"/>
            <p:cNvSpPr/>
            <p:nvPr/>
          </p:nvSpPr>
          <p:spPr>
            <a:xfrm>
              <a:off x="762000" y="1428750"/>
              <a:ext cx="10668000" cy="3143250"/>
            </a:xfrm>
            <a:prstGeom prst="roundRect">
              <a:avLst>
                <a:gd name="adj" fmla="val 4242"/>
              </a:avLst>
            </a:prstGeom>
            <a:solidFill>
              <a:srgbClr val="FFFFFF"/>
            </a:solidFill>
            <a:ln w="9525">
              <a:solidFill>
                <a:srgbClr val="D8DEE6"/>
              </a:solidFill>
            </a:ln>
          </p:spPr>
        </p:sp>
        <p:pic>
          <p:nvPicPr>
            <p:cNvPr id="8" name="Image 8"/>
            <p:cNvPicPr>
              <a:picLocks noChangeAspect="1"/>
            </p:cNvPicPr>
            <p:nvPr/>
          </p:nvPicPr>
          <p:blipFill>
            <a:blip r:embed="rId2"/>
            <a:stretch>
              <a:fillRect/>
            </a:stretch>
          </p:blipFill>
          <p:spPr>
            <a:xfrm>
              <a:off x="952500" y="1543050"/>
              <a:ext cx="10287000" cy="2914650"/>
            </a:xfrm>
            <a:prstGeom prst="roundRect">
              <a:avLst>
                <a:gd name="adj" fmla="val 4575"/>
              </a:avLst>
            </a:prstGeom>
          </p:spPr>
        </p:pic>
      </p:grpSp>
      <p:grpSp>
        <p:nvGrpSpPr>
          <p:cNvPr id="14" name="Group 14"/>
          <p:cNvGrpSpPr/>
          <p:nvPr/>
        </p:nvGrpSpPr>
        <p:grpSpPr>
          <a:xfrm>
            <a:off x="762000" y="4819650"/>
            <a:ext cx="5143500" cy="1276350"/>
            <a:chOff x="762000" y="4819650"/>
            <a:chExt cx="5143500" cy="1276350"/>
          </a:xfrm>
        </p:grpSpPr>
        <p:sp>
          <p:nvSpPr>
            <p:cNvPr id="10" name="Rectangle 10"/>
            <p:cNvSpPr/>
            <p:nvPr/>
          </p:nvSpPr>
          <p:spPr>
            <a:xfrm>
              <a:off x="762000" y="4819650"/>
              <a:ext cx="5143500" cy="1276350"/>
            </a:xfrm>
            <a:prstGeom prst="roundRect">
              <a:avLst>
                <a:gd name="adj" fmla="val 8955"/>
              </a:avLst>
            </a:prstGeom>
            <a:solidFill>
              <a:srgbClr val="FFFFFF"/>
            </a:solidFill>
            <a:ln w="9525">
              <a:solidFill>
                <a:srgbClr val="D8DEE6"/>
              </a:solidFill>
            </a:ln>
          </p:spPr>
        </p:sp>
        <p:sp>
          <p:nvSpPr>
            <p:cNvPr id="11" name="TextBox 11"/>
            <p:cNvSpPr txBox="1"/>
            <p:nvPr/>
          </p:nvSpPr>
          <p:spPr>
            <a:xfrm>
              <a:off x="1052512" y="5022056"/>
              <a:ext cx="2123587" cy="228600"/>
            </a:xfrm>
            <a:prstGeom prst="rect">
              <a:avLst/>
            </a:prstGeom>
            <a:noFill/>
            <a:ln>
              <a:noFill/>
            </a:ln>
          </p:spPr>
          <p:txBody>
            <a:bodyPr wrap="none" lIns="0" tIns="0" rIns="0" bIns="0" anchor="t" anchorCtr="0">
              <a:spAutoFit/>
            </a:bodyPr>
            <a:lstStyle/>
            <a:p>
              <a:pPr algn="l"/>
              <a:r>
                <a:rPr lang="zh-CN" sz="1125" b="1" dirty="0">
                  <a:solidFill>
                    <a:srgbClr val="2B2D33"/>
                  </a:solidFill>
                  <a:latin typeface="Apple SD Gothic Neo"/>
                  <a:ea typeface="Malgun Gothic"/>
                  <a:cs typeface="Apple SD Gothic Neo"/>
                </a:rPr>
                <a:t>HDI(인간개발지수)가 오를수록 자살률도 오른다</a:t>
              </a:r>
            </a:p>
          </p:txBody>
        </p:sp>
        <p:sp>
          <p:nvSpPr>
            <p:cNvPr id="12" name="TextBox 12"/>
            <p:cNvSpPr txBox="1"/>
            <p:nvPr/>
          </p:nvSpPr>
          <p:spPr>
            <a:xfrm>
              <a:off x="1051560" y="5356860"/>
              <a:ext cx="3062859" cy="243840"/>
            </a:xfrm>
            <a:prstGeom prst="rect">
              <a:avLst/>
            </a:prstGeom>
            <a:noFill/>
            <a:ln>
              <a:noFill/>
            </a:ln>
          </p:spPr>
          <p:txBody>
            <a:bodyPr wrap="none" lIns="0" tIns="0" rIns="0" bIns="0" anchor="t" anchorCtr="0">
              <a:spAutoFit/>
            </a:bodyPr>
            <a:lstStyle/>
            <a:p>
              <a:pPr algn="l"/>
              <a:r>
                <a:rPr lang="zh-CN" sz="1200" dirty="0">
                  <a:solidFill>
                    <a:srgbClr val="5C6470"/>
                  </a:solidFill>
                  <a:latin typeface="Apple SD Gothic Neo"/>
                  <a:ea typeface="Malgun Gothic"/>
                  <a:cs typeface="Apple SD Gothic Neo"/>
                </a:rPr>
                <a:t xml:space="preserve">저개발 </a:t>
              </a:r>
              <a:r>
                <a:rPr lang="zh-CN" sz="1200" b="1" dirty="0">
                  <a:solidFill>
                    <a:srgbClr val="2A9D8F"/>
                  </a:solidFill>
                  <a:latin typeface="Apple SD Gothic Neo"/>
                  <a:ea typeface="Malgun Gothic"/>
                  <a:cs typeface="Apple SD Gothic Neo"/>
                </a:rPr>
                <a:t>8.5</a:t>
              </a:r>
              <a:r>
                <a:rPr lang="zh-CN" sz="1200" dirty="0">
                  <a:solidFill>
                    <a:srgbClr val="5C6470"/>
                  </a:solidFill>
                  <a:latin typeface="Apple SD Gothic Neo"/>
                  <a:ea typeface="Malgun Gothic"/>
                  <a:cs typeface="Apple SD Gothic Neo"/>
                </a:rPr>
                <a:t xml:space="preserve"> → 중하위 </a:t>
              </a:r>
              <a:r>
                <a:rPr lang="zh-CN" sz="1200" b="1" dirty="0">
                  <a:solidFill>
                    <a:srgbClr val="457B9D"/>
                  </a:solidFill>
                  <a:latin typeface="Apple SD Gothic Neo"/>
                  <a:ea typeface="Malgun Gothic"/>
                  <a:cs typeface="Apple SD Gothic Neo"/>
                </a:rPr>
                <a:t>9.9</a:t>
              </a:r>
              <a:r>
                <a:rPr lang="zh-CN" sz="1200" dirty="0">
                  <a:solidFill>
                    <a:srgbClr val="5C6470"/>
                  </a:solidFill>
                  <a:latin typeface="Apple SD Gothic Neo"/>
                  <a:ea typeface="Malgun Gothic"/>
                  <a:cs typeface="Apple SD Gothic Neo"/>
                </a:rPr>
                <a:t xml:space="preserve"> → 중상위 </a:t>
              </a:r>
              <a:r>
                <a:rPr lang="zh-CN" sz="1200" b="1" dirty="0">
                  <a:solidFill>
                    <a:srgbClr val="E63946"/>
                  </a:solidFill>
                  <a:latin typeface="Apple SD Gothic Neo"/>
                  <a:ea typeface="Malgun Gothic"/>
                  <a:cs typeface="Apple SD Gothic Neo"/>
                </a:rPr>
                <a:t>13.0</a:t>
              </a:r>
              <a:r>
                <a:rPr lang="zh-CN" sz="1200" dirty="0">
                  <a:solidFill>
                    <a:srgbClr val="5C6470"/>
                  </a:solidFill>
                  <a:latin typeface="Apple SD Gothic Neo"/>
                  <a:ea typeface="Malgun Gothic"/>
                  <a:cs typeface="Apple SD Gothic Neo"/>
                </a:rPr>
                <a:t xml:space="preserve"> → 고개발 </a:t>
              </a:r>
              <a:r>
                <a:rPr lang="zh-CN" sz="1200" b="1" dirty="0">
                  <a:solidFill>
                    <a:srgbClr val="E63946"/>
                  </a:solidFill>
                  <a:latin typeface="Apple SD Gothic Neo"/>
                  <a:ea typeface="Malgun Gothic"/>
                  <a:cs typeface="Apple SD Gothic Neo"/>
                </a:rPr>
                <a:t>13.5</a:t>
              </a:r>
            </a:p>
          </p:txBody>
        </p:sp>
        <p:sp>
          <p:nvSpPr>
            <p:cNvPr id="13" name="TextBox 13"/>
            <p:cNvSpPr txBox="1"/>
            <p:nvPr/>
          </p:nvSpPr>
          <p:spPr>
            <a:xfrm>
              <a:off x="1054418" y="5724049"/>
              <a:ext cx="1474446" cy="198120"/>
            </a:xfrm>
            <a:prstGeom prst="rect">
              <a:avLst/>
            </a:prstGeom>
            <a:noFill/>
            <a:ln>
              <a:noFill/>
            </a:ln>
          </p:spPr>
          <p:txBody>
            <a:bodyPr wrap="none" lIns="0" tIns="0" rIns="0" bIns="0" anchor="t" anchorCtr="0">
              <a:spAutoFit/>
            </a:bodyPr>
            <a:lstStyle/>
            <a:p>
              <a:pPr algn="l"/>
              <a:r>
                <a:rPr lang="zh-CN" sz="975" dirty="0">
                  <a:solidFill>
                    <a:srgbClr val="9AA3AF"/>
                  </a:solidFill>
                  <a:latin typeface="Apple SD Gothic Neo"/>
                  <a:ea typeface="Malgun Gothic"/>
                  <a:cs typeface="Apple SD Gothic Neo"/>
                </a:rPr>
                <a:t>10만명당 평균 자살률 — 단조 증가 패턴</a:t>
              </a:r>
            </a:p>
          </p:txBody>
        </p:sp>
      </p:grpSp>
      <p:grpSp>
        <p:nvGrpSpPr>
          <p:cNvPr id="21" name="Group 21"/>
          <p:cNvGrpSpPr/>
          <p:nvPr/>
        </p:nvGrpSpPr>
        <p:grpSpPr>
          <a:xfrm>
            <a:off x="6210300" y="4819650"/>
            <a:ext cx="5219700" cy="1276350"/>
            <a:chOff x="6210300" y="4819650"/>
            <a:chExt cx="5219700" cy="1276350"/>
          </a:xfrm>
        </p:grpSpPr>
        <p:sp>
          <p:nvSpPr>
            <p:cNvPr id="15" name="Rectangle 15"/>
            <p:cNvSpPr/>
            <p:nvPr/>
          </p:nvSpPr>
          <p:spPr>
            <a:xfrm>
              <a:off x="6210300" y="4819650"/>
              <a:ext cx="5219700" cy="1276350"/>
            </a:xfrm>
            <a:prstGeom prst="roundRect">
              <a:avLst>
                <a:gd name="adj" fmla="val 8955"/>
              </a:avLst>
            </a:prstGeom>
            <a:solidFill>
              <a:srgbClr val="1E3A5F"/>
            </a:solidFill>
            <a:ln>
              <a:noFill/>
            </a:ln>
          </p:spPr>
        </p:sp>
        <p:grpSp>
          <p:nvGrpSpPr>
            <p:cNvPr id="18" name="Group 18"/>
            <p:cNvGrpSpPr/>
            <p:nvPr/>
          </p:nvGrpSpPr>
          <p:grpSpPr>
            <a:xfrm>
              <a:off x="6574244" y="5204562"/>
              <a:ext cx="262428" cy="334225"/>
              <a:chOff x="6574244" y="5204562"/>
              <a:chExt cx="262428" cy="334225"/>
            </a:xfrm>
          </p:grpSpPr>
          <p:sp>
            <p:nvSpPr>
              <p:cNvPr id="16" name="Freeform 16"/>
              <p:cNvSpPr/>
              <p:nvPr/>
            </p:nvSpPr>
            <p:spPr>
              <a:xfrm>
                <a:off x="6586180" y="5216545"/>
                <a:ext cx="238514" cy="262711"/>
              </a:xfrm>
              <a:custGeom>
                <a:avLst/>
                <a:gdLst/>
                <a:ahLst/>
                <a:cxnLst/>
                <a:rect l="l" t="t" r="r" b="b"/>
                <a:pathLst>
                  <a:path w="238514" h="262711">
                    <a:moveTo>
                      <a:pt x="238482" y="119836"/>
                    </a:moveTo>
                    <a:cubicBezTo>
                      <a:pt x="238514" y="156391"/>
                      <a:pt x="221724" y="190927"/>
                      <a:pt x="192956" y="213479"/>
                    </a:cubicBezTo>
                    <a:cubicBezTo>
                      <a:pt x="184170" y="220288"/>
                      <a:pt x="179005" y="230760"/>
                      <a:pt x="178951" y="241876"/>
                    </a:cubicBezTo>
                    <a:lnTo>
                      <a:pt x="178951" y="250805"/>
                    </a:lnTo>
                    <a:cubicBezTo>
                      <a:pt x="178951" y="257381"/>
                      <a:pt x="173620" y="262711"/>
                      <a:pt x="167045" y="262711"/>
                    </a:cubicBezTo>
                    <a:lnTo>
                      <a:pt x="71795" y="262711"/>
                    </a:lnTo>
                    <a:cubicBezTo>
                      <a:pt x="65219" y="262711"/>
                      <a:pt x="59888" y="257381"/>
                      <a:pt x="59888" y="250805"/>
                    </a:cubicBezTo>
                    <a:lnTo>
                      <a:pt x="59888" y="241876"/>
                    </a:lnTo>
                    <a:cubicBezTo>
                      <a:pt x="59877" y="230821"/>
                      <a:pt x="54771" y="220389"/>
                      <a:pt x="46047" y="213598"/>
                    </a:cubicBezTo>
                    <a:cubicBezTo>
                      <a:pt x="17371" y="191197"/>
                      <a:pt x="536" y="156895"/>
                      <a:pt x="357" y="120506"/>
                    </a:cubicBezTo>
                    <a:cubicBezTo>
                      <a:pt x="0" y="55974"/>
                      <a:pt x="52030" y="2262"/>
                      <a:pt x="116547" y="774"/>
                    </a:cubicBezTo>
                    <a:cubicBezTo>
                      <a:pt x="148619" y="0"/>
                      <a:pt x="179647" y="12202"/>
                      <a:pt x="202600" y="34615"/>
                    </a:cubicBezTo>
                    <a:cubicBezTo>
                      <a:pt x="225554" y="57028"/>
                      <a:pt x="238492" y="87755"/>
                      <a:pt x="238482" y="119836"/>
                    </a:cubicBezTo>
                    <a:close/>
                  </a:path>
                </a:pathLst>
              </a:custGeom>
              <a:solidFill>
                <a:srgbClr val="F4A7AE">
                  <a:alpha val="20000"/>
                </a:srgbClr>
              </a:solidFill>
              <a:ln>
                <a:noFill/>
              </a:ln>
            </p:spPr>
          </p:sp>
          <p:sp>
            <p:nvSpPr>
              <p:cNvPr id="17" name="Freeform 17"/>
              <p:cNvSpPr/>
              <p:nvPr/>
            </p:nvSpPr>
            <p:spPr>
              <a:xfrm>
                <a:off x="6574244" y="5204562"/>
                <a:ext cx="262428" cy="334225"/>
              </a:xfrm>
              <a:custGeom>
                <a:avLst/>
                <a:gdLst/>
                <a:ahLst/>
                <a:cxnLst/>
                <a:rect l="l" t="t" r="r" b="b"/>
                <a:pathLst>
                  <a:path w="262428" h="334225">
                    <a:moveTo>
                      <a:pt x="202793" y="322319"/>
                    </a:moveTo>
                    <a:cubicBezTo>
                      <a:pt x="202793" y="328895"/>
                      <a:pt x="197463" y="334225"/>
                      <a:pt x="190887" y="334225"/>
                    </a:cubicBezTo>
                    <a:lnTo>
                      <a:pt x="71824" y="334225"/>
                    </a:lnTo>
                    <a:cubicBezTo>
                      <a:pt x="65249" y="334225"/>
                      <a:pt x="59918" y="328895"/>
                      <a:pt x="59918" y="322319"/>
                    </a:cubicBezTo>
                    <a:cubicBezTo>
                      <a:pt x="59918" y="315743"/>
                      <a:pt x="65249" y="310413"/>
                      <a:pt x="71824" y="310413"/>
                    </a:cubicBezTo>
                    <a:lnTo>
                      <a:pt x="190887" y="310413"/>
                    </a:lnTo>
                    <a:cubicBezTo>
                      <a:pt x="197463" y="310413"/>
                      <a:pt x="202793" y="315743"/>
                      <a:pt x="202793" y="322319"/>
                    </a:cubicBezTo>
                    <a:close/>
                    <a:moveTo>
                      <a:pt x="262324" y="131819"/>
                    </a:moveTo>
                    <a:cubicBezTo>
                      <a:pt x="262428" y="172041"/>
                      <a:pt x="243951" y="210056"/>
                      <a:pt x="212259" y="234823"/>
                    </a:cubicBezTo>
                    <a:cubicBezTo>
                      <a:pt x="206333" y="239365"/>
                      <a:pt x="202839" y="246391"/>
                      <a:pt x="202793" y="253858"/>
                    </a:cubicBezTo>
                    <a:lnTo>
                      <a:pt x="202793" y="262788"/>
                    </a:lnTo>
                    <a:cubicBezTo>
                      <a:pt x="202793" y="275939"/>
                      <a:pt x="192132" y="286600"/>
                      <a:pt x="178981" y="286600"/>
                    </a:cubicBezTo>
                    <a:lnTo>
                      <a:pt x="83731" y="286600"/>
                    </a:lnTo>
                    <a:cubicBezTo>
                      <a:pt x="70579" y="286600"/>
                      <a:pt x="59918" y="275939"/>
                      <a:pt x="59918" y="262788"/>
                    </a:cubicBezTo>
                    <a:lnTo>
                      <a:pt x="59918" y="253858"/>
                    </a:lnTo>
                    <a:cubicBezTo>
                      <a:pt x="59913" y="246480"/>
                      <a:pt x="56489" y="239521"/>
                      <a:pt x="50646" y="235016"/>
                    </a:cubicBezTo>
                    <a:cubicBezTo>
                      <a:pt x="19037" y="210399"/>
                      <a:pt x="503" y="172613"/>
                      <a:pt x="387" y="132548"/>
                    </a:cubicBezTo>
                    <a:cubicBezTo>
                      <a:pt x="0" y="61617"/>
                      <a:pt x="57329" y="2547"/>
                      <a:pt x="128201" y="850"/>
                    </a:cubicBezTo>
                    <a:cubicBezTo>
                      <a:pt x="163479" y="0"/>
                      <a:pt x="197608" y="13422"/>
                      <a:pt x="222856" y="38076"/>
                    </a:cubicBezTo>
                    <a:cubicBezTo>
                      <a:pt x="248104" y="62731"/>
                      <a:pt x="262335" y="96530"/>
                      <a:pt x="262324" y="131819"/>
                    </a:cubicBezTo>
                    <a:close/>
                    <a:moveTo>
                      <a:pt x="238512" y="131819"/>
                    </a:moveTo>
                    <a:cubicBezTo>
                      <a:pt x="238520" y="102945"/>
                      <a:pt x="226876" y="75289"/>
                      <a:pt x="206217" y="55118"/>
                    </a:cubicBezTo>
                    <a:cubicBezTo>
                      <a:pt x="185557" y="34946"/>
                      <a:pt x="157632" y="23965"/>
                      <a:pt x="128766" y="24663"/>
                    </a:cubicBezTo>
                    <a:cubicBezTo>
                      <a:pt x="70723" y="26032"/>
                      <a:pt x="23887" y="74356"/>
                      <a:pt x="24199" y="132399"/>
                    </a:cubicBezTo>
                    <a:cubicBezTo>
                      <a:pt x="24310" y="165166"/>
                      <a:pt x="39478" y="196063"/>
                      <a:pt x="65336" y="216190"/>
                    </a:cubicBezTo>
                    <a:cubicBezTo>
                      <a:pt x="76961" y="225227"/>
                      <a:pt x="83752" y="239133"/>
                      <a:pt x="83731" y="253858"/>
                    </a:cubicBezTo>
                    <a:lnTo>
                      <a:pt x="83731" y="262788"/>
                    </a:lnTo>
                    <a:lnTo>
                      <a:pt x="178981" y="262788"/>
                    </a:lnTo>
                    <a:lnTo>
                      <a:pt x="178981" y="253858"/>
                    </a:lnTo>
                    <a:cubicBezTo>
                      <a:pt x="179014" y="239092"/>
                      <a:pt x="185863" y="225169"/>
                      <a:pt x="197540" y="216130"/>
                    </a:cubicBezTo>
                    <a:cubicBezTo>
                      <a:pt x="223480" y="195858"/>
                      <a:pt x="238602" y="164741"/>
                      <a:pt x="238512" y="131819"/>
                    </a:cubicBezTo>
                    <a:close/>
                    <a:moveTo>
                      <a:pt x="214536" y="117918"/>
                    </a:moveTo>
                    <a:cubicBezTo>
                      <a:pt x="208213" y="82599"/>
                      <a:pt x="180562" y="54954"/>
                      <a:pt x="145241" y="48639"/>
                    </a:cubicBezTo>
                    <a:cubicBezTo>
                      <a:pt x="138756" y="47546"/>
                      <a:pt x="132613" y="51917"/>
                      <a:pt x="131519" y="58402"/>
                    </a:cubicBezTo>
                    <a:cubicBezTo>
                      <a:pt x="130426" y="64887"/>
                      <a:pt x="134797" y="71031"/>
                      <a:pt x="141283" y="72124"/>
                    </a:cubicBezTo>
                    <a:cubicBezTo>
                      <a:pt x="165943" y="76276"/>
                      <a:pt x="186869" y="97201"/>
                      <a:pt x="191051" y="121907"/>
                    </a:cubicBezTo>
                    <a:cubicBezTo>
                      <a:pt x="192023" y="127633"/>
                      <a:pt x="196985" y="131821"/>
                      <a:pt x="202793" y="131819"/>
                    </a:cubicBezTo>
                    <a:cubicBezTo>
                      <a:pt x="203466" y="131815"/>
                      <a:pt x="204138" y="131760"/>
                      <a:pt x="204802" y="131655"/>
                    </a:cubicBezTo>
                    <a:cubicBezTo>
                      <a:pt x="211283" y="130549"/>
                      <a:pt x="215640" y="124399"/>
                      <a:pt x="214536" y="117918"/>
                    </a:cubicBezTo>
                    <a:close/>
                  </a:path>
                </a:pathLst>
              </a:custGeom>
              <a:solidFill>
                <a:srgbClr val="F4A7AE"/>
              </a:solidFill>
              <a:ln>
                <a:noFill/>
              </a:ln>
            </p:spPr>
          </p:sp>
        </p:grpSp>
        <p:sp>
          <p:nvSpPr>
            <p:cNvPr id="19" name="TextBox 19"/>
            <p:cNvSpPr txBox="1"/>
            <p:nvPr/>
          </p:nvSpPr>
          <p:spPr>
            <a:xfrm>
              <a:off x="7108508" y="5120164"/>
              <a:ext cx="1871165"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pple SD Gothic Neo"/>
                  <a:ea typeface="Malgun Gothic"/>
                  <a:cs typeface="Apple SD Gothic Neo"/>
                </a:rPr>
                <a:t>경제 성장만으로는 자살을 막을 수 없다</a:t>
              </a:r>
            </a:p>
          </p:txBody>
        </p:sp>
        <p:sp>
          <p:nvSpPr>
            <p:cNvPr id="20" name="TextBox 20"/>
            <p:cNvSpPr txBox="1"/>
            <p:nvPr/>
          </p:nvSpPr>
          <p:spPr>
            <a:xfrm>
              <a:off x="7111365" y="5430202"/>
              <a:ext cx="1880235" cy="441960"/>
            </a:xfrm>
            <a:prstGeom prst="rect">
              <a:avLst/>
            </a:prstGeom>
            <a:noFill/>
            <a:ln>
              <a:noFill/>
            </a:ln>
          </p:spPr>
          <p:txBody>
            <a:bodyPr wrap="square" lIns="0" tIns="0" rIns="0" bIns="0" anchor="t" anchorCtr="0"/>
            <a:lstStyle/>
            <a:p>
              <a:pPr algn="l">
                <a:lnSpc>
                  <a:spcPts val="1800"/>
                </a:lnSpc>
              </a:pPr>
              <a:r>
                <a:rPr lang="zh-CN" sz="1050" dirty="0">
                  <a:solidFill>
                    <a:srgbClr val="B9C6D6"/>
                  </a:solidFill>
                  <a:latin typeface="Apple SD Gothic Neo"/>
                  <a:ea typeface="Malgun Gothic"/>
                  <a:cs typeface="Apple SD Gothic Neo"/>
                </a:rPr>
                <a:t xml:space="preserve">성장 정책과 정신건강 정책은 별도 트랙으로 — </a:t>
              </a:r>
              <a:r>
                <a:rPr lang="zh-CN" sz="1050" dirty="0">
                  <a:solidFill>
                    <a:srgbClr val="B9C6D6"/>
                  </a:solidFill>
                  <a:latin typeface="Apple SD Gothic Neo"/>
                  <a:ea typeface="Malgun Gothic"/>
                  <a:cs typeface="Apple SD Gothic Neo"/>
                </a:rPr>
                <a:t>정신건강 인프라·사회 안전망에 대한 동반 투자 필요</a:t>
              </a:r>
            </a:p>
          </p:txBody>
        </p:sp>
      </p:grpSp>
      <p:grpSp>
        <p:nvGrpSpPr>
          <p:cNvPr id="24" name="Group 24"/>
          <p:cNvGrpSpPr/>
          <p:nvPr/>
        </p:nvGrpSpPr>
        <p:grpSpPr>
          <a:xfrm>
            <a:off x="751522" y="6483191"/>
            <a:ext cx="10688955" cy="167640"/>
            <a:chOff x="751522" y="6483191"/>
            <a:chExt cx="10688955" cy="167640"/>
          </a:xfrm>
        </p:grpSpPr>
        <p:sp>
          <p:nvSpPr>
            <p:cNvPr id="22" name="TextBox 22"/>
            <p:cNvSpPr txBox="1"/>
            <p:nvPr/>
          </p:nvSpPr>
          <p:spPr>
            <a:xfrm>
              <a:off x="751522" y="6483191"/>
              <a:ext cx="3321368" cy="167640"/>
            </a:xfrm>
            <a:prstGeom prst="rect">
              <a:avLst/>
            </a:prstGeom>
            <a:noFill/>
            <a:ln>
              <a:noFill/>
            </a:ln>
          </p:spPr>
          <p:txBody>
            <a:bodyPr wrap="none" lIns="0" tIns="0" rIns="0" bIns="0" anchor="t" anchorCtr="0">
              <a:spAutoFit/>
            </a:bodyPr>
            <a:lstStyle/>
            <a:p>
              <a:pPr algn="l"/>
              <a:r>
                <a:rPr lang="zh-CN" sz="825" dirty="0">
                  <a:solidFill>
                    <a:srgbClr val="9AA3AF"/>
                  </a:solidFill>
                  <a:latin typeface="Apple SD Gothic Neo"/>
                  <a:ea typeface="Malgun Gothic"/>
                  <a:cs typeface="Apple SD Gothic Neo"/>
                </a:rPr>
                <a:t>Source: 자체 분석 — HDI 구간별 평균 (결측 70%는 중앙값 0.779 대체, 한계점 P13 참조)</a:t>
              </a:r>
            </a:p>
          </p:txBody>
        </p:sp>
        <p:sp>
          <p:nvSpPr>
            <p:cNvPr id="23" name="TextBox 23"/>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lide(fromBottom)">
                                      <p:cBhvr>
                                        <p:cTn id="1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5234797" cy="671512"/>
            <a:chOff x="762000" y="476250"/>
            <a:chExt cx="5234797"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5034772"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80% 정확도의 위험 식별은 예방 자원 배분의 근거가 된다</a:t>
              </a:r>
            </a:p>
          </p:txBody>
        </p:sp>
        <p:sp>
          <p:nvSpPr>
            <p:cNvPr id="5" name="TextBox 5"/>
            <p:cNvSpPr txBox="1"/>
            <p:nvPr/>
          </p:nvSpPr>
          <p:spPr>
            <a:xfrm>
              <a:off x="977265" y="934402"/>
              <a:ext cx="1048448"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05 기대효과 · 활용방안</a:t>
              </a:r>
            </a:p>
          </p:txBody>
        </p:sp>
      </p:grpSp>
      <p:grpSp>
        <p:nvGrpSpPr>
          <p:cNvPr id="9" name="Group 9"/>
          <p:cNvGrpSpPr/>
          <p:nvPr/>
        </p:nvGrpSpPr>
        <p:grpSpPr>
          <a:xfrm>
            <a:off x="762000" y="1390650"/>
            <a:ext cx="1524000" cy="326231"/>
            <a:chOff x="762000" y="1390650"/>
            <a:chExt cx="1524000" cy="326231"/>
          </a:xfrm>
        </p:grpSpPr>
        <p:sp>
          <p:nvSpPr>
            <p:cNvPr id="7" name="Rectangle 7"/>
            <p:cNvSpPr/>
            <p:nvPr/>
          </p:nvSpPr>
          <p:spPr>
            <a:xfrm>
              <a:off x="762000" y="1390650"/>
              <a:ext cx="1524000" cy="323850"/>
            </a:xfrm>
            <a:prstGeom prst="roundRect">
              <a:avLst>
                <a:gd name="adj" fmla="val 50000"/>
              </a:avLst>
            </a:prstGeom>
            <a:solidFill>
              <a:srgbClr val="1E3A5F"/>
            </a:solidFill>
            <a:ln>
              <a:noFill/>
            </a:ln>
          </p:spPr>
        </p:sp>
        <p:sp>
          <p:nvSpPr>
            <p:cNvPr id="8" name="TextBox 8"/>
            <p:cNvSpPr txBox="1"/>
            <p:nvPr/>
          </p:nvSpPr>
          <p:spPr>
            <a:xfrm>
              <a:off x="1336441" y="1488281"/>
              <a:ext cx="3751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pple SD Gothic Neo"/>
                  <a:ea typeface="Malgun Gothic"/>
                  <a:cs typeface="Apple SD Gothic Neo"/>
                </a:rPr>
                <a:t>기대효과</a:t>
              </a:r>
            </a:p>
          </p:txBody>
        </p:sp>
      </p:grpSp>
      <p:grpSp>
        <p:nvGrpSpPr>
          <p:cNvPr id="17" name="Group 17"/>
          <p:cNvGrpSpPr/>
          <p:nvPr/>
        </p:nvGrpSpPr>
        <p:grpSpPr>
          <a:xfrm>
            <a:off x="762000" y="1866900"/>
            <a:ext cx="3429000" cy="1714500"/>
            <a:chOff x="762000" y="1866900"/>
            <a:chExt cx="3429000" cy="1714500"/>
          </a:xfrm>
        </p:grpSpPr>
        <p:sp>
          <p:nvSpPr>
            <p:cNvPr id="10" name="Rectangle 10"/>
            <p:cNvSpPr/>
            <p:nvPr/>
          </p:nvSpPr>
          <p:spPr>
            <a:xfrm>
              <a:off x="762000" y="1866900"/>
              <a:ext cx="3429000" cy="1714500"/>
            </a:xfrm>
            <a:prstGeom prst="roundRect">
              <a:avLst>
                <a:gd name="adj" fmla="val 7778"/>
              </a:avLst>
            </a:prstGeom>
            <a:solidFill>
              <a:srgbClr val="FFFFFF"/>
            </a:solidFill>
            <a:ln w="9525">
              <a:solidFill>
                <a:srgbClr val="D8DEE6"/>
              </a:solidFill>
            </a:ln>
          </p:spPr>
        </p:sp>
        <p:sp>
          <p:nvSpPr>
            <p:cNvPr id="11" name="Rectangle 11"/>
            <p:cNvSpPr/>
            <p:nvPr/>
          </p:nvSpPr>
          <p:spPr>
            <a:xfrm>
              <a:off x="1028700" y="2114550"/>
              <a:ext cx="495300" cy="495300"/>
            </a:xfrm>
            <a:prstGeom prst="roundRect">
              <a:avLst>
                <a:gd name="adj" fmla="val 25000"/>
              </a:avLst>
            </a:prstGeom>
            <a:solidFill>
              <a:srgbClr val="1E3A5F">
                <a:alpha val="8000"/>
              </a:srgbClr>
            </a:solidFill>
            <a:ln>
              <a:noFill/>
            </a:ln>
          </p:spPr>
        </p:sp>
        <p:grpSp>
          <p:nvGrpSpPr>
            <p:cNvPr id="14" name="Group 14"/>
            <p:cNvGrpSpPr/>
            <p:nvPr/>
          </p:nvGrpSpPr>
          <p:grpSpPr>
            <a:xfrm>
              <a:off x="1122194" y="2209939"/>
              <a:ext cx="310688" cy="308538"/>
              <a:chOff x="1122194" y="2209939"/>
              <a:chExt cx="310688" cy="308538"/>
            </a:xfrm>
          </p:grpSpPr>
          <p:sp>
            <p:nvSpPr>
              <p:cNvPr id="12" name="Freeform 12"/>
              <p:cNvSpPr/>
              <p:nvPr/>
            </p:nvSpPr>
            <p:spPr>
              <a:xfrm>
                <a:off x="1212056" y="229790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E3A5F">
                  <a:alpha val="20000"/>
                </a:srgbClr>
              </a:solidFill>
              <a:ln>
                <a:noFill/>
              </a:ln>
            </p:spPr>
          </p:sp>
          <p:sp>
            <p:nvSpPr>
              <p:cNvPr id="13" name="Freeform 13"/>
              <p:cNvSpPr/>
              <p:nvPr/>
            </p:nvSpPr>
            <p:spPr>
              <a:xfrm>
                <a:off x="1122194" y="2209939"/>
                <a:ext cx="310688" cy="308538"/>
              </a:xfrm>
              <a:custGeom>
                <a:avLst/>
                <a:gdLst/>
                <a:ahLst/>
                <a:cxnLst/>
                <a:rect l="l" t="t" r="r" b="b"/>
                <a:pathLst>
                  <a:path w="310688" h="308538">
                    <a:moveTo>
                      <a:pt x="279890" y="92200"/>
                    </a:moveTo>
                    <a:cubicBezTo>
                      <a:pt x="310688" y="156613"/>
                      <a:pt x="287855" y="233884"/>
                      <a:pt x="226992" y="271211"/>
                    </a:cubicBezTo>
                    <a:cubicBezTo>
                      <a:pt x="166129" y="308538"/>
                      <a:pt x="86903" y="293860"/>
                      <a:pt x="43452" y="237207"/>
                    </a:cubicBezTo>
                    <a:cubicBezTo>
                      <a:pt x="0" y="180554"/>
                      <a:pt x="6363" y="100232"/>
                      <a:pt x="58192" y="51127"/>
                    </a:cubicBezTo>
                    <a:cubicBezTo>
                      <a:pt x="110021" y="2021"/>
                      <a:pt x="190570" y="0"/>
                      <a:pt x="244797" y="46444"/>
                    </a:cubicBezTo>
                    <a:lnTo>
                      <a:pt x="275162" y="16065"/>
                    </a:lnTo>
                    <a:cubicBezTo>
                      <a:pt x="279349" y="11878"/>
                      <a:pt x="286138" y="11878"/>
                      <a:pt x="290325" y="16065"/>
                    </a:cubicBezTo>
                    <a:cubicBezTo>
                      <a:pt x="294512" y="20252"/>
                      <a:pt x="294512" y="27041"/>
                      <a:pt x="290325" y="31228"/>
                    </a:cubicBezTo>
                    <a:lnTo>
                      <a:pt x="161737" y="159815"/>
                    </a:lnTo>
                    <a:cubicBezTo>
                      <a:pt x="157550" y="164002"/>
                      <a:pt x="150762" y="164002"/>
                      <a:pt x="146574" y="159815"/>
                    </a:cubicBezTo>
                    <a:cubicBezTo>
                      <a:pt x="142387" y="155628"/>
                      <a:pt x="142387" y="148840"/>
                      <a:pt x="146574" y="144653"/>
                    </a:cubicBezTo>
                    <a:lnTo>
                      <a:pt x="183704" y="107523"/>
                    </a:lnTo>
                    <a:cubicBezTo>
                      <a:pt x="162988" y="93822"/>
                      <a:pt x="135572" y="96155"/>
                      <a:pt x="117468" y="113158"/>
                    </a:cubicBezTo>
                    <a:cubicBezTo>
                      <a:pt x="99365" y="130162"/>
                      <a:pt x="95320" y="157378"/>
                      <a:pt x="107697" y="178911"/>
                    </a:cubicBezTo>
                    <a:cubicBezTo>
                      <a:pt x="120074" y="200445"/>
                      <a:pt x="145627" y="210649"/>
                      <a:pt x="169432" y="203564"/>
                    </a:cubicBezTo>
                    <a:cubicBezTo>
                      <a:pt x="193237" y="196479"/>
                      <a:pt x="209052" y="173963"/>
                      <a:pt x="207640" y="149167"/>
                    </a:cubicBezTo>
                    <a:cubicBezTo>
                      <a:pt x="207307" y="143248"/>
                      <a:pt x="211835" y="138181"/>
                      <a:pt x="217753" y="137848"/>
                    </a:cubicBezTo>
                    <a:cubicBezTo>
                      <a:pt x="223671" y="137515"/>
                      <a:pt x="228739" y="142043"/>
                      <a:pt x="229071" y="147961"/>
                    </a:cubicBezTo>
                    <a:cubicBezTo>
                      <a:pt x="231084" y="183081"/>
                      <a:pt x="208419" y="214882"/>
                      <a:pt x="174565" y="224440"/>
                    </a:cubicBezTo>
                    <a:cubicBezTo>
                      <a:pt x="140710" y="233998"/>
                      <a:pt x="104761" y="218744"/>
                      <a:pt x="88110" y="187756"/>
                    </a:cubicBezTo>
                    <a:cubicBezTo>
                      <a:pt x="71459" y="156769"/>
                      <a:pt x="78580" y="118372"/>
                      <a:pt x="105235" y="95416"/>
                    </a:cubicBezTo>
                    <a:cubicBezTo>
                      <a:pt x="131891" y="72460"/>
                      <a:pt x="170918" y="71111"/>
                      <a:pt x="199094" y="92173"/>
                    </a:cubicBezTo>
                    <a:lnTo>
                      <a:pt x="229567" y="61700"/>
                    </a:lnTo>
                    <a:cubicBezTo>
                      <a:pt x="183323" y="23306"/>
                      <a:pt x="115580" y="25918"/>
                      <a:pt x="72430" y="67761"/>
                    </a:cubicBezTo>
                    <a:cubicBezTo>
                      <a:pt x="29281" y="109603"/>
                      <a:pt x="24586" y="177234"/>
                      <a:pt x="61540" y="224637"/>
                    </a:cubicBezTo>
                    <a:cubicBezTo>
                      <a:pt x="98494" y="272040"/>
                      <a:pt x="165227" y="283988"/>
                      <a:pt x="216332" y="252351"/>
                    </a:cubicBezTo>
                    <a:cubicBezTo>
                      <a:pt x="267438" y="220714"/>
                      <a:pt x="286500" y="155656"/>
                      <a:pt x="260549" y="101442"/>
                    </a:cubicBezTo>
                    <a:cubicBezTo>
                      <a:pt x="257996" y="96101"/>
                      <a:pt x="260257" y="89702"/>
                      <a:pt x="265598" y="87150"/>
                    </a:cubicBezTo>
                    <a:cubicBezTo>
                      <a:pt x="270939" y="84598"/>
                      <a:pt x="277338" y="86859"/>
                      <a:pt x="279890" y="92200"/>
                    </a:cubicBezTo>
                    <a:close/>
                  </a:path>
                </a:pathLst>
              </a:custGeom>
              <a:solidFill>
                <a:srgbClr val="1E3A5F"/>
              </a:solidFill>
              <a:ln>
                <a:noFill/>
              </a:ln>
            </p:spPr>
          </p:sp>
        </p:grpSp>
        <p:sp>
          <p:nvSpPr>
            <p:cNvPr id="15" name="TextBox 15"/>
            <p:cNvSpPr txBox="1"/>
            <p:nvPr/>
          </p:nvSpPr>
          <p:spPr>
            <a:xfrm>
              <a:off x="1011555" y="2826068"/>
              <a:ext cx="97940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고위험군 사전 식별</a:t>
              </a:r>
            </a:p>
          </p:txBody>
        </p:sp>
        <p:sp>
          <p:nvSpPr>
            <p:cNvPr id="16" name="TextBox 16"/>
            <p:cNvSpPr txBox="1"/>
            <p:nvPr/>
          </p:nvSpPr>
          <p:spPr>
            <a:xfrm>
              <a:off x="1015365" y="3106102"/>
              <a:ext cx="1533525"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정확도 80.18% 모델로 개입이 필요한 </a:t>
              </a:r>
              <a:r>
                <a:rPr lang="zh-CN" sz="1050" dirty="0">
                  <a:solidFill>
                    <a:srgbClr val="5C6470"/>
                  </a:solidFill>
                  <a:latin typeface="Apple SD Gothic Neo"/>
                  <a:ea typeface="Malgun Gothic"/>
                  <a:cs typeface="Apple SD Gothic Neo"/>
                </a:rPr>
                <a:t>집단을 데이터로 먼저 찾는다</a:t>
              </a:r>
            </a:p>
          </p:txBody>
        </p:sp>
      </p:grpSp>
      <p:grpSp>
        <p:nvGrpSpPr>
          <p:cNvPr id="25" name="Group 25"/>
          <p:cNvGrpSpPr/>
          <p:nvPr/>
        </p:nvGrpSpPr>
        <p:grpSpPr>
          <a:xfrm>
            <a:off x="4381500" y="1866900"/>
            <a:ext cx="3429000" cy="1714500"/>
            <a:chOff x="4381500" y="1866900"/>
            <a:chExt cx="3429000" cy="1714500"/>
          </a:xfrm>
        </p:grpSpPr>
        <p:sp>
          <p:nvSpPr>
            <p:cNvPr id="18" name="Rectangle 18"/>
            <p:cNvSpPr/>
            <p:nvPr/>
          </p:nvSpPr>
          <p:spPr>
            <a:xfrm>
              <a:off x="4381500" y="1866900"/>
              <a:ext cx="3429000" cy="1714500"/>
            </a:xfrm>
            <a:prstGeom prst="roundRect">
              <a:avLst>
                <a:gd name="adj" fmla="val 7778"/>
              </a:avLst>
            </a:prstGeom>
            <a:solidFill>
              <a:srgbClr val="FFFFFF"/>
            </a:solidFill>
            <a:ln w="9525">
              <a:solidFill>
                <a:srgbClr val="D8DEE6"/>
              </a:solidFill>
            </a:ln>
          </p:spPr>
        </p:sp>
        <p:sp>
          <p:nvSpPr>
            <p:cNvPr id="19" name="Rectangle 19"/>
            <p:cNvSpPr/>
            <p:nvPr/>
          </p:nvSpPr>
          <p:spPr>
            <a:xfrm>
              <a:off x="4648200" y="2114550"/>
              <a:ext cx="495300" cy="495300"/>
            </a:xfrm>
            <a:prstGeom prst="roundRect">
              <a:avLst>
                <a:gd name="adj" fmla="val 25000"/>
              </a:avLst>
            </a:prstGeom>
            <a:solidFill>
              <a:srgbClr val="1E3A5F">
                <a:alpha val="8000"/>
              </a:srgbClr>
            </a:solidFill>
            <a:ln>
              <a:noFill/>
            </a:ln>
          </p:spPr>
        </p:sp>
        <p:grpSp>
          <p:nvGrpSpPr>
            <p:cNvPr id="22" name="Group 22"/>
            <p:cNvGrpSpPr/>
            <p:nvPr/>
          </p:nvGrpSpPr>
          <p:grpSpPr>
            <a:xfrm>
              <a:off x="4726707" y="2245536"/>
              <a:ext cx="339097" cy="225311"/>
              <a:chOff x="4726707" y="2245536"/>
              <a:chExt cx="339097" cy="225311"/>
            </a:xfrm>
          </p:grpSpPr>
          <p:sp>
            <p:nvSpPr>
              <p:cNvPr id="20" name="Freeform 20"/>
              <p:cNvSpPr/>
              <p:nvPr/>
            </p:nvSpPr>
            <p:spPr>
              <a:xfrm>
                <a:off x="4767262" y="2265759"/>
                <a:ext cx="139303" cy="139303"/>
              </a:xfrm>
              <a:custGeom>
                <a:avLst/>
                <a:gdLst/>
                <a:ahLst/>
                <a:cxnLst/>
                <a:rect l="l" t="t" r="r" b="b"/>
                <a:pathLst>
                  <a:path w="139303" h="139303">
                    <a:moveTo>
                      <a:pt x="139303" y="69652"/>
                    </a:moveTo>
                    <a:cubicBezTo>
                      <a:pt x="139303" y="108119"/>
                      <a:pt x="108119" y="139303"/>
                      <a:pt x="69652" y="139303"/>
                    </a:cubicBezTo>
                    <a:cubicBezTo>
                      <a:pt x="31184" y="139303"/>
                      <a:pt x="0" y="108119"/>
                      <a:pt x="0" y="69652"/>
                    </a:cubicBezTo>
                    <a:cubicBezTo>
                      <a:pt x="0" y="31184"/>
                      <a:pt x="31184" y="0"/>
                      <a:pt x="69652" y="0"/>
                    </a:cubicBezTo>
                    <a:cubicBezTo>
                      <a:pt x="108119" y="0"/>
                      <a:pt x="139303" y="31184"/>
                      <a:pt x="139303" y="69652"/>
                    </a:cubicBezTo>
                    <a:close/>
                  </a:path>
                </a:pathLst>
              </a:custGeom>
              <a:solidFill>
                <a:srgbClr val="1E3A5F">
                  <a:alpha val="20000"/>
                </a:srgbClr>
              </a:solidFill>
              <a:ln>
                <a:noFill/>
              </a:ln>
            </p:spPr>
          </p:sp>
          <p:sp>
            <p:nvSpPr>
              <p:cNvPr id="21" name="Freeform 21"/>
              <p:cNvSpPr/>
              <p:nvPr/>
            </p:nvSpPr>
            <p:spPr>
              <a:xfrm>
                <a:off x="4726707" y="2245536"/>
                <a:ext cx="339097" cy="225311"/>
              </a:xfrm>
              <a:custGeom>
                <a:avLst/>
                <a:gdLst/>
                <a:ahLst/>
                <a:cxnLst/>
                <a:rect l="l" t="t" r="r" b="b"/>
                <a:pathLst>
                  <a:path w="339097" h="225311">
                    <a:moveTo>
                      <a:pt x="154744" y="156740"/>
                    </a:moveTo>
                    <a:cubicBezTo>
                      <a:pt x="184231" y="137109"/>
                      <a:pt x="197388" y="100485"/>
                      <a:pt x="187133" y="66577"/>
                    </a:cubicBezTo>
                    <a:cubicBezTo>
                      <a:pt x="176878" y="32669"/>
                      <a:pt x="145632" y="9475"/>
                      <a:pt x="110207" y="9475"/>
                    </a:cubicBezTo>
                    <a:cubicBezTo>
                      <a:pt x="74782" y="9475"/>
                      <a:pt x="43535" y="32669"/>
                      <a:pt x="33281" y="66577"/>
                    </a:cubicBezTo>
                    <a:cubicBezTo>
                      <a:pt x="23026" y="100485"/>
                      <a:pt x="36182" y="137109"/>
                      <a:pt x="65670" y="156740"/>
                    </a:cubicBezTo>
                    <a:cubicBezTo>
                      <a:pt x="39691" y="166315"/>
                      <a:pt x="17505" y="184033"/>
                      <a:pt x="2421" y="207251"/>
                    </a:cubicBezTo>
                    <a:cubicBezTo>
                      <a:pt x="264" y="210457"/>
                      <a:pt x="0" y="214577"/>
                      <a:pt x="1731" y="218033"/>
                    </a:cubicBezTo>
                    <a:cubicBezTo>
                      <a:pt x="3463" y="221488"/>
                      <a:pt x="6920" y="223744"/>
                      <a:pt x="10781" y="223935"/>
                    </a:cubicBezTo>
                    <a:cubicBezTo>
                      <a:pt x="14641" y="224127"/>
                      <a:pt x="18305" y="222225"/>
                      <a:pt x="20370" y="218958"/>
                    </a:cubicBezTo>
                    <a:cubicBezTo>
                      <a:pt x="40138" y="188554"/>
                      <a:pt x="73942" y="170212"/>
                      <a:pt x="110207" y="170212"/>
                    </a:cubicBezTo>
                    <a:cubicBezTo>
                      <a:pt x="146472" y="170212"/>
                      <a:pt x="180276" y="188554"/>
                      <a:pt x="200044" y="218958"/>
                    </a:cubicBezTo>
                    <a:cubicBezTo>
                      <a:pt x="203314" y="223818"/>
                      <a:pt x="209882" y="225152"/>
                      <a:pt x="214789" y="221951"/>
                    </a:cubicBezTo>
                    <a:cubicBezTo>
                      <a:pt x="219695" y="218751"/>
                      <a:pt x="221123" y="212203"/>
                      <a:pt x="217993" y="207251"/>
                    </a:cubicBezTo>
                    <a:cubicBezTo>
                      <a:pt x="202909" y="184033"/>
                      <a:pt x="180722" y="166315"/>
                      <a:pt x="154744" y="156740"/>
                    </a:cubicBezTo>
                    <a:close/>
                    <a:moveTo>
                      <a:pt x="51271" y="89875"/>
                    </a:moveTo>
                    <a:cubicBezTo>
                      <a:pt x="51271" y="57325"/>
                      <a:pt x="77657" y="30939"/>
                      <a:pt x="110207" y="30939"/>
                    </a:cubicBezTo>
                    <a:cubicBezTo>
                      <a:pt x="142756" y="30939"/>
                      <a:pt x="169143" y="57325"/>
                      <a:pt x="169143" y="89875"/>
                    </a:cubicBezTo>
                    <a:cubicBezTo>
                      <a:pt x="169143" y="122424"/>
                      <a:pt x="142756" y="148810"/>
                      <a:pt x="110207" y="148810"/>
                    </a:cubicBezTo>
                    <a:cubicBezTo>
                      <a:pt x="77673" y="148774"/>
                      <a:pt x="51308" y="122409"/>
                      <a:pt x="51271" y="89875"/>
                    </a:cubicBezTo>
                    <a:close/>
                    <a:moveTo>
                      <a:pt x="332744" y="222079"/>
                    </a:moveTo>
                    <a:cubicBezTo>
                      <a:pt x="327787" y="225311"/>
                      <a:pt x="321149" y="223914"/>
                      <a:pt x="317916" y="218958"/>
                    </a:cubicBezTo>
                    <a:cubicBezTo>
                      <a:pt x="298170" y="188534"/>
                      <a:pt x="264349" y="170193"/>
                      <a:pt x="228079" y="170242"/>
                    </a:cubicBezTo>
                    <a:cubicBezTo>
                      <a:pt x="222161" y="170242"/>
                      <a:pt x="217363" y="165444"/>
                      <a:pt x="217363" y="159526"/>
                    </a:cubicBezTo>
                    <a:cubicBezTo>
                      <a:pt x="217363" y="153608"/>
                      <a:pt x="222161" y="148810"/>
                      <a:pt x="228079" y="148810"/>
                    </a:cubicBezTo>
                    <a:cubicBezTo>
                      <a:pt x="251815" y="148788"/>
                      <a:pt x="273221" y="134529"/>
                      <a:pt x="282387" y="112634"/>
                    </a:cubicBezTo>
                    <a:cubicBezTo>
                      <a:pt x="291553" y="90740"/>
                      <a:pt x="286691" y="65483"/>
                      <a:pt x="270050" y="48557"/>
                    </a:cubicBezTo>
                    <a:cubicBezTo>
                      <a:pt x="253410" y="31631"/>
                      <a:pt x="228240" y="26339"/>
                      <a:pt x="206192" y="35131"/>
                    </a:cubicBezTo>
                    <a:cubicBezTo>
                      <a:pt x="202613" y="36678"/>
                      <a:pt x="198477" y="36159"/>
                      <a:pt x="195391" y="33777"/>
                    </a:cubicBezTo>
                    <a:cubicBezTo>
                      <a:pt x="192305" y="31394"/>
                      <a:pt x="190757" y="27523"/>
                      <a:pt x="191348" y="23670"/>
                    </a:cubicBezTo>
                    <a:cubicBezTo>
                      <a:pt x="191940" y="19816"/>
                      <a:pt x="194577" y="16588"/>
                      <a:pt x="198236" y="15240"/>
                    </a:cubicBezTo>
                    <a:cubicBezTo>
                      <a:pt x="236450" y="0"/>
                      <a:pt x="280002" y="16080"/>
                      <a:pt x="299145" y="52496"/>
                    </a:cubicBezTo>
                    <a:cubicBezTo>
                      <a:pt x="318287" y="88912"/>
                      <a:pt x="306837" y="133904"/>
                      <a:pt x="272616" y="156740"/>
                    </a:cubicBezTo>
                    <a:cubicBezTo>
                      <a:pt x="298594" y="166315"/>
                      <a:pt x="320781" y="184033"/>
                      <a:pt x="335865" y="207251"/>
                    </a:cubicBezTo>
                    <a:cubicBezTo>
                      <a:pt x="339097" y="212207"/>
                      <a:pt x="337699" y="218845"/>
                      <a:pt x="332744" y="222079"/>
                    </a:cubicBezTo>
                    <a:close/>
                  </a:path>
                </a:pathLst>
              </a:custGeom>
              <a:solidFill>
                <a:srgbClr val="1E3A5F"/>
              </a:solidFill>
              <a:ln>
                <a:noFill/>
              </a:ln>
            </p:spPr>
          </p:sp>
        </p:grpSp>
        <p:sp>
          <p:nvSpPr>
            <p:cNvPr id="23" name="TextBox 23"/>
            <p:cNvSpPr txBox="1"/>
            <p:nvPr/>
          </p:nvSpPr>
          <p:spPr>
            <a:xfrm>
              <a:off x="4631055" y="2826068"/>
              <a:ext cx="97940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타게팅 효율 극대화</a:t>
              </a:r>
            </a:p>
          </p:txBody>
        </p:sp>
        <p:sp>
          <p:nvSpPr>
            <p:cNvPr id="24" name="TextBox 24"/>
            <p:cNvSpPr txBox="1"/>
            <p:nvPr/>
          </p:nvSpPr>
          <p:spPr>
            <a:xfrm>
              <a:off x="4634865" y="3106102"/>
              <a:ext cx="1346835"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중요도 67%인 연령·성별 기준으로 </a:t>
              </a:r>
              <a:r>
                <a:rPr lang="zh-CN" sz="1050" dirty="0">
                  <a:solidFill>
                    <a:srgbClr val="5C6470"/>
                  </a:solidFill>
                  <a:latin typeface="Apple SD Gothic Neo"/>
                  <a:ea typeface="Malgun Gothic"/>
                  <a:cs typeface="Apple SD Gothic Neo"/>
                </a:rPr>
                <a:t>고연령 남성 집중 개입 설계</a:t>
              </a:r>
            </a:p>
          </p:txBody>
        </p:sp>
      </p:grpSp>
      <p:grpSp>
        <p:nvGrpSpPr>
          <p:cNvPr id="33" name="Group 33"/>
          <p:cNvGrpSpPr/>
          <p:nvPr/>
        </p:nvGrpSpPr>
        <p:grpSpPr>
          <a:xfrm>
            <a:off x="8001000" y="1866900"/>
            <a:ext cx="3429000" cy="1714500"/>
            <a:chOff x="8001000" y="1866900"/>
            <a:chExt cx="3429000" cy="1714500"/>
          </a:xfrm>
        </p:grpSpPr>
        <p:sp>
          <p:nvSpPr>
            <p:cNvPr id="26" name="Rectangle 26"/>
            <p:cNvSpPr/>
            <p:nvPr/>
          </p:nvSpPr>
          <p:spPr>
            <a:xfrm>
              <a:off x="8001000" y="1866900"/>
              <a:ext cx="3429000" cy="1714500"/>
            </a:xfrm>
            <a:prstGeom prst="roundRect">
              <a:avLst>
                <a:gd name="adj" fmla="val 7778"/>
              </a:avLst>
            </a:prstGeom>
            <a:solidFill>
              <a:srgbClr val="FFFFFF"/>
            </a:solidFill>
            <a:ln w="9525">
              <a:solidFill>
                <a:srgbClr val="D8DEE6"/>
              </a:solidFill>
            </a:ln>
          </p:spPr>
        </p:sp>
        <p:sp>
          <p:nvSpPr>
            <p:cNvPr id="27" name="Rectangle 27"/>
            <p:cNvSpPr/>
            <p:nvPr/>
          </p:nvSpPr>
          <p:spPr>
            <a:xfrm>
              <a:off x="8267700" y="2114550"/>
              <a:ext cx="495300" cy="495300"/>
            </a:xfrm>
            <a:prstGeom prst="roundRect">
              <a:avLst>
                <a:gd name="adj" fmla="val 25000"/>
              </a:avLst>
            </a:prstGeom>
            <a:solidFill>
              <a:srgbClr val="1E3A5F">
                <a:alpha val="8000"/>
              </a:srgbClr>
            </a:solidFill>
            <a:ln>
              <a:noFill/>
            </a:ln>
          </p:spPr>
        </p:sp>
        <p:grpSp>
          <p:nvGrpSpPr>
            <p:cNvPr id="30" name="Group 30"/>
            <p:cNvGrpSpPr/>
            <p:nvPr/>
          </p:nvGrpSpPr>
          <p:grpSpPr>
            <a:xfrm>
              <a:off x="8376047" y="2222897"/>
              <a:ext cx="278606" cy="278606"/>
              <a:chOff x="8376047" y="2222897"/>
              <a:chExt cx="278606" cy="278606"/>
            </a:xfrm>
          </p:grpSpPr>
          <p:sp>
            <p:nvSpPr>
              <p:cNvPr id="28" name="Freeform 28"/>
              <p:cNvSpPr/>
              <p:nvPr/>
            </p:nvSpPr>
            <p:spPr>
              <a:xfrm>
                <a:off x="8386762" y="2233612"/>
                <a:ext cx="257175" cy="257175"/>
              </a:xfrm>
              <a:custGeom>
                <a:avLst/>
                <a:gdLst/>
                <a:ahLst/>
                <a:cxnLst/>
                <a:rect l="l" t="t" r="r" b="b"/>
                <a:pathLst>
                  <a:path w="257175" h="257175">
                    <a:moveTo>
                      <a:pt x="257175" y="128588"/>
                    </a:moveTo>
                    <a:cubicBezTo>
                      <a:pt x="257175" y="199604"/>
                      <a:pt x="199604" y="257175"/>
                      <a:pt x="128588" y="257175"/>
                    </a:cubicBezTo>
                    <a:cubicBezTo>
                      <a:pt x="57571" y="257175"/>
                      <a:pt x="0" y="199604"/>
                      <a:pt x="0" y="128588"/>
                    </a:cubicBezTo>
                    <a:cubicBezTo>
                      <a:pt x="0" y="57571"/>
                      <a:pt x="57571" y="0"/>
                      <a:pt x="128588" y="0"/>
                    </a:cubicBezTo>
                    <a:cubicBezTo>
                      <a:pt x="199604" y="0"/>
                      <a:pt x="257175" y="57571"/>
                      <a:pt x="257175" y="128588"/>
                    </a:cubicBezTo>
                    <a:close/>
                  </a:path>
                </a:pathLst>
              </a:custGeom>
              <a:solidFill>
                <a:srgbClr val="1E3A5F">
                  <a:alpha val="20000"/>
                </a:srgbClr>
              </a:solidFill>
              <a:ln>
                <a:noFill/>
              </a:ln>
            </p:spPr>
          </p:sp>
          <p:sp>
            <p:nvSpPr>
              <p:cNvPr id="29" name="Freeform 29"/>
              <p:cNvSpPr/>
              <p:nvPr/>
            </p:nvSpPr>
            <p:spPr>
              <a:xfrm>
                <a:off x="8376047" y="2222897"/>
                <a:ext cx="278606" cy="278606"/>
              </a:xfrm>
              <a:custGeom>
                <a:avLst/>
                <a:gdLst/>
                <a:ahLst/>
                <a:cxnLst/>
                <a:rect l="l" t="t" r="r" b="b"/>
                <a:pathLst>
                  <a:path w="278606" h="278606">
                    <a:moveTo>
                      <a:pt x="139303" y="0"/>
                    </a:moveTo>
                    <a:cubicBezTo>
                      <a:pt x="62368" y="0"/>
                      <a:pt x="0" y="62368"/>
                      <a:pt x="0" y="139303"/>
                    </a:cubicBezTo>
                    <a:cubicBezTo>
                      <a:pt x="0" y="216238"/>
                      <a:pt x="62368" y="278606"/>
                      <a:pt x="139303" y="278606"/>
                    </a:cubicBezTo>
                    <a:cubicBezTo>
                      <a:pt x="216238" y="278606"/>
                      <a:pt x="278606" y="216238"/>
                      <a:pt x="278606" y="139303"/>
                    </a:cubicBezTo>
                    <a:cubicBezTo>
                      <a:pt x="278525" y="62402"/>
                      <a:pt x="216204" y="81"/>
                      <a:pt x="139303" y="0"/>
                    </a:cubicBezTo>
                    <a:close/>
                    <a:moveTo>
                      <a:pt x="103982" y="192881"/>
                    </a:moveTo>
                    <a:lnTo>
                      <a:pt x="174625" y="192881"/>
                    </a:lnTo>
                    <a:cubicBezTo>
                      <a:pt x="167432" y="217447"/>
                      <a:pt x="155377" y="239588"/>
                      <a:pt x="139303" y="257028"/>
                    </a:cubicBezTo>
                    <a:cubicBezTo>
                      <a:pt x="123230" y="239588"/>
                      <a:pt x="111175" y="217447"/>
                      <a:pt x="103982" y="192881"/>
                    </a:cubicBezTo>
                    <a:close/>
                    <a:moveTo>
                      <a:pt x="99120" y="171450"/>
                    </a:moveTo>
                    <a:cubicBezTo>
                      <a:pt x="95566" y="150166"/>
                      <a:pt x="95566" y="128440"/>
                      <a:pt x="99120" y="107156"/>
                    </a:cubicBezTo>
                    <a:lnTo>
                      <a:pt x="179487" y="107156"/>
                    </a:lnTo>
                    <a:cubicBezTo>
                      <a:pt x="183041" y="128440"/>
                      <a:pt x="183041" y="150166"/>
                      <a:pt x="179487" y="171450"/>
                    </a:cubicBezTo>
                    <a:close/>
                    <a:moveTo>
                      <a:pt x="21431" y="139303"/>
                    </a:moveTo>
                    <a:cubicBezTo>
                      <a:pt x="21422" y="128433"/>
                      <a:pt x="22923" y="117614"/>
                      <a:pt x="25892" y="107156"/>
                    </a:cubicBezTo>
                    <a:lnTo>
                      <a:pt x="77407" y="107156"/>
                    </a:lnTo>
                    <a:cubicBezTo>
                      <a:pt x="74210" y="128468"/>
                      <a:pt x="74210" y="150138"/>
                      <a:pt x="77407" y="171450"/>
                    </a:cubicBezTo>
                    <a:lnTo>
                      <a:pt x="25892" y="171450"/>
                    </a:lnTo>
                    <a:cubicBezTo>
                      <a:pt x="22923" y="160993"/>
                      <a:pt x="21422" y="150174"/>
                      <a:pt x="21431" y="139303"/>
                    </a:cubicBezTo>
                    <a:close/>
                    <a:moveTo>
                      <a:pt x="174625" y="85725"/>
                    </a:moveTo>
                    <a:lnTo>
                      <a:pt x="103982" y="85725"/>
                    </a:lnTo>
                    <a:cubicBezTo>
                      <a:pt x="111175" y="61159"/>
                      <a:pt x="123230" y="39018"/>
                      <a:pt x="139303" y="21579"/>
                    </a:cubicBezTo>
                    <a:cubicBezTo>
                      <a:pt x="155377" y="39018"/>
                      <a:pt x="167432" y="61159"/>
                      <a:pt x="174625" y="85725"/>
                    </a:cubicBezTo>
                    <a:close/>
                    <a:moveTo>
                      <a:pt x="201199" y="107156"/>
                    </a:moveTo>
                    <a:lnTo>
                      <a:pt x="252715" y="107156"/>
                    </a:lnTo>
                    <a:cubicBezTo>
                      <a:pt x="258662" y="128175"/>
                      <a:pt x="258662" y="150431"/>
                      <a:pt x="252715" y="171450"/>
                    </a:cubicBezTo>
                    <a:lnTo>
                      <a:pt x="201199" y="171450"/>
                    </a:lnTo>
                    <a:cubicBezTo>
                      <a:pt x="204396" y="150138"/>
                      <a:pt x="204396" y="128468"/>
                      <a:pt x="201199" y="107156"/>
                    </a:cubicBezTo>
                    <a:close/>
                    <a:moveTo>
                      <a:pt x="244276" y="85725"/>
                    </a:moveTo>
                    <a:lnTo>
                      <a:pt x="196819" y="85725"/>
                    </a:lnTo>
                    <a:cubicBezTo>
                      <a:pt x="191351" y="64207"/>
                      <a:pt x="182167" y="43809"/>
                      <a:pt x="169682" y="25450"/>
                    </a:cubicBezTo>
                    <a:cubicBezTo>
                      <a:pt x="201937" y="34118"/>
                      <a:pt x="229029" y="56009"/>
                      <a:pt x="244276" y="85725"/>
                    </a:cubicBezTo>
                    <a:close/>
                    <a:moveTo>
                      <a:pt x="108924" y="25450"/>
                    </a:moveTo>
                    <a:cubicBezTo>
                      <a:pt x="96439" y="43809"/>
                      <a:pt x="87256" y="64207"/>
                      <a:pt x="81787" y="85725"/>
                    </a:cubicBezTo>
                    <a:lnTo>
                      <a:pt x="34330" y="85725"/>
                    </a:lnTo>
                    <a:cubicBezTo>
                      <a:pt x="49577" y="56009"/>
                      <a:pt x="76669" y="34118"/>
                      <a:pt x="108924" y="25450"/>
                    </a:cubicBezTo>
                    <a:close/>
                    <a:moveTo>
                      <a:pt x="34330" y="192881"/>
                    </a:moveTo>
                    <a:lnTo>
                      <a:pt x="81787" y="192881"/>
                    </a:lnTo>
                    <a:cubicBezTo>
                      <a:pt x="87256" y="214399"/>
                      <a:pt x="96439" y="234798"/>
                      <a:pt x="108924" y="253157"/>
                    </a:cubicBezTo>
                    <a:cubicBezTo>
                      <a:pt x="76669" y="244489"/>
                      <a:pt x="49577" y="222597"/>
                      <a:pt x="34330" y="192881"/>
                    </a:cubicBezTo>
                    <a:close/>
                    <a:moveTo>
                      <a:pt x="169682" y="253157"/>
                    </a:moveTo>
                    <a:cubicBezTo>
                      <a:pt x="182167" y="234798"/>
                      <a:pt x="191351" y="214399"/>
                      <a:pt x="196819" y="192881"/>
                    </a:cubicBezTo>
                    <a:lnTo>
                      <a:pt x="244276" y="192881"/>
                    </a:lnTo>
                    <a:cubicBezTo>
                      <a:pt x="229029" y="222597"/>
                      <a:pt x="201937" y="244489"/>
                      <a:pt x="169682" y="253157"/>
                    </a:cubicBezTo>
                    <a:close/>
                  </a:path>
                </a:pathLst>
              </a:custGeom>
              <a:solidFill>
                <a:srgbClr val="1E3A5F"/>
              </a:solidFill>
              <a:ln>
                <a:noFill/>
              </a:ln>
            </p:spPr>
          </p:sp>
        </p:grpSp>
        <p:sp>
          <p:nvSpPr>
            <p:cNvPr id="31" name="TextBox 31"/>
            <p:cNvSpPr txBox="1"/>
            <p:nvPr/>
          </p:nvSpPr>
          <p:spPr>
            <a:xfrm>
              <a:off x="8250555" y="2826068"/>
              <a:ext cx="97940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국가군별 맞춤 정책</a:t>
              </a:r>
            </a:p>
          </p:txBody>
        </p:sp>
        <p:sp>
          <p:nvSpPr>
            <p:cNvPr id="32" name="TextBox 32"/>
            <p:cNvSpPr txBox="1"/>
            <p:nvPr/>
          </p:nvSpPr>
          <p:spPr>
            <a:xfrm>
              <a:off x="8254365" y="3106102"/>
              <a:ext cx="1326833"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3개 위험 군집 구분으로 국가 특성에 </a:t>
              </a:r>
              <a:r>
                <a:rPr lang="zh-CN" sz="1050" dirty="0">
                  <a:solidFill>
                    <a:srgbClr val="5C6470"/>
                  </a:solidFill>
                  <a:latin typeface="Apple SD Gothic Neo"/>
                  <a:ea typeface="Malgun Gothic"/>
                  <a:cs typeface="Apple SD Gothic Neo"/>
                </a:rPr>
                <a:t>맞는 차등 정책 설계 가능</a:t>
              </a:r>
            </a:p>
          </p:txBody>
        </p:sp>
      </p:grpSp>
      <p:grpSp>
        <p:nvGrpSpPr>
          <p:cNvPr id="36" name="Group 36"/>
          <p:cNvGrpSpPr/>
          <p:nvPr/>
        </p:nvGrpSpPr>
        <p:grpSpPr>
          <a:xfrm>
            <a:off x="762000" y="3848100"/>
            <a:ext cx="1524000" cy="326231"/>
            <a:chOff x="762000" y="3848100"/>
            <a:chExt cx="1524000" cy="326231"/>
          </a:xfrm>
        </p:grpSpPr>
        <p:sp>
          <p:nvSpPr>
            <p:cNvPr id="34" name="Rectangle 34"/>
            <p:cNvSpPr/>
            <p:nvPr/>
          </p:nvSpPr>
          <p:spPr>
            <a:xfrm>
              <a:off x="762000" y="3848100"/>
              <a:ext cx="1524000" cy="323850"/>
            </a:xfrm>
            <a:prstGeom prst="roundRect">
              <a:avLst>
                <a:gd name="adj" fmla="val 50000"/>
              </a:avLst>
            </a:prstGeom>
            <a:solidFill>
              <a:srgbClr val="E63946"/>
            </a:solidFill>
            <a:ln>
              <a:noFill/>
            </a:ln>
          </p:spPr>
        </p:sp>
        <p:sp>
          <p:nvSpPr>
            <p:cNvPr id="35" name="TextBox 35"/>
            <p:cNvSpPr txBox="1"/>
            <p:nvPr/>
          </p:nvSpPr>
          <p:spPr>
            <a:xfrm>
              <a:off x="1336441" y="3945731"/>
              <a:ext cx="3751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pple SD Gothic Neo"/>
                  <a:ea typeface="Malgun Gothic"/>
                  <a:cs typeface="Apple SD Gothic Neo"/>
                </a:rPr>
                <a:t>활용방안</a:t>
              </a:r>
            </a:p>
          </p:txBody>
        </p:sp>
      </p:grpSp>
      <p:grpSp>
        <p:nvGrpSpPr>
          <p:cNvPr id="44" name="Group 44"/>
          <p:cNvGrpSpPr/>
          <p:nvPr/>
        </p:nvGrpSpPr>
        <p:grpSpPr>
          <a:xfrm>
            <a:off x="762000" y="4324350"/>
            <a:ext cx="3429000" cy="1714500"/>
            <a:chOff x="762000" y="4324350"/>
            <a:chExt cx="3429000" cy="1714500"/>
          </a:xfrm>
        </p:grpSpPr>
        <p:sp>
          <p:nvSpPr>
            <p:cNvPr id="37" name="Rectangle 37"/>
            <p:cNvSpPr/>
            <p:nvPr/>
          </p:nvSpPr>
          <p:spPr>
            <a:xfrm>
              <a:off x="762000" y="4324350"/>
              <a:ext cx="3429000" cy="1714500"/>
            </a:xfrm>
            <a:prstGeom prst="roundRect">
              <a:avLst>
                <a:gd name="adj" fmla="val 7778"/>
              </a:avLst>
            </a:prstGeom>
            <a:solidFill>
              <a:srgbClr val="FFFFFF"/>
            </a:solidFill>
            <a:ln w="9525">
              <a:solidFill>
                <a:srgbClr val="D8DEE6"/>
              </a:solidFill>
            </a:ln>
          </p:spPr>
        </p:sp>
        <p:sp>
          <p:nvSpPr>
            <p:cNvPr id="38" name="Rectangle 38"/>
            <p:cNvSpPr/>
            <p:nvPr/>
          </p:nvSpPr>
          <p:spPr>
            <a:xfrm>
              <a:off x="1028700" y="4572000"/>
              <a:ext cx="495300" cy="495300"/>
            </a:xfrm>
            <a:prstGeom prst="roundRect">
              <a:avLst>
                <a:gd name="adj" fmla="val 25000"/>
              </a:avLst>
            </a:prstGeom>
            <a:solidFill>
              <a:srgbClr val="E63946">
                <a:alpha val="8000"/>
              </a:srgbClr>
            </a:solidFill>
            <a:ln>
              <a:noFill/>
            </a:ln>
          </p:spPr>
        </p:sp>
        <p:grpSp>
          <p:nvGrpSpPr>
            <p:cNvPr id="41" name="Group 41"/>
            <p:cNvGrpSpPr/>
            <p:nvPr/>
          </p:nvGrpSpPr>
          <p:grpSpPr>
            <a:xfrm>
              <a:off x="1146710" y="4691062"/>
              <a:ext cx="259280" cy="257175"/>
              <a:chOff x="1146710" y="4691062"/>
              <a:chExt cx="259280" cy="257175"/>
            </a:xfrm>
          </p:grpSpPr>
          <p:sp>
            <p:nvSpPr>
              <p:cNvPr id="39" name="Freeform 39"/>
              <p:cNvSpPr/>
              <p:nvPr/>
            </p:nvSpPr>
            <p:spPr>
              <a:xfrm>
                <a:off x="1158478" y="4862512"/>
                <a:ext cx="75009" cy="75009"/>
              </a:xfrm>
              <a:custGeom>
                <a:avLst/>
                <a:gdLst/>
                <a:ahLst/>
                <a:cxnLst/>
                <a:rect l="l" t="t" r="r" b="b"/>
                <a:pathLst>
                  <a:path w="75009" h="75009">
                    <a:moveTo>
                      <a:pt x="75009" y="37505"/>
                    </a:moveTo>
                    <a:cubicBezTo>
                      <a:pt x="75009" y="58218"/>
                      <a:pt x="58218" y="75009"/>
                      <a:pt x="37505" y="75009"/>
                    </a:cubicBezTo>
                    <a:cubicBezTo>
                      <a:pt x="16791" y="75009"/>
                      <a:pt x="0" y="58218"/>
                      <a:pt x="0" y="37505"/>
                    </a:cubicBezTo>
                    <a:cubicBezTo>
                      <a:pt x="0" y="16791"/>
                      <a:pt x="16791" y="0"/>
                      <a:pt x="37505" y="0"/>
                    </a:cubicBezTo>
                    <a:cubicBezTo>
                      <a:pt x="58218" y="0"/>
                      <a:pt x="75009" y="16791"/>
                      <a:pt x="75009" y="37505"/>
                    </a:cubicBezTo>
                    <a:close/>
                  </a:path>
                </a:pathLst>
              </a:custGeom>
              <a:solidFill>
                <a:srgbClr val="E63946">
                  <a:alpha val="20000"/>
                </a:srgbClr>
              </a:solidFill>
              <a:ln>
                <a:noFill/>
              </a:ln>
            </p:spPr>
          </p:sp>
          <p:sp>
            <p:nvSpPr>
              <p:cNvPr id="40" name="Freeform 40"/>
              <p:cNvSpPr/>
              <p:nvPr/>
            </p:nvSpPr>
            <p:spPr>
              <a:xfrm>
                <a:off x="1146710" y="4691062"/>
                <a:ext cx="259280" cy="257175"/>
              </a:xfrm>
              <a:custGeom>
                <a:avLst/>
                <a:gdLst/>
                <a:ahLst/>
                <a:cxnLst/>
                <a:rect l="l" t="t" r="r" b="b"/>
                <a:pathLst>
                  <a:path w="259280" h="257175">
                    <a:moveTo>
                      <a:pt x="49273" y="160734"/>
                    </a:moveTo>
                    <a:cubicBezTo>
                      <a:pt x="22642" y="160734"/>
                      <a:pt x="1053" y="182323"/>
                      <a:pt x="1053" y="208955"/>
                    </a:cubicBezTo>
                    <a:cubicBezTo>
                      <a:pt x="1053" y="235586"/>
                      <a:pt x="22642" y="257175"/>
                      <a:pt x="49273" y="257175"/>
                    </a:cubicBezTo>
                    <a:cubicBezTo>
                      <a:pt x="75904" y="257175"/>
                      <a:pt x="97493" y="235586"/>
                      <a:pt x="97493" y="208955"/>
                    </a:cubicBezTo>
                    <a:cubicBezTo>
                      <a:pt x="97493" y="182323"/>
                      <a:pt x="75904" y="160734"/>
                      <a:pt x="49273" y="160734"/>
                    </a:cubicBezTo>
                    <a:close/>
                    <a:moveTo>
                      <a:pt x="49273" y="235744"/>
                    </a:moveTo>
                    <a:cubicBezTo>
                      <a:pt x="34478" y="235744"/>
                      <a:pt x="22484" y="223750"/>
                      <a:pt x="22484" y="208955"/>
                    </a:cubicBezTo>
                    <a:cubicBezTo>
                      <a:pt x="22484" y="194159"/>
                      <a:pt x="34478" y="182166"/>
                      <a:pt x="49273" y="182166"/>
                    </a:cubicBezTo>
                    <a:cubicBezTo>
                      <a:pt x="64068" y="182166"/>
                      <a:pt x="76062" y="194159"/>
                      <a:pt x="76062" y="208955"/>
                    </a:cubicBezTo>
                    <a:cubicBezTo>
                      <a:pt x="76062" y="223750"/>
                      <a:pt x="64068" y="235744"/>
                      <a:pt x="49273" y="235744"/>
                    </a:cubicBezTo>
                    <a:close/>
                    <a:moveTo>
                      <a:pt x="4187" y="99575"/>
                    </a:moveTo>
                    <a:lnTo>
                      <a:pt x="23408" y="80367"/>
                    </a:lnTo>
                    <a:lnTo>
                      <a:pt x="4187" y="61159"/>
                    </a:lnTo>
                    <a:cubicBezTo>
                      <a:pt x="0" y="56972"/>
                      <a:pt x="0" y="50184"/>
                      <a:pt x="4187" y="45997"/>
                    </a:cubicBezTo>
                    <a:cubicBezTo>
                      <a:pt x="8374" y="41810"/>
                      <a:pt x="15163" y="41810"/>
                      <a:pt x="19350" y="45997"/>
                    </a:cubicBezTo>
                    <a:lnTo>
                      <a:pt x="38557" y="65218"/>
                    </a:lnTo>
                    <a:lnTo>
                      <a:pt x="57765" y="45997"/>
                    </a:lnTo>
                    <a:cubicBezTo>
                      <a:pt x="61952" y="41810"/>
                      <a:pt x="68741" y="41810"/>
                      <a:pt x="72928" y="45997"/>
                    </a:cubicBezTo>
                    <a:cubicBezTo>
                      <a:pt x="77115" y="50184"/>
                      <a:pt x="77115" y="56972"/>
                      <a:pt x="72928" y="61159"/>
                    </a:cubicBezTo>
                    <a:lnTo>
                      <a:pt x="53707" y="80367"/>
                    </a:lnTo>
                    <a:lnTo>
                      <a:pt x="72928" y="99575"/>
                    </a:lnTo>
                    <a:cubicBezTo>
                      <a:pt x="77115" y="103762"/>
                      <a:pt x="77115" y="110551"/>
                      <a:pt x="72928" y="114738"/>
                    </a:cubicBezTo>
                    <a:cubicBezTo>
                      <a:pt x="68741" y="118925"/>
                      <a:pt x="61952" y="118925"/>
                      <a:pt x="57765" y="114738"/>
                    </a:cubicBezTo>
                    <a:lnTo>
                      <a:pt x="38557" y="95516"/>
                    </a:lnTo>
                    <a:lnTo>
                      <a:pt x="19350" y="114738"/>
                    </a:lnTo>
                    <a:cubicBezTo>
                      <a:pt x="15163" y="118925"/>
                      <a:pt x="8374" y="118925"/>
                      <a:pt x="4187" y="114738"/>
                    </a:cubicBezTo>
                    <a:cubicBezTo>
                      <a:pt x="0" y="110551"/>
                      <a:pt x="0" y="103762"/>
                      <a:pt x="4187" y="99575"/>
                    </a:cubicBezTo>
                    <a:close/>
                    <a:moveTo>
                      <a:pt x="255093" y="228162"/>
                    </a:moveTo>
                    <a:cubicBezTo>
                      <a:pt x="259280" y="232349"/>
                      <a:pt x="259280" y="239138"/>
                      <a:pt x="255093" y="243325"/>
                    </a:cubicBezTo>
                    <a:cubicBezTo>
                      <a:pt x="250906" y="247512"/>
                      <a:pt x="244118" y="247512"/>
                      <a:pt x="239931" y="243325"/>
                    </a:cubicBezTo>
                    <a:lnTo>
                      <a:pt x="220723" y="224104"/>
                    </a:lnTo>
                    <a:lnTo>
                      <a:pt x="201515" y="243325"/>
                    </a:lnTo>
                    <a:cubicBezTo>
                      <a:pt x="197328" y="247512"/>
                      <a:pt x="190540" y="247512"/>
                      <a:pt x="186353" y="243325"/>
                    </a:cubicBezTo>
                    <a:cubicBezTo>
                      <a:pt x="182166" y="239138"/>
                      <a:pt x="182166" y="232349"/>
                      <a:pt x="186353" y="228162"/>
                    </a:cubicBezTo>
                    <a:lnTo>
                      <a:pt x="205574" y="208955"/>
                    </a:lnTo>
                    <a:lnTo>
                      <a:pt x="186353" y="189747"/>
                    </a:lnTo>
                    <a:cubicBezTo>
                      <a:pt x="182166" y="185560"/>
                      <a:pt x="182166" y="178771"/>
                      <a:pt x="186353" y="174584"/>
                    </a:cubicBezTo>
                    <a:cubicBezTo>
                      <a:pt x="190540" y="170397"/>
                      <a:pt x="197328" y="170397"/>
                      <a:pt x="201515" y="174584"/>
                    </a:cubicBezTo>
                    <a:lnTo>
                      <a:pt x="220723" y="193805"/>
                    </a:lnTo>
                    <a:lnTo>
                      <a:pt x="239931" y="174584"/>
                    </a:lnTo>
                    <a:cubicBezTo>
                      <a:pt x="244118" y="170397"/>
                      <a:pt x="250906" y="170397"/>
                      <a:pt x="255093" y="174584"/>
                    </a:cubicBezTo>
                    <a:cubicBezTo>
                      <a:pt x="259280" y="178771"/>
                      <a:pt x="259280" y="185560"/>
                      <a:pt x="255093" y="189747"/>
                    </a:cubicBezTo>
                    <a:lnTo>
                      <a:pt x="235872" y="208955"/>
                    </a:lnTo>
                    <a:close/>
                    <a:moveTo>
                      <a:pt x="194564" y="108268"/>
                    </a:moveTo>
                    <a:cubicBezTo>
                      <a:pt x="186286" y="138178"/>
                      <a:pt x="160649" y="164029"/>
                      <a:pt x="132239" y="171129"/>
                    </a:cubicBezTo>
                    <a:cubicBezTo>
                      <a:pt x="131363" y="171346"/>
                      <a:pt x="130463" y="171454"/>
                      <a:pt x="129560" y="171450"/>
                    </a:cubicBezTo>
                    <a:cubicBezTo>
                      <a:pt x="124153" y="171440"/>
                      <a:pt x="119601" y="167404"/>
                      <a:pt x="118943" y="162037"/>
                    </a:cubicBezTo>
                    <a:cubicBezTo>
                      <a:pt x="118286" y="156670"/>
                      <a:pt x="121730" y="151655"/>
                      <a:pt x="126975" y="150340"/>
                    </a:cubicBezTo>
                    <a:cubicBezTo>
                      <a:pt x="147910" y="145103"/>
                      <a:pt x="167627" y="125011"/>
                      <a:pt x="173856" y="102549"/>
                    </a:cubicBezTo>
                    <a:cubicBezTo>
                      <a:pt x="178128" y="87145"/>
                      <a:pt x="178169" y="63704"/>
                      <a:pt x="154152" y="39728"/>
                    </a:cubicBezTo>
                    <a:lnTo>
                      <a:pt x="151071" y="36580"/>
                    </a:lnTo>
                    <a:lnTo>
                      <a:pt x="151071" y="64294"/>
                    </a:lnTo>
                    <a:cubicBezTo>
                      <a:pt x="151071" y="70212"/>
                      <a:pt x="146274" y="75009"/>
                      <a:pt x="140356" y="75009"/>
                    </a:cubicBezTo>
                    <a:cubicBezTo>
                      <a:pt x="134438" y="75009"/>
                      <a:pt x="129640" y="70212"/>
                      <a:pt x="129640" y="64294"/>
                    </a:cubicBezTo>
                    <a:lnTo>
                      <a:pt x="129640" y="10716"/>
                    </a:lnTo>
                    <a:cubicBezTo>
                      <a:pt x="129640" y="4798"/>
                      <a:pt x="134438" y="0"/>
                      <a:pt x="140356" y="0"/>
                    </a:cubicBezTo>
                    <a:lnTo>
                      <a:pt x="193934" y="0"/>
                    </a:lnTo>
                    <a:cubicBezTo>
                      <a:pt x="199852" y="0"/>
                      <a:pt x="204650" y="4798"/>
                      <a:pt x="204650" y="10716"/>
                    </a:cubicBezTo>
                    <a:cubicBezTo>
                      <a:pt x="204650" y="16634"/>
                      <a:pt x="199852" y="21431"/>
                      <a:pt x="193934" y="21431"/>
                    </a:cubicBezTo>
                    <a:lnTo>
                      <a:pt x="166221" y="21431"/>
                    </a:lnTo>
                    <a:lnTo>
                      <a:pt x="169368" y="24566"/>
                    </a:lnTo>
                    <a:cubicBezTo>
                      <a:pt x="193800" y="49011"/>
                      <a:pt x="202748" y="78733"/>
                      <a:pt x="194564" y="108268"/>
                    </a:cubicBezTo>
                    <a:close/>
                  </a:path>
                </a:pathLst>
              </a:custGeom>
              <a:solidFill>
                <a:srgbClr val="E63946"/>
              </a:solidFill>
              <a:ln>
                <a:noFill/>
              </a:ln>
            </p:spPr>
          </p:sp>
        </p:grpSp>
        <p:sp>
          <p:nvSpPr>
            <p:cNvPr id="42" name="TextBox 42"/>
            <p:cNvSpPr txBox="1"/>
            <p:nvPr/>
          </p:nvSpPr>
          <p:spPr>
            <a:xfrm>
              <a:off x="1011555" y="5283518"/>
              <a:ext cx="97940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정책 우선순위 지표</a:t>
              </a:r>
            </a:p>
          </p:txBody>
        </p:sp>
        <p:sp>
          <p:nvSpPr>
            <p:cNvPr id="43" name="TextBox 43"/>
            <p:cNvSpPr txBox="1"/>
            <p:nvPr/>
          </p:nvSpPr>
          <p:spPr>
            <a:xfrm>
              <a:off x="1015365" y="5563552"/>
              <a:ext cx="1060133"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국가·지자체 자살예방 계획의 </a:t>
              </a:r>
              <a:r>
                <a:rPr lang="zh-CN" sz="1050" dirty="0">
                  <a:solidFill>
                    <a:srgbClr val="5C6470"/>
                  </a:solidFill>
                  <a:latin typeface="Apple SD Gothic Neo"/>
                  <a:ea typeface="Malgun Gothic"/>
                  <a:cs typeface="Apple SD Gothic Neo"/>
                </a:rPr>
                <a:t>근거 기반 우선순위 수립</a:t>
              </a:r>
            </a:p>
          </p:txBody>
        </p:sp>
      </p:grpSp>
      <p:grpSp>
        <p:nvGrpSpPr>
          <p:cNvPr id="52" name="Group 52"/>
          <p:cNvGrpSpPr/>
          <p:nvPr/>
        </p:nvGrpSpPr>
        <p:grpSpPr>
          <a:xfrm>
            <a:off x="4381500" y="4324350"/>
            <a:ext cx="3429000" cy="1714500"/>
            <a:chOff x="4381500" y="4324350"/>
            <a:chExt cx="3429000" cy="1714500"/>
          </a:xfrm>
        </p:grpSpPr>
        <p:sp>
          <p:nvSpPr>
            <p:cNvPr id="45" name="Rectangle 45"/>
            <p:cNvSpPr/>
            <p:nvPr/>
          </p:nvSpPr>
          <p:spPr>
            <a:xfrm>
              <a:off x="4381500" y="4324350"/>
              <a:ext cx="3429000" cy="1714500"/>
            </a:xfrm>
            <a:prstGeom prst="roundRect">
              <a:avLst>
                <a:gd name="adj" fmla="val 7778"/>
              </a:avLst>
            </a:prstGeom>
            <a:solidFill>
              <a:srgbClr val="FFFFFF"/>
            </a:solidFill>
            <a:ln w="9525">
              <a:solidFill>
                <a:srgbClr val="D8DEE6"/>
              </a:solidFill>
            </a:ln>
          </p:spPr>
        </p:sp>
        <p:sp>
          <p:nvSpPr>
            <p:cNvPr id="46" name="Rectangle 46"/>
            <p:cNvSpPr/>
            <p:nvPr/>
          </p:nvSpPr>
          <p:spPr>
            <a:xfrm>
              <a:off x="4648200" y="4572000"/>
              <a:ext cx="495300" cy="495300"/>
            </a:xfrm>
            <a:prstGeom prst="roundRect">
              <a:avLst>
                <a:gd name="adj" fmla="val 25000"/>
              </a:avLst>
            </a:prstGeom>
            <a:solidFill>
              <a:srgbClr val="E63946">
                <a:alpha val="8000"/>
              </a:srgbClr>
            </a:solidFill>
            <a:ln>
              <a:noFill/>
            </a:ln>
          </p:spPr>
        </p:sp>
        <p:grpSp>
          <p:nvGrpSpPr>
            <p:cNvPr id="49" name="Group 49"/>
            <p:cNvGrpSpPr/>
            <p:nvPr/>
          </p:nvGrpSpPr>
          <p:grpSpPr>
            <a:xfrm>
              <a:off x="4756547" y="4691062"/>
              <a:ext cx="278606" cy="246459"/>
              <a:chOff x="4756547" y="4691062"/>
              <a:chExt cx="278606" cy="246459"/>
            </a:xfrm>
          </p:grpSpPr>
          <p:sp>
            <p:nvSpPr>
              <p:cNvPr id="47" name="Freeform 47"/>
              <p:cNvSpPr/>
              <p:nvPr/>
            </p:nvSpPr>
            <p:spPr>
              <a:xfrm>
                <a:off x="4927997" y="4701778"/>
                <a:ext cx="75009" cy="225028"/>
              </a:xfrm>
              <a:custGeom>
                <a:avLst/>
                <a:gdLst/>
                <a:ahLst/>
                <a:cxnLst/>
                <a:rect l="l" t="t" r="r" b="b"/>
                <a:pathLst>
                  <a:path w="75009" h="225028">
                    <a:moveTo>
                      <a:pt x="75009" y="0"/>
                    </a:moveTo>
                    <a:lnTo>
                      <a:pt x="75009" y="225028"/>
                    </a:lnTo>
                    <a:lnTo>
                      <a:pt x="0" y="225028"/>
                    </a:lnTo>
                    <a:lnTo>
                      <a:pt x="0" y="0"/>
                    </a:lnTo>
                    <a:close/>
                  </a:path>
                </a:pathLst>
              </a:custGeom>
              <a:solidFill>
                <a:srgbClr val="E63946">
                  <a:alpha val="20000"/>
                </a:srgbClr>
              </a:solidFill>
              <a:ln>
                <a:noFill/>
              </a:ln>
            </p:spPr>
          </p:sp>
          <p:sp>
            <p:nvSpPr>
              <p:cNvPr id="48" name="Freeform 48"/>
              <p:cNvSpPr/>
              <p:nvPr/>
            </p:nvSpPr>
            <p:spPr>
              <a:xfrm>
                <a:off x="4756547" y="4691062"/>
                <a:ext cx="278606" cy="246459"/>
              </a:xfrm>
              <a:custGeom>
                <a:avLst/>
                <a:gdLst/>
                <a:ahLst/>
                <a:cxnLst/>
                <a:rect l="l" t="t" r="r" b="b"/>
                <a:pathLst>
                  <a:path w="278606" h="246459">
                    <a:moveTo>
                      <a:pt x="267891" y="225028"/>
                    </a:moveTo>
                    <a:lnTo>
                      <a:pt x="257175" y="225028"/>
                    </a:lnTo>
                    <a:lnTo>
                      <a:pt x="257175" y="10716"/>
                    </a:lnTo>
                    <a:cubicBezTo>
                      <a:pt x="257175" y="4798"/>
                      <a:pt x="252377" y="0"/>
                      <a:pt x="246459" y="0"/>
                    </a:cubicBezTo>
                    <a:lnTo>
                      <a:pt x="171450" y="0"/>
                    </a:lnTo>
                    <a:cubicBezTo>
                      <a:pt x="165532" y="0"/>
                      <a:pt x="160734" y="4798"/>
                      <a:pt x="160734" y="10716"/>
                    </a:cubicBezTo>
                    <a:lnTo>
                      <a:pt x="160734" y="64294"/>
                    </a:lnTo>
                    <a:lnTo>
                      <a:pt x="96441" y="64294"/>
                    </a:lnTo>
                    <a:cubicBezTo>
                      <a:pt x="90523" y="64294"/>
                      <a:pt x="85725" y="69091"/>
                      <a:pt x="85725" y="75009"/>
                    </a:cubicBezTo>
                    <a:lnTo>
                      <a:pt x="85725" y="128588"/>
                    </a:lnTo>
                    <a:lnTo>
                      <a:pt x="32147" y="128588"/>
                    </a:lnTo>
                    <a:cubicBezTo>
                      <a:pt x="26229" y="128588"/>
                      <a:pt x="21431" y="133385"/>
                      <a:pt x="21431" y="139303"/>
                    </a:cubicBezTo>
                    <a:lnTo>
                      <a:pt x="21431" y="225028"/>
                    </a:lnTo>
                    <a:lnTo>
                      <a:pt x="10716" y="225028"/>
                    </a:lnTo>
                    <a:cubicBezTo>
                      <a:pt x="4798" y="225028"/>
                      <a:pt x="0" y="229826"/>
                      <a:pt x="0" y="235744"/>
                    </a:cubicBezTo>
                    <a:cubicBezTo>
                      <a:pt x="0" y="241662"/>
                      <a:pt x="4798" y="246459"/>
                      <a:pt x="10716" y="246459"/>
                    </a:cubicBezTo>
                    <a:lnTo>
                      <a:pt x="267891" y="246459"/>
                    </a:lnTo>
                    <a:cubicBezTo>
                      <a:pt x="273809" y="246459"/>
                      <a:pt x="278606" y="241662"/>
                      <a:pt x="278606" y="235744"/>
                    </a:cubicBezTo>
                    <a:cubicBezTo>
                      <a:pt x="278606" y="229826"/>
                      <a:pt x="273809" y="225028"/>
                      <a:pt x="267891" y="225028"/>
                    </a:cubicBezTo>
                    <a:close/>
                    <a:moveTo>
                      <a:pt x="182166" y="21431"/>
                    </a:moveTo>
                    <a:lnTo>
                      <a:pt x="235744" y="21431"/>
                    </a:lnTo>
                    <a:lnTo>
                      <a:pt x="235744" y="225028"/>
                    </a:lnTo>
                    <a:lnTo>
                      <a:pt x="182166" y="225028"/>
                    </a:lnTo>
                    <a:close/>
                    <a:moveTo>
                      <a:pt x="107156" y="85725"/>
                    </a:moveTo>
                    <a:lnTo>
                      <a:pt x="160734" y="85725"/>
                    </a:lnTo>
                    <a:lnTo>
                      <a:pt x="160734" y="225028"/>
                    </a:lnTo>
                    <a:lnTo>
                      <a:pt x="107156" y="225028"/>
                    </a:lnTo>
                    <a:close/>
                    <a:moveTo>
                      <a:pt x="42862" y="150019"/>
                    </a:moveTo>
                    <a:lnTo>
                      <a:pt x="85725" y="150019"/>
                    </a:lnTo>
                    <a:lnTo>
                      <a:pt x="85725" y="225028"/>
                    </a:lnTo>
                    <a:lnTo>
                      <a:pt x="42862" y="225028"/>
                    </a:lnTo>
                    <a:close/>
                  </a:path>
                </a:pathLst>
              </a:custGeom>
              <a:solidFill>
                <a:srgbClr val="E63946"/>
              </a:solidFill>
              <a:ln>
                <a:noFill/>
              </a:ln>
            </p:spPr>
          </p:sp>
        </p:grpSp>
        <p:sp>
          <p:nvSpPr>
            <p:cNvPr id="50" name="TextBox 50"/>
            <p:cNvSpPr txBox="1"/>
            <p:nvPr/>
          </p:nvSpPr>
          <p:spPr>
            <a:xfrm>
              <a:off x="4631055" y="5283518"/>
              <a:ext cx="1083371"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예산 배분 시뮬레이션</a:t>
              </a:r>
            </a:p>
          </p:txBody>
        </p:sp>
        <p:sp>
          <p:nvSpPr>
            <p:cNvPr id="51" name="TextBox 51"/>
            <p:cNvSpPr txBox="1"/>
            <p:nvPr/>
          </p:nvSpPr>
          <p:spPr>
            <a:xfrm>
              <a:off x="4634865" y="5563552"/>
              <a:ext cx="1100138"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고위험 군집 국가·집단 우선의 </a:t>
              </a:r>
              <a:r>
                <a:rPr lang="zh-CN" sz="1050" dirty="0">
                  <a:solidFill>
                    <a:srgbClr val="5C6470"/>
                  </a:solidFill>
                  <a:latin typeface="Apple SD Gothic Neo"/>
                  <a:ea typeface="Malgun Gothic"/>
                  <a:cs typeface="Apple SD Gothic Neo"/>
                </a:rPr>
                <a:t>보건 예산 배분 검증</a:t>
              </a:r>
            </a:p>
          </p:txBody>
        </p:sp>
      </p:grpSp>
      <p:grpSp>
        <p:nvGrpSpPr>
          <p:cNvPr id="60" name="Group 60"/>
          <p:cNvGrpSpPr/>
          <p:nvPr/>
        </p:nvGrpSpPr>
        <p:grpSpPr>
          <a:xfrm>
            <a:off x="8001000" y="4324350"/>
            <a:ext cx="3429000" cy="1714500"/>
            <a:chOff x="8001000" y="4324350"/>
            <a:chExt cx="3429000" cy="1714500"/>
          </a:xfrm>
        </p:grpSpPr>
        <p:sp>
          <p:nvSpPr>
            <p:cNvPr id="53" name="Rectangle 53"/>
            <p:cNvSpPr/>
            <p:nvPr/>
          </p:nvSpPr>
          <p:spPr>
            <a:xfrm>
              <a:off x="8001000" y="4324350"/>
              <a:ext cx="3429000" cy="1714500"/>
            </a:xfrm>
            <a:prstGeom prst="roundRect">
              <a:avLst>
                <a:gd name="adj" fmla="val 7778"/>
              </a:avLst>
            </a:prstGeom>
            <a:solidFill>
              <a:srgbClr val="FFFFFF"/>
            </a:solidFill>
            <a:ln w="9525">
              <a:solidFill>
                <a:srgbClr val="D8DEE6"/>
              </a:solidFill>
            </a:ln>
          </p:spPr>
        </p:sp>
        <p:sp>
          <p:nvSpPr>
            <p:cNvPr id="54" name="Rectangle 54"/>
            <p:cNvSpPr/>
            <p:nvPr/>
          </p:nvSpPr>
          <p:spPr>
            <a:xfrm>
              <a:off x="8267700" y="4572000"/>
              <a:ext cx="495300" cy="495300"/>
            </a:xfrm>
            <a:prstGeom prst="roundRect">
              <a:avLst>
                <a:gd name="adj" fmla="val 25000"/>
              </a:avLst>
            </a:prstGeom>
            <a:solidFill>
              <a:srgbClr val="E63946">
                <a:alpha val="8000"/>
              </a:srgbClr>
            </a:solidFill>
            <a:ln>
              <a:noFill/>
            </a:ln>
          </p:spPr>
        </p:sp>
        <p:grpSp>
          <p:nvGrpSpPr>
            <p:cNvPr id="57" name="Group 57"/>
            <p:cNvGrpSpPr/>
            <p:nvPr/>
          </p:nvGrpSpPr>
          <p:grpSpPr>
            <a:xfrm>
              <a:off x="8365331" y="4691062"/>
              <a:ext cx="300038" cy="257594"/>
              <a:chOff x="8365331" y="4691062"/>
              <a:chExt cx="300038" cy="257594"/>
            </a:xfrm>
          </p:grpSpPr>
          <p:sp>
            <p:nvSpPr>
              <p:cNvPr id="55" name="Freeform 55"/>
              <p:cNvSpPr/>
              <p:nvPr/>
            </p:nvSpPr>
            <p:spPr>
              <a:xfrm>
                <a:off x="8376047" y="4701778"/>
                <a:ext cx="278606" cy="235744"/>
              </a:xfrm>
              <a:custGeom>
                <a:avLst/>
                <a:gdLst/>
                <a:ahLst/>
                <a:cxnLst/>
                <a:rect l="l" t="t" r="r" b="b"/>
                <a:pathLst>
                  <a:path w="278606" h="235744">
                    <a:moveTo>
                      <a:pt x="278606" y="72330"/>
                    </a:moveTo>
                    <a:cubicBezTo>
                      <a:pt x="278606" y="160734"/>
                      <a:pt x="139303" y="235744"/>
                      <a:pt x="139303" y="235744"/>
                    </a:cubicBezTo>
                    <a:cubicBezTo>
                      <a:pt x="139303" y="235744"/>
                      <a:pt x="0" y="160734"/>
                      <a:pt x="0" y="72330"/>
                    </a:cubicBezTo>
                    <a:cubicBezTo>
                      <a:pt x="0" y="32383"/>
                      <a:pt x="32383" y="0"/>
                      <a:pt x="72330" y="0"/>
                    </a:cubicBezTo>
                    <a:cubicBezTo>
                      <a:pt x="102589" y="0"/>
                      <a:pt x="128507" y="16489"/>
                      <a:pt x="139303" y="42862"/>
                    </a:cubicBezTo>
                    <a:cubicBezTo>
                      <a:pt x="150099" y="16489"/>
                      <a:pt x="176018" y="0"/>
                      <a:pt x="206276" y="0"/>
                    </a:cubicBezTo>
                    <a:cubicBezTo>
                      <a:pt x="246223" y="0"/>
                      <a:pt x="278606" y="32383"/>
                      <a:pt x="278606" y="72330"/>
                    </a:cubicBezTo>
                    <a:close/>
                  </a:path>
                </a:pathLst>
              </a:custGeom>
              <a:solidFill>
                <a:srgbClr val="E63946">
                  <a:alpha val="20000"/>
                </a:srgbClr>
              </a:solidFill>
              <a:ln>
                <a:noFill/>
              </a:ln>
            </p:spPr>
          </p:sp>
          <p:sp>
            <p:nvSpPr>
              <p:cNvPr id="56" name="Freeform 56"/>
              <p:cNvSpPr/>
              <p:nvPr/>
            </p:nvSpPr>
            <p:spPr>
              <a:xfrm>
                <a:off x="8365331" y="4691062"/>
                <a:ext cx="300038" cy="257594"/>
              </a:xfrm>
              <a:custGeom>
                <a:avLst/>
                <a:gdLst/>
                <a:ahLst/>
                <a:cxnLst/>
                <a:rect l="l" t="t" r="r" b="b"/>
                <a:pathLst>
                  <a:path w="300038" h="257594">
                    <a:moveTo>
                      <a:pt x="75009" y="139303"/>
                    </a:moveTo>
                    <a:lnTo>
                      <a:pt x="21431" y="139303"/>
                    </a:lnTo>
                    <a:cubicBezTo>
                      <a:pt x="15513" y="139303"/>
                      <a:pt x="10716" y="134506"/>
                      <a:pt x="10716" y="128588"/>
                    </a:cubicBezTo>
                    <a:cubicBezTo>
                      <a:pt x="10716" y="122669"/>
                      <a:pt x="15513" y="117872"/>
                      <a:pt x="21431" y="117872"/>
                    </a:cubicBezTo>
                    <a:lnTo>
                      <a:pt x="69277" y="117872"/>
                    </a:lnTo>
                    <a:lnTo>
                      <a:pt x="87520" y="90493"/>
                    </a:lnTo>
                    <a:cubicBezTo>
                      <a:pt x="89507" y="87508"/>
                      <a:pt x="92855" y="85715"/>
                      <a:pt x="96441" y="85715"/>
                    </a:cubicBezTo>
                    <a:cubicBezTo>
                      <a:pt x="100027" y="85715"/>
                      <a:pt x="103375" y="87508"/>
                      <a:pt x="105361" y="90493"/>
                    </a:cubicBezTo>
                    <a:lnTo>
                      <a:pt x="139303" y="141393"/>
                    </a:lnTo>
                    <a:lnTo>
                      <a:pt x="151814" y="122640"/>
                    </a:lnTo>
                    <a:cubicBezTo>
                      <a:pt x="153803" y="119659"/>
                      <a:pt x="157150" y="117870"/>
                      <a:pt x="160734" y="117872"/>
                    </a:cubicBezTo>
                    <a:lnTo>
                      <a:pt x="192881" y="117872"/>
                    </a:lnTo>
                    <a:cubicBezTo>
                      <a:pt x="198799" y="117872"/>
                      <a:pt x="203597" y="122669"/>
                      <a:pt x="203597" y="128588"/>
                    </a:cubicBezTo>
                    <a:cubicBezTo>
                      <a:pt x="203597" y="134506"/>
                      <a:pt x="198799" y="139303"/>
                      <a:pt x="192881" y="139303"/>
                    </a:cubicBezTo>
                    <a:lnTo>
                      <a:pt x="166467" y="139303"/>
                    </a:lnTo>
                    <a:lnTo>
                      <a:pt x="148224" y="166682"/>
                    </a:lnTo>
                    <a:cubicBezTo>
                      <a:pt x="146237" y="169667"/>
                      <a:pt x="142889" y="171460"/>
                      <a:pt x="139303" y="171460"/>
                    </a:cubicBezTo>
                    <a:cubicBezTo>
                      <a:pt x="135717" y="171460"/>
                      <a:pt x="132369" y="169667"/>
                      <a:pt x="130382" y="166682"/>
                    </a:cubicBezTo>
                    <a:lnTo>
                      <a:pt x="96441" y="115756"/>
                    </a:lnTo>
                    <a:lnTo>
                      <a:pt x="83930" y="134508"/>
                    </a:lnTo>
                    <a:cubicBezTo>
                      <a:pt x="81947" y="137499"/>
                      <a:pt x="78598" y="139299"/>
                      <a:pt x="75009" y="139303"/>
                    </a:cubicBezTo>
                    <a:close/>
                    <a:moveTo>
                      <a:pt x="216991" y="0"/>
                    </a:moveTo>
                    <a:cubicBezTo>
                      <a:pt x="189332" y="0"/>
                      <a:pt x="165114" y="11894"/>
                      <a:pt x="150019" y="32000"/>
                    </a:cubicBezTo>
                    <a:cubicBezTo>
                      <a:pt x="134923" y="11894"/>
                      <a:pt x="110706" y="0"/>
                      <a:pt x="83046" y="0"/>
                    </a:cubicBezTo>
                    <a:cubicBezTo>
                      <a:pt x="37202" y="52"/>
                      <a:pt x="52" y="37202"/>
                      <a:pt x="0" y="83046"/>
                    </a:cubicBezTo>
                    <a:cubicBezTo>
                      <a:pt x="0" y="84051"/>
                      <a:pt x="0" y="85055"/>
                      <a:pt x="0" y="86060"/>
                    </a:cubicBezTo>
                    <a:cubicBezTo>
                      <a:pt x="185" y="91978"/>
                      <a:pt x="5132" y="96626"/>
                      <a:pt x="11050" y="96441"/>
                    </a:cubicBezTo>
                    <a:cubicBezTo>
                      <a:pt x="16969" y="96256"/>
                      <a:pt x="21616" y="91308"/>
                      <a:pt x="21431" y="85390"/>
                    </a:cubicBezTo>
                    <a:cubicBezTo>
                      <a:pt x="21431" y="84613"/>
                      <a:pt x="21431" y="83823"/>
                      <a:pt x="21431" y="83046"/>
                    </a:cubicBezTo>
                    <a:cubicBezTo>
                      <a:pt x="21476" y="49036"/>
                      <a:pt x="49036" y="21476"/>
                      <a:pt x="83046" y="21431"/>
                    </a:cubicBezTo>
                    <a:cubicBezTo>
                      <a:pt x="109098" y="21431"/>
                      <a:pt x="130972" y="35308"/>
                      <a:pt x="140107" y="57596"/>
                    </a:cubicBezTo>
                    <a:cubicBezTo>
                      <a:pt x="141758" y="61616"/>
                      <a:pt x="145673" y="64241"/>
                      <a:pt x="150019" y="64241"/>
                    </a:cubicBezTo>
                    <a:cubicBezTo>
                      <a:pt x="154364" y="64241"/>
                      <a:pt x="158280" y="61616"/>
                      <a:pt x="159931" y="57596"/>
                    </a:cubicBezTo>
                    <a:cubicBezTo>
                      <a:pt x="169066" y="35268"/>
                      <a:pt x="190939" y="21431"/>
                      <a:pt x="216991" y="21431"/>
                    </a:cubicBezTo>
                    <a:cubicBezTo>
                      <a:pt x="251002" y="21476"/>
                      <a:pt x="278562" y="49036"/>
                      <a:pt x="278606" y="83046"/>
                    </a:cubicBezTo>
                    <a:cubicBezTo>
                      <a:pt x="278606" y="154854"/>
                      <a:pt x="174450" y="219871"/>
                      <a:pt x="150019" y="234136"/>
                    </a:cubicBezTo>
                    <a:cubicBezTo>
                      <a:pt x="135512" y="225684"/>
                      <a:pt x="92918" y="199311"/>
                      <a:pt x="60704" y="164204"/>
                    </a:cubicBezTo>
                    <a:cubicBezTo>
                      <a:pt x="58115" y="161380"/>
                      <a:pt x="54217" y="160152"/>
                      <a:pt x="50477" y="160983"/>
                    </a:cubicBezTo>
                    <a:cubicBezTo>
                      <a:pt x="46737" y="161813"/>
                      <a:pt x="43725" y="164575"/>
                      <a:pt x="42574" y="168229"/>
                    </a:cubicBezTo>
                    <a:cubicBezTo>
                      <a:pt x="41424" y="171883"/>
                      <a:pt x="42310" y="175873"/>
                      <a:pt x="44898" y="178696"/>
                    </a:cubicBezTo>
                    <a:cubicBezTo>
                      <a:pt x="86649" y="224238"/>
                      <a:pt x="142585" y="254617"/>
                      <a:pt x="144942" y="255889"/>
                    </a:cubicBezTo>
                    <a:cubicBezTo>
                      <a:pt x="148112" y="257594"/>
                      <a:pt x="151926" y="257594"/>
                      <a:pt x="155095" y="255889"/>
                    </a:cubicBezTo>
                    <a:cubicBezTo>
                      <a:pt x="161016" y="252701"/>
                      <a:pt x="300038" y="176808"/>
                      <a:pt x="300038" y="83046"/>
                    </a:cubicBezTo>
                    <a:cubicBezTo>
                      <a:pt x="299986" y="37202"/>
                      <a:pt x="262835" y="52"/>
                      <a:pt x="216991" y="0"/>
                    </a:cubicBezTo>
                    <a:close/>
                  </a:path>
                </a:pathLst>
              </a:custGeom>
              <a:solidFill>
                <a:srgbClr val="E63946"/>
              </a:solidFill>
              <a:ln>
                <a:noFill/>
              </a:ln>
            </p:spPr>
          </p:sp>
        </p:grpSp>
        <p:sp>
          <p:nvSpPr>
            <p:cNvPr id="58" name="TextBox 58"/>
            <p:cNvSpPr txBox="1"/>
            <p:nvPr/>
          </p:nvSpPr>
          <p:spPr>
            <a:xfrm>
              <a:off x="8250555" y="5283518"/>
              <a:ext cx="97940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조기 스크리닝 설계</a:t>
              </a:r>
            </a:p>
          </p:txBody>
        </p:sp>
        <p:sp>
          <p:nvSpPr>
            <p:cNvPr id="59" name="TextBox 59"/>
            <p:cNvSpPr txBox="1"/>
            <p:nvPr/>
          </p:nvSpPr>
          <p:spPr>
            <a:xfrm>
              <a:off x="8254365" y="5563552"/>
              <a:ext cx="1140143" cy="422910"/>
            </a:xfrm>
            <a:prstGeom prst="rect">
              <a:avLst/>
            </a:prstGeom>
            <a:noFill/>
            <a:ln>
              <a:noFill/>
            </a:ln>
          </p:spPr>
          <p:txBody>
            <a:bodyPr wrap="square" lIns="0" tIns="0" rIns="0" bIns="0" anchor="t" anchorCtr="0"/>
            <a:lstStyle/>
            <a:p>
              <a:pPr algn="l">
                <a:lnSpc>
                  <a:spcPts val="1650"/>
                </a:lnSpc>
              </a:pPr>
              <a:r>
                <a:rPr lang="zh-CN" sz="1050" dirty="0">
                  <a:solidFill>
                    <a:srgbClr val="5C6470"/>
                  </a:solidFill>
                  <a:latin typeface="Apple SD Gothic Neo"/>
                  <a:ea typeface="Malgun Gothic"/>
                  <a:cs typeface="Apple SD Gothic Neo"/>
                </a:rPr>
                <a:t xml:space="preserve">노인 남성 대상 정신건강 </a:t>
              </a:r>
              <a:r>
                <a:rPr lang="zh-CN" sz="1050" dirty="0">
                  <a:solidFill>
                    <a:srgbClr val="5C6470"/>
                  </a:solidFill>
                  <a:latin typeface="Apple SD Gothic Neo"/>
                  <a:ea typeface="Malgun Gothic"/>
                  <a:cs typeface="Apple SD Gothic Neo"/>
                </a:rPr>
                <a:t>조기 검진 프로그램의 설계 근거</a:t>
              </a:r>
            </a:p>
          </p:txBody>
        </p:sp>
      </p:grpSp>
      <p:sp>
        <p:nvSpPr>
          <p:cNvPr id="61" name="TextBox 61"/>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imag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00"/>
                                        <p:tgtEl>
                                          <p:spTgt spid="2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slide(fromBottom)">
                                      <p:cBhvr>
                                        <p:cTn id="19" dur="400"/>
                                        <p:tgtEl>
                                          <p:spTgt spid="33"/>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image">
                                      <p:cBhvr>
                                        <p:cTn id="23" dur="400"/>
                                        <p:tgtEl>
                                          <p:spTgt spid="3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400"/>
                                        <p:tgtEl>
                                          <p:spTgt spid="44"/>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400"/>
                                        <p:tgtEl>
                                          <p:spTgt spid="52"/>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slide(fromBottom)">
                                      <p:cBhvr>
                                        <p:cTn id="35"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25" grpId="0"/>
      <p:bldP spid="33" grpId="0"/>
      <p:bldP spid="36" grpId="0"/>
      <p:bldP spid="44" grpId="0"/>
      <p:bldP spid="52" grpId="0"/>
      <p:bldP spid="6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grpSp>
        <p:nvGrpSpPr>
          <p:cNvPr id="6" name="Group 6"/>
          <p:cNvGrpSpPr/>
          <p:nvPr/>
        </p:nvGrpSpPr>
        <p:grpSpPr>
          <a:xfrm>
            <a:off x="762000" y="476250"/>
            <a:ext cx="3769864" cy="671512"/>
            <a:chOff x="762000" y="476250"/>
            <a:chExt cx="3769864" cy="671512"/>
          </a:xfrm>
        </p:grpSpPr>
        <p:sp>
          <p:nvSpPr>
            <p:cNvPr id="3" name="Rectangle 3"/>
            <p:cNvSpPr/>
            <p:nvPr/>
          </p:nvSpPr>
          <p:spPr>
            <a:xfrm>
              <a:off x="762000" y="476250"/>
              <a:ext cx="47625" cy="571500"/>
            </a:xfrm>
            <a:prstGeom prst="roundRect">
              <a:avLst>
                <a:gd name="adj" fmla="val 50000"/>
              </a:avLst>
            </a:prstGeom>
            <a:solidFill>
              <a:srgbClr val="E63946"/>
            </a:solidFill>
            <a:ln>
              <a:noFill/>
            </a:ln>
          </p:spPr>
        </p:sp>
        <p:sp>
          <p:nvSpPr>
            <p:cNvPr id="4" name="TextBox 4"/>
            <p:cNvSpPr txBox="1"/>
            <p:nvPr/>
          </p:nvSpPr>
          <p:spPr>
            <a:xfrm>
              <a:off x="962025" y="557212"/>
              <a:ext cx="3569839" cy="457200"/>
            </a:xfrm>
            <a:prstGeom prst="rect">
              <a:avLst/>
            </a:prstGeom>
            <a:noFill/>
            <a:ln>
              <a:noFill/>
            </a:ln>
          </p:spPr>
          <p:txBody>
            <a:bodyPr wrap="none" lIns="0" tIns="0" rIns="0" bIns="0" anchor="t" anchorCtr="0">
              <a:spAutoFit/>
            </a:bodyPr>
            <a:lstStyle/>
            <a:p>
              <a:pPr algn="l"/>
              <a:r>
                <a:rPr lang="zh-CN" sz="2250" b="1" dirty="0">
                  <a:solidFill>
                    <a:srgbClr val="1E3A5F"/>
                  </a:solidFill>
                  <a:latin typeface="Apple SD Gothic Neo"/>
                  <a:ea typeface="Malgun Gothic"/>
                  <a:cs typeface="Apple SD Gothic Neo"/>
                </a:rPr>
                <a:t>한계를 인정해야 결과를 바르게 쓸 수 있다</a:t>
              </a:r>
            </a:p>
          </p:txBody>
        </p:sp>
        <p:sp>
          <p:nvSpPr>
            <p:cNvPr id="5" name="TextBox 5"/>
            <p:cNvSpPr txBox="1"/>
            <p:nvPr/>
          </p:nvSpPr>
          <p:spPr>
            <a:xfrm>
              <a:off x="977265" y="934402"/>
              <a:ext cx="1790890" cy="213360"/>
            </a:xfrm>
            <a:prstGeom prst="rect">
              <a:avLst/>
            </a:prstGeom>
            <a:noFill/>
            <a:ln>
              <a:noFill/>
            </a:ln>
          </p:spPr>
          <p:txBody>
            <a:bodyPr wrap="none" lIns="0" tIns="0" rIns="0" bIns="0" anchor="t" anchorCtr="0">
              <a:spAutoFit/>
            </a:bodyPr>
            <a:lstStyle/>
            <a:p>
              <a:pPr algn="l"/>
              <a:r>
                <a:rPr lang="zh-CN" sz="1050" b="1" dirty="0">
                  <a:solidFill>
                    <a:srgbClr val="5C6470"/>
                  </a:solidFill>
                  <a:latin typeface="Apple SD Gothic Neo"/>
                  <a:ea typeface="Malgun Gothic"/>
                  <a:cs typeface="Apple SD Gothic Neo"/>
                </a:rPr>
                <a:t>05 리스크 및 분석의 한계 · 6가지 주의점</a:t>
              </a:r>
            </a:p>
          </p:txBody>
        </p:sp>
      </p:grpSp>
      <p:grpSp>
        <p:nvGrpSpPr>
          <p:cNvPr id="12" name="Group 12"/>
          <p:cNvGrpSpPr/>
          <p:nvPr/>
        </p:nvGrpSpPr>
        <p:grpSpPr>
          <a:xfrm>
            <a:off x="762000" y="1428750"/>
            <a:ext cx="5219700" cy="1428750"/>
            <a:chOff x="762000" y="1428750"/>
            <a:chExt cx="5219700" cy="1428750"/>
          </a:xfrm>
        </p:grpSpPr>
        <p:sp>
          <p:nvSpPr>
            <p:cNvPr id="7" name="Rectangle 7"/>
            <p:cNvSpPr/>
            <p:nvPr/>
          </p:nvSpPr>
          <p:spPr>
            <a:xfrm>
              <a:off x="762000" y="1428750"/>
              <a:ext cx="5219700" cy="1428750"/>
            </a:xfrm>
            <a:prstGeom prst="roundRect">
              <a:avLst>
                <a:gd name="adj" fmla="val 8000"/>
              </a:avLst>
            </a:prstGeom>
            <a:solidFill>
              <a:srgbClr val="FFFFFF"/>
            </a:solidFill>
            <a:ln w="9525">
              <a:solidFill>
                <a:srgbClr val="D8DEE6"/>
              </a:solidFill>
            </a:ln>
          </p:spPr>
        </p:sp>
        <p:sp>
          <p:nvSpPr>
            <p:cNvPr id="8" name="Ellipse 8"/>
            <p:cNvSpPr/>
            <p:nvPr/>
          </p:nvSpPr>
          <p:spPr>
            <a:xfrm>
              <a:off x="990600" y="1657350"/>
              <a:ext cx="381000" cy="381000"/>
            </a:xfrm>
            <a:prstGeom prst="ellipse">
              <a:avLst/>
            </a:prstGeom>
            <a:solidFill>
              <a:srgbClr val="E63946">
                <a:alpha val="10000"/>
              </a:srgbClr>
            </a:solidFill>
            <a:ln>
              <a:noFill/>
            </a:ln>
          </p:spPr>
        </p:sp>
        <p:sp>
          <p:nvSpPr>
            <p:cNvPr id="9" name="TextBox 9"/>
            <p:cNvSpPr txBox="1"/>
            <p:nvPr/>
          </p:nvSpPr>
          <p:spPr>
            <a:xfrm>
              <a:off x="1119654" y="1784985"/>
              <a:ext cx="122892" cy="243840"/>
            </a:xfrm>
            <a:prstGeom prst="rect">
              <a:avLst/>
            </a:prstGeom>
            <a:noFill/>
            <a:ln>
              <a:noFill/>
            </a:ln>
          </p:spPr>
          <p:txBody>
            <a:bodyPr wrap="none" lIns="0" tIns="0" rIns="0" bIns="0" anchor="t" anchorCtr="0">
              <a:spAutoFit/>
            </a:bodyPr>
            <a:lstStyle/>
            <a:p>
              <a:pPr algn="ctr"/>
              <a:r>
                <a:rPr lang="zh-CN" sz="1200" b="1" dirty="0">
                  <a:solidFill>
                    <a:srgbClr val="E63946"/>
                  </a:solidFill>
                  <a:latin typeface="Apple SD Gothic Neo"/>
                  <a:ea typeface="Malgun Gothic"/>
                  <a:cs typeface="Apple SD Gothic Neo"/>
                </a:rPr>
                <a:t>1</a:t>
              </a:r>
            </a:p>
          </p:txBody>
        </p:sp>
        <p:sp>
          <p:nvSpPr>
            <p:cNvPr id="10" name="TextBox 10"/>
            <p:cNvSpPr txBox="1"/>
            <p:nvPr/>
          </p:nvSpPr>
          <p:spPr>
            <a:xfrm>
              <a:off x="1544955" y="1759268"/>
              <a:ext cx="97940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생태학적 오류 위험</a:t>
              </a:r>
            </a:p>
          </p:txBody>
        </p:sp>
        <p:sp>
          <p:nvSpPr>
            <p:cNvPr id="11" name="TextBox 11"/>
            <p:cNvSpPr txBox="1"/>
            <p:nvPr/>
          </p:nvSpPr>
          <p:spPr>
            <a:xfrm>
              <a:off x="1548765" y="2096452"/>
              <a:ext cx="2260282" cy="441960"/>
            </a:xfrm>
            <a:prstGeom prst="rect">
              <a:avLst/>
            </a:prstGeom>
            <a:noFill/>
            <a:ln>
              <a:noFill/>
            </a:ln>
          </p:spPr>
          <p:txBody>
            <a:bodyPr wrap="square" lIns="0" tIns="0" rIns="0" bIns="0" anchor="t" anchorCtr="0"/>
            <a:lstStyle/>
            <a:p>
              <a:pPr algn="l">
                <a:lnSpc>
                  <a:spcPts val="1800"/>
                </a:lnSpc>
              </a:pPr>
              <a:r>
                <a:rPr lang="zh-CN" sz="1050" dirty="0">
                  <a:solidFill>
                    <a:srgbClr val="5C6470"/>
                  </a:solidFill>
                  <a:latin typeface="Apple SD Gothic Neo"/>
                  <a:ea typeface="Malgun Gothic"/>
                  <a:cs typeface="Apple SD Gothic Neo"/>
                </a:rPr>
                <a:t xml:space="preserve">국가 단위 집계 데이터의 패턴을 </a:t>
              </a:r>
              <a:r>
                <a:rPr lang="zh-CN" sz="1050" b="1" dirty="0">
                  <a:solidFill>
                    <a:srgbClr val="E63946"/>
                  </a:solidFill>
                  <a:latin typeface="Apple SD Gothic Neo"/>
                  <a:ea typeface="Malgun Gothic"/>
                  <a:cs typeface="Apple SD Gothic Neo"/>
                </a:rPr>
                <a:t>개인 예측에 직접 적용 불가</a:t>
              </a:r>
              <a:r>
                <a:rPr lang="zh-CN" sz="1050" dirty="0">
                  <a:solidFill>
                    <a:srgbClr val="5C6470"/>
                  </a:solidFill>
                  <a:latin typeface="Apple SD Gothic Neo"/>
                  <a:ea typeface="Malgun Gothic"/>
                  <a:cs typeface="Apple SD Gothic Neo"/>
                </a:rPr>
                <a:t xml:space="preserve"> — </a:t>
              </a:r>
              <a:r>
                <a:rPr lang="zh-CN" sz="1050" dirty="0">
                  <a:solidFill>
                    <a:srgbClr val="5C6470"/>
                  </a:solidFill>
                  <a:latin typeface="Apple SD Gothic Neo"/>
                  <a:ea typeface="Malgun Gothic"/>
                  <a:cs typeface="Apple SD Gothic Neo"/>
                </a:rPr>
                <a:t>집단의 경향과 개인의 위험은 다른 문제</a:t>
              </a:r>
            </a:p>
          </p:txBody>
        </p:sp>
      </p:grpSp>
      <p:grpSp>
        <p:nvGrpSpPr>
          <p:cNvPr id="18" name="Group 18"/>
          <p:cNvGrpSpPr/>
          <p:nvPr/>
        </p:nvGrpSpPr>
        <p:grpSpPr>
          <a:xfrm>
            <a:off x="6210300" y="1428750"/>
            <a:ext cx="5219700" cy="1428750"/>
            <a:chOff x="6210300" y="1428750"/>
            <a:chExt cx="5219700" cy="1428750"/>
          </a:xfrm>
        </p:grpSpPr>
        <p:sp>
          <p:nvSpPr>
            <p:cNvPr id="13" name="Rectangle 13"/>
            <p:cNvSpPr/>
            <p:nvPr/>
          </p:nvSpPr>
          <p:spPr>
            <a:xfrm>
              <a:off x="6210300" y="1428750"/>
              <a:ext cx="5219700" cy="1428750"/>
            </a:xfrm>
            <a:prstGeom prst="roundRect">
              <a:avLst>
                <a:gd name="adj" fmla="val 8000"/>
              </a:avLst>
            </a:prstGeom>
            <a:solidFill>
              <a:srgbClr val="FFFFFF"/>
            </a:solidFill>
            <a:ln w="9525">
              <a:solidFill>
                <a:srgbClr val="D8DEE6"/>
              </a:solidFill>
            </a:ln>
          </p:spPr>
        </p:sp>
        <p:sp>
          <p:nvSpPr>
            <p:cNvPr id="14" name="Ellipse 14"/>
            <p:cNvSpPr/>
            <p:nvPr/>
          </p:nvSpPr>
          <p:spPr>
            <a:xfrm>
              <a:off x="6438900" y="1657350"/>
              <a:ext cx="381000" cy="381000"/>
            </a:xfrm>
            <a:prstGeom prst="ellipse">
              <a:avLst/>
            </a:prstGeom>
            <a:solidFill>
              <a:srgbClr val="E63946">
                <a:alpha val="10000"/>
              </a:srgbClr>
            </a:solidFill>
            <a:ln>
              <a:noFill/>
            </a:ln>
          </p:spPr>
        </p:sp>
        <p:sp>
          <p:nvSpPr>
            <p:cNvPr id="15" name="TextBox 15"/>
            <p:cNvSpPr txBox="1"/>
            <p:nvPr/>
          </p:nvSpPr>
          <p:spPr>
            <a:xfrm>
              <a:off x="6567954" y="1784985"/>
              <a:ext cx="122892" cy="243840"/>
            </a:xfrm>
            <a:prstGeom prst="rect">
              <a:avLst/>
            </a:prstGeom>
            <a:noFill/>
            <a:ln>
              <a:noFill/>
            </a:ln>
          </p:spPr>
          <p:txBody>
            <a:bodyPr wrap="none" lIns="0" tIns="0" rIns="0" bIns="0" anchor="t" anchorCtr="0">
              <a:spAutoFit/>
            </a:bodyPr>
            <a:lstStyle/>
            <a:p>
              <a:pPr algn="ctr"/>
              <a:r>
                <a:rPr lang="zh-CN" sz="1200" b="1" dirty="0">
                  <a:solidFill>
                    <a:srgbClr val="E63946"/>
                  </a:solidFill>
                  <a:latin typeface="Apple SD Gothic Neo"/>
                  <a:ea typeface="Malgun Gothic"/>
                  <a:cs typeface="Apple SD Gothic Neo"/>
                </a:rPr>
                <a:t>2</a:t>
              </a:r>
            </a:p>
          </p:txBody>
        </p:sp>
        <p:sp>
          <p:nvSpPr>
            <p:cNvPr id="16" name="TextBox 16"/>
            <p:cNvSpPr txBox="1"/>
            <p:nvPr/>
          </p:nvSpPr>
          <p:spPr>
            <a:xfrm>
              <a:off x="6993255" y="1759268"/>
              <a:ext cx="969957"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HDI 결측 70%</a:t>
              </a:r>
            </a:p>
          </p:txBody>
        </p:sp>
        <p:sp>
          <p:nvSpPr>
            <p:cNvPr id="17" name="TextBox 17"/>
            <p:cNvSpPr txBox="1"/>
            <p:nvPr/>
          </p:nvSpPr>
          <p:spPr>
            <a:xfrm>
              <a:off x="6997065" y="2096452"/>
              <a:ext cx="2553652" cy="441960"/>
            </a:xfrm>
            <a:prstGeom prst="rect">
              <a:avLst/>
            </a:prstGeom>
            <a:noFill/>
            <a:ln>
              <a:noFill/>
            </a:ln>
          </p:spPr>
          <p:txBody>
            <a:bodyPr wrap="square" lIns="0" tIns="0" rIns="0" bIns="0" anchor="t" anchorCtr="0"/>
            <a:lstStyle/>
            <a:p>
              <a:pPr algn="l">
                <a:lnSpc>
                  <a:spcPts val="1800"/>
                </a:lnSpc>
              </a:pPr>
              <a:r>
                <a:rPr lang="zh-CN" sz="1050" dirty="0">
                  <a:solidFill>
                    <a:srgbClr val="5C6470"/>
                  </a:solidFill>
                  <a:latin typeface="Apple SD Gothic Neo"/>
                  <a:ea typeface="Malgun Gothic"/>
                  <a:cs typeface="Apple SD Gothic Neo"/>
                </a:rPr>
                <a:t xml:space="preserve">중앙값(0.779) 일괄 대체로 </a:t>
              </a:r>
              <a:r>
                <a:rPr lang="zh-CN" sz="1050" b="1" dirty="0">
                  <a:solidFill>
                    <a:srgbClr val="5C6470"/>
                  </a:solidFill>
                  <a:latin typeface="Apple SD Gothic Neo"/>
                  <a:ea typeface="Malgun Gothic"/>
                  <a:cs typeface="Apple SD Gothic Neo"/>
                </a:rPr>
                <a:t>HDI 효과 추정이 왜곡</a:t>
              </a:r>
              <a:r>
                <a:rPr lang="zh-CN" sz="1050" dirty="0">
                  <a:solidFill>
                    <a:srgbClr val="5C6470"/>
                  </a:solidFill>
                  <a:latin typeface="Apple SD Gothic Neo"/>
                  <a:ea typeface="Malgun Gothic"/>
                  <a:cs typeface="Apple SD Gothic Neo"/>
                </a:rPr>
                <a:t xml:space="preserve">될 수 있음 — </a:t>
              </a:r>
              <a:r>
                <a:rPr lang="zh-CN" sz="1050" dirty="0">
                  <a:solidFill>
                    <a:srgbClr val="5C6470"/>
                  </a:solidFill>
                  <a:latin typeface="Apple SD Gothic Neo"/>
                  <a:ea typeface="Malgun Gothic"/>
                  <a:cs typeface="Apple SD Gothic Neo"/>
                </a:rPr>
                <a:t>'발전의 역설' 해석에 보수적 접근 필요</a:t>
              </a:r>
            </a:p>
          </p:txBody>
        </p:sp>
      </p:grpSp>
      <p:grpSp>
        <p:nvGrpSpPr>
          <p:cNvPr id="24" name="Group 24"/>
          <p:cNvGrpSpPr/>
          <p:nvPr/>
        </p:nvGrpSpPr>
        <p:grpSpPr>
          <a:xfrm>
            <a:off x="762000" y="3048000"/>
            <a:ext cx="5219700" cy="1428750"/>
            <a:chOff x="762000" y="3048000"/>
            <a:chExt cx="5219700" cy="1428750"/>
          </a:xfrm>
        </p:grpSpPr>
        <p:sp>
          <p:nvSpPr>
            <p:cNvPr id="19" name="Rectangle 19"/>
            <p:cNvSpPr/>
            <p:nvPr/>
          </p:nvSpPr>
          <p:spPr>
            <a:xfrm>
              <a:off x="762000" y="3048000"/>
              <a:ext cx="5219700" cy="1428750"/>
            </a:xfrm>
            <a:prstGeom prst="roundRect">
              <a:avLst>
                <a:gd name="adj" fmla="val 8000"/>
              </a:avLst>
            </a:prstGeom>
            <a:solidFill>
              <a:srgbClr val="FFFFFF"/>
            </a:solidFill>
            <a:ln w="9525">
              <a:solidFill>
                <a:srgbClr val="D8DEE6"/>
              </a:solidFill>
            </a:ln>
          </p:spPr>
        </p:sp>
        <p:sp>
          <p:nvSpPr>
            <p:cNvPr id="20" name="Ellipse 20"/>
            <p:cNvSpPr/>
            <p:nvPr/>
          </p:nvSpPr>
          <p:spPr>
            <a:xfrm>
              <a:off x="990600" y="3276600"/>
              <a:ext cx="381000" cy="381000"/>
            </a:xfrm>
            <a:prstGeom prst="ellipse">
              <a:avLst/>
            </a:prstGeom>
            <a:solidFill>
              <a:srgbClr val="457B9D">
                <a:alpha val="12000"/>
              </a:srgbClr>
            </a:solidFill>
            <a:ln>
              <a:noFill/>
            </a:ln>
          </p:spPr>
        </p:sp>
        <p:sp>
          <p:nvSpPr>
            <p:cNvPr id="21" name="TextBox 21"/>
            <p:cNvSpPr txBox="1"/>
            <p:nvPr/>
          </p:nvSpPr>
          <p:spPr>
            <a:xfrm>
              <a:off x="1119654" y="3404235"/>
              <a:ext cx="122892" cy="243840"/>
            </a:xfrm>
            <a:prstGeom prst="rect">
              <a:avLst/>
            </a:prstGeom>
            <a:noFill/>
            <a:ln>
              <a:noFill/>
            </a:ln>
          </p:spPr>
          <p:txBody>
            <a:bodyPr wrap="none" lIns="0" tIns="0" rIns="0" bIns="0" anchor="t" anchorCtr="0">
              <a:spAutoFit/>
            </a:bodyPr>
            <a:lstStyle/>
            <a:p>
              <a:pPr algn="ctr"/>
              <a:r>
                <a:rPr lang="zh-CN" sz="1200" b="1" dirty="0">
                  <a:solidFill>
                    <a:srgbClr val="457B9D"/>
                  </a:solidFill>
                  <a:latin typeface="Apple SD Gothic Neo"/>
                  <a:ea typeface="Malgun Gothic"/>
                  <a:cs typeface="Apple SD Gothic Neo"/>
                </a:rPr>
                <a:t>3</a:t>
              </a:r>
            </a:p>
          </p:txBody>
        </p:sp>
        <p:sp>
          <p:nvSpPr>
            <p:cNvPr id="22" name="TextBox 22"/>
            <p:cNvSpPr txBox="1"/>
            <p:nvPr/>
          </p:nvSpPr>
          <p:spPr>
            <a:xfrm>
              <a:off x="1544955" y="3378518"/>
              <a:ext cx="1291297"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시점 한계 (–2016)</a:t>
              </a:r>
            </a:p>
          </p:txBody>
        </p:sp>
        <p:sp>
          <p:nvSpPr>
            <p:cNvPr id="23" name="TextBox 23"/>
            <p:cNvSpPr txBox="1"/>
            <p:nvPr/>
          </p:nvSpPr>
          <p:spPr>
            <a:xfrm>
              <a:off x="1548765" y="3715702"/>
              <a:ext cx="1766887" cy="441960"/>
            </a:xfrm>
            <a:prstGeom prst="rect">
              <a:avLst/>
            </a:prstGeom>
            <a:noFill/>
            <a:ln>
              <a:noFill/>
            </a:ln>
          </p:spPr>
          <p:txBody>
            <a:bodyPr wrap="square" lIns="0" tIns="0" rIns="0" bIns="0" anchor="t" anchorCtr="0"/>
            <a:lstStyle/>
            <a:p>
              <a:pPr algn="l">
                <a:lnSpc>
                  <a:spcPts val="1800"/>
                </a:lnSpc>
              </a:pPr>
              <a:r>
                <a:rPr lang="zh-CN" sz="1050" dirty="0">
                  <a:solidFill>
                    <a:srgbClr val="5C6470"/>
                  </a:solidFill>
                  <a:latin typeface="Apple SD Gothic Neo"/>
                  <a:ea typeface="Malgun Gothic"/>
                  <a:cs typeface="Apple SD Gothic Neo"/>
                </a:rPr>
                <a:t xml:space="preserve">코로나19 이후의 정신건강 변화, 최근 10년의 </a:t>
              </a:r>
              <a:r>
                <a:rPr lang="zh-CN" sz="1050" dirty="0">
                  <a:solidFill>
                    <a:srgbClr val="5C6470"/>
                  </a:solidFill>
                  <a:latin typeface="Apple SD Gothic Neo"/>
                  <a:ea typeface="Malgun Gothic"/>
                  <a:cs typeface="Apple SD Gothic Neo"/>
                </a:rPr>
                <a:t xml:space="preserve">사회 변화가 </a:t>
              </a:r>
              <a:r>
                <a:rPr lang="zh-CN" sz="1050" b="1" dirty="0">
                  <a:solidFill>
                    <a:srgbClr val="5C6470"/>
                  </a:solidFill>
                  <a:latin typeface="Apple SD Gothic Neo"/>
                  <a:ea typeface="Malgun Gothic"/>
                  <a:cs typeface="Apple SD Gothic Neo"/>
                </a:rPr>
                <a:t>반영되지 않음</a:t>
              </a:r>
            </a:p>
          </p:txBody>
        </p:sp>
      </p:grpSp>
      <p:grpSp>
        <p:nvGrpSpPr>
          <p:cNvPr id="30" name="Group 30"/>
          <p:cNvGrpSpPr/>
          <p:nvPr/>
        </p:nvGrpSpPr>
        <p:grpSpPr>
          <a:xfrm>
            <a:off x="6210300" y="3048000"/>
            <a:ext cx="5219700" cy="1428750"/>
            <a:chOff x="6210300" y="3048000"/>
            <a:chExt cx="5219700" cy="1428750"/>
          </a:xfrm>
        </p:grpSpPr>
        <p:sp>
          <p:nvSpPr>
            <p:cNvPr id="25" name="Rectangle 25"/>
            <p:cNvSpPr/>
            <p:nvPr/>
          </p:nvSpPr>
          <p:spPr>
            <a:xfrm>
              <a:off x="6210300" y="3048000"/>
              <a:ext cx="5219700" cy="1428750"/>
            </a:xfrm>
            <a:prstGeom prst="roundRect">
              <a:avLst>
                <a:gd name="adj" fmla="val 8000"/>
              </a:avLst>
            </a:prstGeom>
            <a:solidFill>
              <a:srgbClr val="FFFFFF"/>
            </a:solidFill>
            <a:ln w="9525">
              <a:solidFill>
                <a:srgbClr val="D8DEE6"/>
              </a:solidFill>
            </a:ln>
          </p:spPr>
        </p:sp>
        <p:sp>
          <p:nvSpPr>
            <p:cNvPr id="26" name="Ellipse 26"/>
            <p:cNvSpPr/>
            <p:nvPr/>
          </p:nvSpPr>
          <p:spPr>
            <a:xfrm>
              <a:off x="6438900" y="3276600"/>
              <a:ext cx="381000" cy="381000"/>
            </a:xfrm>
            <a:prstGeom prst="ellipse">
              <a:avLst/>
            </a:prstGeom>
            <a:solidFill>
              <a:srgbClr val="457B9D">
                <a:alpha val="12000"/>
              </a:srgbClr>
            </a:solidFill>
            <a:ln>
              <a:noFill/>
            </a:ln>
          </p:spPr>
        </p:sp>
        <p:sp>
          <p:nvSpPr>
            <p:cNvPr id="27" name="TextBox 27"/>
            <p:cNvSpPr txBox="1"/>
            <p:nvPr/>
          </p:nvSpPr>
          <p:spPr>
            <a:xfrm>
              <a:off x="6567954" y="3404235"/>
              <a:ext cx="122892" cy="243840"/>
            </a:xfrm>
            <a:prstGeom prst="rect">
              <a:avLst/>
            </a:prstGeom>
            <a:noFill/>
            <a:ln>
              <a:noFill/>
            </a:ln>
          </p:spPr>
          <p:txBody>
            <a:bodyPr wrap="none" lIns="0" tIns="0" rIns="0" bIns="0" anchor="t" anchorCtr="0">
              <a:spAutoFit/>
            </a:bodyPr>
            <a:lstStyle/>
            <a:p>
              <a:pPr algn="ctr"/>
              <a:r>
                <a:rPr lang="zh-CN" sz="1200" b="1" dirty="0">
                  <a:solidFill>
                    <a:srgbClr val="457B9D"/>
                  </a:solidFill>
                  <a:latin typeface="Apple SD Gothic Neo"/>
                  <a:ea typeface="Malgun Gothic"/>
                  <a:cs typeface="Apple SD Gothic Neo"/>
                </a:rPr>
                <a:t>4</a:t>
              </a:r>
            </a:p>
          </p:txBody>
        </p:sp>
        <p:sp>
          <p:nvSpPr>
            <p:cNvPr id="28" name="TextBox 28"/>
            <p:cNvSpPr txBox="1"/>
            <p:nvPr/>
          </p:nvSpPr>
          <p:spPr>
            <a:xfrm>
              <a:off x="6993255" y="3378518"/>
              <a:ext cx="1140078"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국가별 집계 기준 차이</a:t>
              </a:r>
            </a:p>
          </p:txBody>
        </p:sp>
        <p:sp>
          <p:nvSpPr>
            <p:cNvPr id="29" name="TextBox 29"/>
            <p:cNvSpPr txBox="1"/>
            <p:nvPr/>
          </p:nvSpPr>
          <p:spPr>
            <a:xfrm>
              <a:off x="6997065" y="3715702"/>
              <a:ext cx="1553528" cy="441960"/>
            </a:xfrm>
            <a:prstGeom prst="rect">
              <a:avLst/>
            </a:prstGeom>
            <a:noFill/>
            <a:ln>
              <a:noFill/>
            </a:ln>
          </p:spPr>
          <p:txBody>
            <a:bodyPr wrap="square" lIns="0" tIns="0" rIns="0" bIns="0" anchor="t" anchorCtr="0"/>
            <a:lstStyle/>
            <a:p>
              <a:pPr algn="l">
                <a:lnSpc>
                  <a:spcPts val="1800"/>
                </a:lnSpc>
              </a:pPr>
              <a:r>
                <a:rPr lang="zh-CN" sz="1050" dirty="0">
                  <a:solidFill>
                    <a:srgbClr val="5C6470"/>
                  </a:solidFill>
                  <a:latin typeface="Apple SD Gothic Neo"/>
                  <a:ea typeface="Malgun Gothic"/>
                  <a:cs typeface="Apple SD Gothic Neo"/>
                </a:rPr>
                <a:t xml:space="preserve">자살 판정·신고 기준이 나라마다 달라 </a:t>
              </a:r>
              <a:r>
                <a:rPr lang="zh-CN" sz="1050" b="1" dirty="0">
                  <a:solidFill>
                    <a:srgbClr val="5C6470"/>
                  </a:solidFill>
                  <a:latin typeface="Apple SD Gothic Neo"/>
                  <a:ea typeface="Malgun Gothic"/>
                  <a:cs typeface="Apple SD Gothic Neo"/>
                </a:rPr>
                <a:t>과소보고 가능성</a:t>
              </a:r>
              <a:r>
                <a:rPr lang="zh-CN" sz="1050" dirty="0">
                  <a:solidFill>
                    <a:srgbClr val="5C6470"/>
                  </a:solidFill>
                  <a:latin typeface="Apple SD Gothic Neo"/>
                  <a:ea typeface="Malgun Gothic"/>
                  <a:cs typeface="Apple SD Gothic Neo"/>
                </a:rPr>
                <a:t xml:space="preserve"> 존재 — 국가 간 비교 주의</a:t>
              </a:r>
            </a:p>
          </p:txBody>
        </p:sp>
      </p:grpSp>
      <p:grpSp>
        <p:nvGrpSpPr>
          <p:cNvPr id="36" name="Group 36"/>
          <p:cNvGrpSpPr/>
          <p:nvPr/>
        </p:nvGrpSpPr>
        <p:grpSpPr>
          <a:xfrm>
            <a:off x="762000" y="4667250"/>
            <a:ext cx="5219700" cy="1428750"/>
            <a:chOff x="762000" y="4667250"/>
            <a:chExt cx="5219700" cy="1428750"/>
          </a:xfrm>
        </p:grpSpPr>
        <p:sp>
          <p:nvSpPr>
            <p:cNvPr id="31" name="Rectangle 31"/>
            <p:cNvSpPr/>
            <p:nvPr/>
          </p:nvSpPr>
          <p:spPr>
            <a:xfrm>
              <a:off x="762000" y="4667250"/>
              <a:ext cx="5219700" cy="1428750"/>
            </a:xfrm>
            <a:prstGeom prst="roundRect">
              <a:avLst>
                <a:gd name="adj" fmla="val 8000"/>
              </a:avLst>
            </a:prstGeom>
            <a:solidFill>
              <a:srgbClr val="FFFFFF"/>
            </a:solidFill>
            <a:ln w="9525">
              <a:solidFill>
                <a:srgbClr val="D8DEE6"/>
              </a:solidFill>
            </a:ln>
          </p:spPr>
        </p:sp>
        <p:sp>
          <p:nvSpPr>
            <p:cNvPr id="32" name="Ellipse 32"/>
            <p:cNvSpPr/>
            <p:nvPr/>
          </p:nvSpPr>
          <p:spPr>
            <a:xfrm>
              <a:off x="990600" y="4895850"/>
              <a:ext cx="381000" cy="381000"/>
            </a:xfrm>
            <a:prstGeom prst="ellipse">
              <a:avLst/>
            </a:prstGeom>
            <a:solidFill>
              <a:srgbClr val="1E3A5F">
                <a:alpha val="10000"/>
              </a:srgbClr>
            </a:solidFill>
            <a:ln>
              <a:noFill/>
            </a:ln>
          </p:spPr>
        </p:sp>
        <p:sp>
          <p:nvSpPr>
            <p:cNvPr id="33" name="TextBox 33"/>
            <p:cNvSpPr txBox="1"/>
            <p:nvPr/>
          </p:nvSpPr>
          <p:spPr>
            <a:xfrm>
              <a:off x="1119654" y="5023485"/>
              <a:ext cx="122892" cy="243840"/>
            </a:xfrm>
            <a:prstGeom prst="rect">
              <a:avLst/>
            </a:prstGeom>
            <a:noFill/>
            <a:ln>
              <a:noFill/>
            </a:ln>
          </p:spPr>
          <p:txBody>
            <a:bodyPr wrap="none" lIns="0" tIns="0" rIns="0" bIns="0" anchor="t" anchorCtr="0">
              <a:spAutoFit/>
            </a:bodyPr>
            <a:lstStyle/>
            <a:p>
              <a:pPr algn="ctr"/>
              <a:r>
                <a:rPr lang="zh-CN" sz="1200" b="1" dirty="0">
                  <a:solidFill>
                    <a:srgbClr val="1E3A5F"/>
                  </a:solidFill>
                  <a:latin typeface="Apple SD Gothic Neo"/>
                  <a:ea typeface="Malgun Gothic"/>
                  <a:cs typeface="Apple SD Gothic Neo"/>
                </a:rPr>
                <a:t>5</a:t>
              </a:r>
            </a:p>
          </p:txBody>
        </p:sp>
        <p:sp>
          <p:nvSpPr>
            <p:cNvPr id="34" name="TextBox 34"/>
            <p:cNvSpPr txBox="1"/>
            <p:nvPr/>
          </p:nvSpPr>
          <p:spPr>
            <a:xfrm>
              <a:off x="1544955" y="4997768"/>
              <a:ext cx="714775"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임계값 민감성</a:t>
              </a:r>
            </a:p>
          </p:txBody>
        </p:sp>
        <p:sp>
          <p:nvSpPr>
            <p:cNvPr id="35" name="TextBox 35"/>
            <p:cNvSpPr txBox="1"/>
            <p:nvPr/>
          </p:nvSpPr>
          <p:spPr>
            <a:xfrm>
              <a:off x="1548765" y="5334952"/>
              <a:ext cx="1773555" cy="441960"/>
            </a:xfrm>
            <a:prstGeom prst="rect">
              <a:avLst/>
            </a:prstGeom>
            <a:noFill/>
            <a:ln>
              <a:noFill/>
            </a:ln>
          </p:spPr>
          <p:txBody>
            <a:bodyPr wrap="square" lIns="0" tIns="0" rIns="0" bIns="0" anchor="t" anchorCtr="0"/>
            <a:lstStyle/>
            <a:p>
              <a:pPr algn="l">
                <a:lnSpc>
                  <a:spcPts val="1800"/>
                </a:lnSpc>
              </a:pPr>
              <a:r>
                <a:rPr lang="zh-CN" sz="1050" dirty="0">
                  <a:solidFill>
                    <a:srgbClr val="5C6470"/>
                  </a:solidFill>
                  <a:latin typeface="Apple SD Gothic Neo"/>
                  <a:ea typeface="Malgun Gothic"/>
                  <a:cs typeface="Apple SD Gothic Neo"/>
                </a:rPr>
                <a:t xml:space="preserve">중앙값 기준 이진 분류는 </a:t>
              </a:r>
              <a:r>
                <a:rPr lang="zh-CN" sz="1050" b="1" dirty="0">
                  <a:solidFill>
                    <a:srgbClr val="5C6470"/>
                  </a:solidFill>
                  <a:latin typeface="Apple SD Gothic Neo"/>
                  <a:ea typeface="Malgun Gothic"/>
                  <a:cs typeface="Apple SD Gothic Neo"/>
                </a:rPr>
                <a:t>경계선 케이스에 민감</a:t>
              </a:r>
              <a:r>
                <a:rPr lang="zh-CN" sz="1050" dirty="0">
                  <a:solidFill>
                    <a:srgbClr val="5C6470"/>
                  </a:solidFill>
                  <a:latin typeface="Apple SD Gothic Neo"/>
                  <a:ea typeface="Malgun Gothic"/>
                  <a:cs typeface="Apple SD Gothic Neo"/>
                </a:rPr>
                <a:t xml:space="preserve"> — </a:t>
              </a:r>
              <a:r>
                <a:rPr lang="zh-CN" sz="1050" dirty="0">
                  <a:solidFill>
                    <a:srgbClr val="5C6470"/>
                  </a:solidFill>
                  <a:latin typeface="Apple SD Gothic Neo"/>
                  <a:ea typeface="Malgun Gothic"/>
                  <a:cs typeface="Apple SD Gothic Neo"/>
                </a:rPr>
                <a:t>임계값을 바꾸면 결과도 달라질 수 있음</a:t>
              </a:r>
            </a:p>
          </p:txBody>
        </p:sp>
      </p:grpSp>
      <p:grpSp>
        <p:nvGrpSpPr>
          <p:cNvPr id="44" name="Group 44"/>
          <p:cNvGrpSpPr/>
          <p:nvPr/>
        </p:nvGrpSpPr>
        <p:grpSpPr>
          <a:xfrm>
            <a:off x="6210300" y="4667250"/>
            <a:ext cx="5219700" cy="1428750"/>
            <a:chOff x="6210300" y="4667250"/>
            <a:chExt cx="5219700" cy="1428750"/>
          </a:xfrm>
        </p:grpSpPr>
        <p:sp>
          <p:nvSpPr>
            <p:cNvPr id="37" name="Rectangle 37"/>
            <p:cNvSpPr/>
            <p:nvPr/>
          </p:nvSpPr>
          <p:spPr>
            <a:xfrm>
              <a:off x="6210300" y="4667250"/>
              <a:ext cx="5219700" cy="1428750"/>
            </a:xfrm>
            <a:prstGeom prst="roundRect">
              <a:avLst>
                <a:gd name="adj" fmla="val 8000"/>
              </a:avLst>
            </a:prstGeom>
            <a:solidFill>
              <a:srgbClr val="FFFFFF"/>
            </a:solidFill>
            <a:ln w="9525">
              <a:solidFill>
                <a:srgbClr val="D8DEE6"/>
              </a:solidFill>
            </a:ln>
          </p:spPr>
        </p:sp>
        <p:sp>
          <p:nvSpPr>
            <p:cNvPr id="38" name="Ellipse 38"/>
            <p:cNvSpPr/>
            <p:nvPr/>
          </p:nvSpPr>
          <p:spPr>
            <a:xfrm>
              <a:off x="6438900" y="4895850"/>
              <a:ext cx="381000" cy="381000"/>
            </a:xfrm>
            <a:prstGeom prst="ellipse">
              <a:avLst/>
            </a:prstGeom>
            <a:solidFill>
              <a:srgbClr val="1E3A5F">
                <a:alpha val="10000"/>
              </a:srgbClr>
            </a:solidFill>
            <a:ln>
              <a:noFill/>
            </a:ln>
          </p:spPr>
        </p:sp>
        <p:grpSp>
          <p:nvGrpSpPr>
            <p:cNvPr id="41" name="Group 41"/>
            <p:cNvGrpSpPr/>
            <p:nvPr/>
          </p:nvGrpSpPr>
          <p:grpSpPr>
            <a:xfrm>
              <a:off x="6512712" y="4986338"/>
              <a:ext cx="233376" cy="200025"/>
              <a:chOff x="6512712" y="4986338"/>
              <a:chExt cx="233376" cy="200025"/>
            </a:xfrm>
          </p:grpSpPr>
          <p:sp>
            <p:nvSpPr>
              <p:cNvPr id="39" name="Freeform 39"/>
              <p:cNvSpPr/>
              <p:nvPr/>
            </p:nvSpPr>
            <p:spPr>
              <a:xfrm>
                <a:off x="6521053" y="5011341"/>
                <a:ext cx="216694" cy="141684"/>
              </a:xfrm>
              <a:custGeom>
                <a:avLst/>
                <a:gdLst/>
                <a:ahLst/>
                <a:cxnLst/>
                <a:rect l="l" t="t" r="r" b="b"/>
                <a:pathLst>
                  <a:path w="216694" h="141684">
                    <a:moveTo>
                      <a:pt x="33338" y="33338"/>
                    </a:moveTo>
                    <a:lnTo>
                      <a:pt x="66675" y="116681"/>
                    </a:lnTo>
                    <a:cubicBezTo>
                      <a:pt x="66675" y="135090"/>
                      <a:pt x="45839" y="141684"/>
                      <a:pt x="33338" y="141684"/>
                    </a:cubicBezTo>
                    <a:cubicBezTo>
                      <a:pt x="20836" y="141684"/>
                      <a:pt x="0" y="135090"/>
                      <a:pt x="0" y="116681"/>
                    </a:cubicBezTo>
                    <a:close/>
                    <a:moveTo>
                      <a:pt x="183356" y="0"/>
                    </a:moveTo>
                    <a:lnTo>
                      <a:pt x="150019" y="83344"/>
                    </a:lnTo>
                    <a:cubicBezTo>
                      <a:pt x="150019" y="101752"/>
                      <a:pt x="170855" y="108347"/>
                      <a:pt x="183356" y="108347"/>
                    </a:cubicBezTo>
                    <a:cubicBezTo>
                      <a:pt x="195858" y="108347"/>
                      <a:pt x="216694" y="101752"/>
                      <a:pt x="216694" y="83344"/>
                    </a:cubicBezTo>
                    <a:close/>
                  </a:path>
                </a:pathLst>
              </a:custGeom>
              <a:solidFill>
                <a:srgbClr val="1E3A5F">
                  <a:alpha val="20000"/>
                </a:srgbClr>
              </a:solidFill>
              <a:ln>
                <a:noFill/>
              </a:ln>
            </p:spPr>
          </p:sp>
          <p:sp>
            <p:nvSpPr>
              <p:cNvPr id="40" name="Freeform 40"/>
              <p:cNvSpPr/>
              <p:nvPr/>
            </p:nvSpPr>
            <p:spPr>
              <a:xfrm>
                <a:off x="6512712" y="4986338"/>
                <a:ext cx="233376" cy="200025"/>
              </a:xfrm>
              <a:custGeom>
                <a:avLst/>
                <a:gdLst/>
                <a:ahLst/>
                <a:cxnLst/>
                <a:rect l="l" t="t" r="r" b="b"/>
                <a:pathLst>
                  <a:path w="233376" h="200025">
                    <a:moveTo>
                      <a:pt x="232775" y="105221"/>
                    </a:moveTo>
                    <a:lnTo>
                      <a:pt x="199438" y="21878"/>
                    </a:lnTo>
                    <a:lnTo>
                      <a:pt x="199438" y="21878"/>
                    </a:lnTo>
                    <a:cubicBezTo>
                      <a:pt x="197922" y="18086"/>
                      <a:pt x="193882" y="15951"/>
                      <a:pt x="189895" y="16835"/>
                    </a:cubicBezTo>
                    <a:lnTo>
                      <a:pt x="125022" y="31254"/>
                    </a:lnTo>
                    <a:lnTo>
                      <a:pt x="125022" y="8334"/>
                    </a:lnTo>
                    <a:cubicBezTo>
                      <a:pt x="125022" y="3731"/>
                      <a:pt x="121291" y="0"/>
                      <a:pt x="116688" y="0"/>
                    </a:cubicBezTo>
                    <a:cubicBezTo>
                      <a:pt x="112085" y="0"/>
                      <a:pt x="108354" y="3731"/>
                      <a:pt x="108354" y="8334"/>
                    </a:cubicBezTo>
                    <a:lnTo>
                      <a:pt x="108354" y="34984"/>
                    </a:lnTo>
                    <a:lnTo>
                      <a:pt x="39866" y="50204"/>
                    </a:lnTo>
                    <a:cubicBezTo>
                      <a:pt x="37185" y="50796"/>
                      <a:pt x="34968" y="52671"/>
                      <a:pt x="33938" y="55215"/>
                    </a:cubicBezTo>
                    <a:lnTo>
                      <a:pt x="33938" y="55215"/>
                    </a:lnTo>
                    <a:lnTo>
                      <a:pt x="33938" y="55278"/>
                    </a:lnTo>
                    <a:lnTo>
                      <a:pt x="600" y="138559"/>
                    </a:lnTo>
                    <a:cubicBezTo>
                      <a:pt x="202" y="139552"/>
                      <a:pt x="0" y="140614"/>
                      <a:pt x="7" y="141684"/>
                    </a:cubicBezTo>
                    <a:cubicBezTo>
                      <a:pt x="7" y="165969"/>
                      <a:pt x="25572" y="175022"/>
                      <a:pt x="41679" y="175022"/>
                    </a:cubicBezTo>
                    <a:cubicBezTo>
                      <a:pt x="57785" y="175022"/>
                      <a:pt x="83350" y="165969"/>
                      <a:pt x="83350" y="141684"/>
                    </a:cubicBezTo>
                    <a:cubicBezTo>
                      <a:pt x="83357" y="140614"/>
                      <a:pt x="83155" y="139552"/>
                      <a:pt x="82757" y="138559"/>
                    </a:cubicBezTo>
                    <a:lnTo>
                      <a:pt x="53055" y="64352"/>
                    </a:lnTo>
                    <a:lnTo>
                      <a:pt x="108354" y="52090"/>
                    </a:lnTo>
                    <a:lnTo>
                      <a:pt x="108354" y="183356"/>
                    </a:lnTo>
                    <a:lnTo>
                      <a:pt x="91685" y="183356"/>
                    </a:lnTo>
                    <a:cubicBezTo>
                      <a:pt x="87082" y="183356"/>
                      <a:pt x="83350" y="187088"/>
                      <a:pt x="83350" y="191691"/>
                    </a:cubicBezTo>
                    <a:cubicBezTo>
                      <a:pt x="83350" y="196294"/>
                      <a:pt x="87082" y="200025"/>
                      <a:pt x="91685" y="200025"/>
                    </a:cubicBezTo>
                    <a:lnTo>
                      <a:pt x="141691" y="200025"/>
                    </a:lnTo>
                    <a:cubicBezTo>
                      <a:pt x="146294" y="200025"/>
                      <a:pt x="150025" y="196294"/>
                      <a:pt x="150025" y="191691"/>
                    </a:cubicBezTo>
                    <a:cubicBezTo>
                      <a:pt x="150025" y="187088"/>
                      <a:pt x="146294" y="183356"/>
                      <a:pt x="141691" y="183356"/>
                    </a:cubicBezTo>
                    <a:lnTo>
                      <a:pt x="125022" y="183356"/>
                    </a:lnTo>
                    <a:lnTo>
                      <a:pt x="125022" y="48360"/>
                    </a:lnTo>
                    <a:lnTo>
                      <a:pt x="178154" y="36567"/>
                    </a:lnTo>
                    <a:lnTo>
                      <a:pt x="150619" y="105221"/>
                    </a:lnTo>
                    <a:cubicBezTo>
                      <a:pt x="150220" y="106215"/>
                      <a:pt x="150019" y="107276"/>
                      <a:pt x="150025" y="108347"/>
                    </a:cubicBezTo>
                    <a:cubicBezTo>
                      <a:pt x="150025" y="132631"/>
                      <a:pt x="175591" y="141684"/>
                      <a:pt x="191697" y="141684"/>
                    </a:cubicBezTo>
                    <a:cubicBezTo>
                      <a:pt x="207803" y="141684"/>
                      <a:pt x="233369" y="132631"/>
                      <a:pt x="233369" y="108347"/>
                    </a:cubicBezTo>
                    <a:cubicBezTo>
                      <a:pt x="233376" y="107276"/>
                      <a:pt x="233174" y="106215"/>
                      <a:pt x="232775" y="105221"/>
                    </a:cubicBezTo>
                    <a:close/>
                    <a:moveTo>
                      <a:pt x="41679" y="158353"/>
                    </a:moveTo>
                    <a:cubicBezTo>
                      <a:pt x="33834" y="158353"/>
                      <a:pt x="17967" y="154592"/>
                      <a:pt x="16748" y="143101"/>
                    </a:cubicBezTo>
                    <a:lnTo>
                      <a:pt x="41679" y="80781"/>
                    </a:lnTo>
                    <a:lnTo>
                      <a:pt x="66609" y="143101"/>
                    </a:lnTo>
                    <a:cubicBezTo>
                      <a:pt x="65390" y="154592"/>
                      <a:pt x="49523" y="158353"/>
                      <a:pt x="41679" y="158353"/>
                    </a:cubicBezTo>
                    <a:close/>
                    <a:moveTo>
                      <a:pt x="191697" y="125016"/>
                    </a:moveTo>
                    <a:cubicBezTo>
                      <a:pt x="183853" y="125016"/>
                      <a:pt x="167986" y="121255"/>
                      <a:pt x="166767" y="109764"/>
                    </a:cubicBezTo>
                    <a:lnTo>
                      <a:pt x="191697" y="47443"/>
                    </a:lnTo>
                    <a:lnTo>
                      <a:pt x="216627" y="109764"/>
                    </a:lnTo>
                    <a:cubicBezTo>
                      <a:pt x="215409" y="121255"/>
                      <a:pt x="199542" y="125016"/>
                      <a:pt x="191697" y="125016"/>
                    </a:cubicBezTo>
                    <a:close/>
                  </a:path>
                </a:pathLst>
              </a:custGeom>
              <a:solidFill>
                <a:srgbClr val="1E3A5F"/>
              </a:solidFill>
              <a:ln>
                <a:noFill/>
              </a:ln>
            </p:spPr>
          </p:sp>
        </p:grpSp>
        <p:sp>
          <p:nvSpPr>
            <p:cNvPr id="42" name="TextBox 42"/>
            <p:cNvSpPr txBox="1"/>
            <p:nvPr/>
          </p:nvSpPr>
          <p:spPr>
            <a:xfrm>
              <a:off x="6993255" y="4997768"/>
              <a:ext cx="875445" cy="274320"/>
            </a:xfrm>
            <a:prstGeom prst="rect">
              <a:avLst/>
            </a:prstGeom>
            <a:noFill/>
            <a:ln>
              <a:noFill/>
            </a:ln>
          </p:spPr>
          <p:txBody>
            <a:bodyPr wrap="none" lIns="0" tIns="0" rIns="0" bIns="0" anchor="t" anchorCtr="0">
              <a:spAutoFit/>
            </a:bodyPr>
            <a:lstStyle/>
            <a:p>
              <a:pPr algn="l"/>
              <a:r>
                <a:rPr lang="zh-CN" sz="1350" b="1" dirty="0">
                  <a:solidFill>
                    <a:srgbClr val="2B2D33"/>
                  </a:solidFill>
                  <a:latin typeface="Apple SD Gothic Neo"/>
                  <a:ea typeface="Malgun Gothic"/>
                  <a:cs typeface="Apple SD Gothic Neo"/>
                </a:rPr>
                <a:t>윤리적 해석 주의</a:t>
              </a:r>
            </a:p>
          </p:txBody>
        </p:sp>
        <p:sp>
          <p:nvSpPr>
            <p:cNvPr id="43" name="TextBox 43"/>
            <p:cNvSpPr txBox="1"/>
            <p:nvPr/>
          </p:nvSpPr>
          <p:spPr>
            <a:xfrm>
              <a:off x="6997065" y="5334952"/>
              <a:ext cx="1813560" cy="441960"/>
            </a:xfrm>
            <a:prstGeom prst="rect">
              <a:avLst/>
            </a:prstGeom>
            <a:noFill/>
            <a:ln>
              <a:noFill/>
            </a:ln>
          </p:spPr>
          <p:txBody>
            <a:bodyPr wrap="square" lIns="0" tIns="0" rIns="0" bIns="0" anchor="t" anchorCtr="0"/>
            <a:lstStyle/>
            <a:p>
              <a:pPr algn="l">
                <a:lnSpc>
                  <a:spcPts val="1800"/>
                </a:lnSpc>
              </a:pPr>
              <a:r>
                <a:rPr lang="zh-CN" sz="1050" dirty="0">
                  <a:solidFill>
                    <a:srgbClr val="5C6470"/>
                  </a:solidFill>
                  <a:latin typeface="Apple SD Gothic Neo"/>
                  <a:ea typeface="Malgun Gothic"/>
                  <a:cs typeface="Apple SD Gothic Neo"/>
                </a:rPr>
                <a:t xml:space="preserve">민감한 주제 — 특정 집단에 대한 </a:t>
              </a:r>
              <a:r>
                <a:rPr lang="zh-CN" sz="1050" b="1" dirty="0">
                  <a:solidFill>
                    <a:srgbClr val="E63946"/>
                  </a:solidFill>
                  <a:latin typeface="Apple SD Gothic Neo"/>
                  <a:ea typeface="Malgun Gothic"/>
                  <a:cs typeface="Apple SD Gothic Neo"/>
                </a:rPr>
                <a:t>낙인 효과 방지</a:t>
              </a:r>
              <a:r>
                <a:rPr lang="zh-CN" sz="1050" dirty="0">
                  <a:solidFill>
                    <a:srgbClr val="5C6470"/>
                  </a:solidFill>
                  <a:latin typeface="Apple SD Gothic Neo"/>
                  <a:ea typeface="Malgun Gothic"/>
                  <a:cs typeface="Apple SD Gothic Neo"/>
                </a:rPr>
                <a:t xml:space="preserve">, </a:t>
              </a:r>
              <a:r>
                <a:rPr lang="zh-CN" sz="1050" dirty="0">
                  <a:solidFill>
                    <a:srgbClr val="5C6470"/>
                  </a:solidFill>
                  <a:latin typeface="Apple SD Gothic Neo"/>
                  <a:ea typeface="Malgun Gothic"/>
                  <a:cs typeface="Apple SD Gothic Neo"/>
                </a:rPr>
                <a:t>결과 공개·활용 시 윤리 검토 필수</a:t>
              </a:r>
            </a:p>
          </p:txBody>
        </p:sp>
      </p:grpSp>
      <p:sp>
        <p:nvSpPr>
          <p:cNvPr id="45" name="TextBox 45"/>
          <p:cNvSpPr txBox="1"/>
          <p:nvPr/>
        </p:nvSpPr>
        <p:spPr>
          <a:xfrm>
            <a:off x="11298507" y="6483191"/>
            <a:ext cx="141970" cy="167640"/>
          </a:xfrm>
          <a:prstGeom prst="rect">
            <a:avLst/>
          </a:prstGeom>
          <a:noFill/>
          <a:ln>
            <a:noFill/>
          </a:ln>
        </p:spPr>
        <p:txBody>
          <a:bodyPr wrap="none" lIns="0" tIns="0" rIns="0" bIns="0" anchor="t" anchorCtr="0">
            <a:spAutoFit/>
          </a:bodyPr>
          <a:lstStyle/>
          <a:p>
            <a:pPr algn="r"/>
            <a:r>
              <a:rPr lang="zh-CN" sz="825" dirty="0">
                <a:solidFill>
                  <a:srgbClr val="9AA3AF"/>
                </a:solidFill>
                <a:latin typeface="Apple SD Gothic Neo"/>
                <a:ea typeface="Malgun Gothic"/>
                <a:cs typeface="Apple SD Gothic Neo"/>
              </a:rPr>
              <a:t>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image">
                                      <p:cBhvr>
                                        <p:cTn id="7" dur="400"/>
                                        <p:tgtEl>
                                          <p:spTgt spid="1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400"/>
                                        <p:tgtEl>
                                          <p:spTgt spid="30"/>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image">
                                      <p:cBhvr>
                                        <p:cTn id="23" dur="400"/>
                                        <p:tgtEl>
                                          <p:spTgt spid="3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24" grpId="0"/>
      <p:bldP spid="30" grpId="0"/>
      <p:bldP spid="36" grpId="0"/>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1E3A5F"/>
                </a:gs>
                <a:gs pos="100000">
                  <a:srgbClr val="16293F"/>
                </a:gs>
              </a:gsLst>
              <a:lin ang="2700000" scaled="1"/>
            </a:gradFill>
            <a:ln>
              <a:noFill/>
            </a:ln>
          </p:spPr>
        </p:sp>
        <p:sp>
          <p:nvSpPr>
            <p:cNvPr id="3" name="Rectangle 3"/>
            <p:cNvSpPr/>
            <p:nvPr/>
          </p:nvSpPr>
          <p:spPr>
            <a:xfrm>
              <a:off x="0" y="0"/>
              <a:ext cx="12192000" cy="6858000"/>
            </a:xfrm>
            <a:prstGeom prst="rect">
              <a:avLst/>
            </a:prstGeom>
            <a:gradFill>
              <a:gsLst>
                <a:gs pos="0">
                  <a:srgbClr val="457B9D">
                    <a:alpha val="30000"/>
                  </a:srgbClr>
                </a:gs>
                <a:gs pos="100000">
                  <a:srgbClr val="457B9D">
                    <a:alpha val="0"/>
                  </a:srgbClr>
                </a:gs>
              </a:gsLst>
              <a:path path="circle">
                <a:fillToRect l="50000" t="50000" r="50000" b="50000"/>
              </a:path>
            </a:gradFill>
            <a:ln>
              <a:noFill/>
            </a:ln>
          </p:spPr>
        </p:sp>
      </p:grpSp>
      <p:grpSp>
        <p:nvGrpSpPr>
          <p:cNvPr id="7" name="Group 7"/>
          <p:cNvGrpSpPr/>
          <p:nvPr/>
        </p:nvGrpSpPr>
        <p:grpSpPr>
          <a:xfrm>
            <a:off x="8858250" y="3810000"/>
            <a:ext cx="4191000" cy="4191000"/>
            <a:chOff x="8858250" y="3810000"/>
            <a:chExt cx="4191000" cy="4191000"/>
          </a:xfrm>
        </p:grpSpPr>
        <p:sp>
          <p:nvSpPr>
            <p:cNvPr id="5" name="Ellipse 5"/>
            <p:cNvSpPr/>
            <p:nvPr/>
          </p:nvSpPr>
          <p:spPr>
            <a:xfrm>
              <a:off x="8858250" y="3810000"/>
              <a:ext cx="4191000" cy="4191000"/>
            </a:xfrm>
            <a:prstGeom prst="ellipse">
              <a:avLst/>
            </a:prstGeom>
            <a:solidFill>
              <a:srgbClr val="E63946">
                <a:alpha val="5000"/>
              </a:srgbClr>
            </a:solidFill>
            <a:ln>
              <a:noFill/>
            </a:ln>
          </p:spPr>
        </p:sp>
        <p:sp>
          <p:nvSpPr>
            <p:cNvPr id="6" name="Ellipse 6"/>
            <p:cNvSpPr/>
            <p:nvPr/>
          </p:nvSpPr>
          <p:spPr>
            <a:xfrm>
              <a:off x="9334500" y="5143500"/>
              <a:ext cx="2286000" cy="2286000"/>
            </a:xfrm>
            <a:prstGeom prst="ellipse">
              <a:avLst/>
            </a:prstGeom>
            <a:solidFill>
              <a:srgbClr val="457B9D">
                <a:alpha val="8000"/>
              </a:srgbClr>
            </a:solidFill>
            <a:ln>
              <a:noFill/>
            </a:ln>
          </p:spPr>
        </p:sp>
      </p:grpSp>
      <p:grpSp>
        <p:nvGrpSpPr>
          <p:cNvPr id="11" name="Group 11"/>
          <p:cNvGrpSpPr/>
          <p:nvPr/>
        </p:nvGrpSpPr>
        <p:grpSpPr>
          <a:xfrm>
            <a:off x="720090" y="1299210"/>
            <a:ext cx="5618559" cy="1505902"/>
            <a:chOff x="720090" y="1299210"/>
            <a:chExt cx="5618559" cy="1505902"/>
          </a:xfrm>
        </p:grpSpPr>
        <p:sp>
          <p:nvSpPr>
            <p:cNvPr id="8" name="TextBox 8"/>
            <p:cNvSpPr txBox="1"/>
            <p:nvPr/>
          </p:nvSpPr>
          <p:spPr>
            <a:xfrm>
              <a:off x="746760" y="1299210"/>
              <a:ext cx="593350" cy="243840"/>
            </a:xfrm>
            <a:prstGeom prst="rect">
              <a:avLst/>
            </a:prstGeom>
            <a:noFill/>
            <a:ln>
              <a:noFill/>
            </a:ln>
          </p:spPr>
          <p:txBody>
            <a:bodyPr wrap="none" lIns="0" tIns="0" rIns="0" bIns="0" anchor="t" anchorCtr="0">
              <a:spAutoFit/>
            </a:bodyPr>
            <a:lstStyle/>
            <a:p>
              <a:pPr algn="l"/>
              <a:r>
                <a:rPr lang="zh-CN" sz="1200" b="1" dirty="0">
                  <a:solidFill>
                    <a:srgbClr val="8DA3BB"/>
                  </a:solidFill>
                  <a:latin typeface="Apple SD Gothic Neo"/>
                  <a:ea typeface="Malgun Gothic"/>
                  <a:cs typeface="Apple SD Gothic Neo"/>
                </a:rPr>
                <a:t>결론 및 제언</a:t>
              </a:r>
            </a:p>
          </p:txBody>
        </p:sp>
        <p:sp>
          <p:nvSpPr>
            <p:cNvPr id="9" name="TextBox 9"/>
            <p:cNvSpPr txBox="1"/>
            <p:nvPr/>
          </p:nvSpPr>
          <p:spPr>
            <a:xfrm>
              <a:off x="720090" y="1739265"/>
              <a:ext cx="2902372"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Apple SD Gothic Neo"/>
                  <a:ea typeface="Malgun Gothic"/>
                  <a:cs typeface="Apple SD Gothic Neo"/>
                </a:rPr>
                <a:t xml:space="preserve">위험은 </a:t>
              </a:r>
              <a:r>
                <a:rPr lang="zh-CN" sz="3300" b="1" dirty="0">
                  <a:solidFill>
                    <a:srgbClr val="F4A7AE"/>
                  </a:solidFill>
                  <a:latin typeface="Apple SD Gothic Neo"/>
                  <a:ea typeface="Malgun Gothic"/>
                  <a:cs typeface="Apple SD Gothic Neo"/>
                </a:rPr>
                <a:t>예측 가능</a:t>
              </a:r>
              <a:r>
                <a:rPr lang="zh-CN" sz="3300" b="1" dirty="0">
                  <a:solidFill>
                    <a:srgbClr val="FFFFFF"/>
                  </a:solidFill>
                  <a:latin typeface="Apple SD Gothic Neo"/>
                  <a:ea typeface="Malgun Gothic"/>
                  <a:cs typeface="Apple SD Gothic Neo"/>
                </a:rPr>
                <a:t>하다.</a:t>
              </a:r>
            </a:p>
          </p:txBody>
        </p:sp>
        <p:sp>
          <p:nvSpPr>
            <p:cNvPr id="10" name="TextBox 10"/>
            <p:cNvSpPr txBox="1"/>
            <p:nvPr/>
          </p:nvSpPr>
          <p:spPr>
            <a:xfrm>
              <a:off x="741045" y="2469832"/>
              <a:ext cx="5597604" cy="335280"/>
            </a:xfrm>
            <a:prstGeom prst="rect">
              <a:avLst/>
            </a:prstGeom>
            <a:noFill/>
            <a:ln>
              <a:noFill/>
            </a:ln>
          </p:spPr>
          <p:txBody>
            <a:bodyPr wrap="none" lIns="0" tIns="0" rIns="0" bIns="0" anchor="t" anchorCtr="0">
              <a:spAutoFit/>
            </a:bodyPr>
            <a:lstStyle/>
            <a:p>
              <a:pPr algn="l"/>
              <a:r>
                <a:rPr lang="zh-CN" sz="1650" dirty="0">
                  <a:solidFill>
                    <a:srgbClr val="B9C6D6"/>
                  </a:solidFill>
                  <a:latin typeface="Apple SD Gothic Neo"/>
                  <a:ea typeface="Malgun Gothic"/>
                  <a:cs typeface="Apple SD Gothic Neo"/>
                </a:rPr>
                <a:t>결정 트리 정확도 80.18% — 데이터는 이미 어디에 자원을 보내야 하는지 알고 있습니다.</a:t>
              </a:r>
            </a:p>
          </p:txBody>
        </p:sp>
      </p:grpSp>
      <p:grpSp>
        <p:nvGrpSpPr>
          <p:cNvPr id="15" name="Group 15"/>
          <p:cNvGrpSpPr/>
          <p:nvPr/>
        </p:nvGrpSpPr>
        <p:grpSpPr>
          <a:xfrm>
            <a:off x="762000" y="3429000"/>
            <a:ext cx="3448271" cy="621506"/>
            <a:chOff x="762000" y="3429000"/>
            <a:chExt cx="3448271" cy="621506"/>
          </a:xfrm>
        </p:grpSpPr>
        <p:sp>
          <p:nvSpPr>
            <p:cNvPr id="12" name="Line 12"/>
            <p:cNvSpPr/>
            <p:nvPr/>
          </p:nvSpPr>
          <p:spPr>
            <a:xfrm>
              <a:off x="762000" y="3429000"/>
              <a:ext cx="9525" cy="571500"/>
            </a:xfrm>
            <a:custGeom>
              <a:avLst/>
              <a:gdLst/>
              <a:ahLst/>
              <a:cxnLst/>
              <a:rect l="l" t="t" r="r" b="b"/>
              <a:pathLst>
                <a:path w="9525" h="571500">
                  <a:moveTo>
                    <a:pt x="0" y="0"/>
                  </a:moveTo>
                  <a:lnTo>
                    <a:pt x="0" y="571500"/>
                  </a:lnTo>
                </a:path>
              </a:pathLst>
            </a:custGeom>
            <a:noFill/>
            <a:ln w="38100">
              <a:solidFill>
                <a:srgbClr val="E63946"/>
              </a:solidFill>
            </a:ln>
          </p:spPr>
        </p:sp>
        <p:sp>
          <p:nvSpPr>
            <p:cNvPr id="13" name="TextBox 13"/>
            <p:cNvSpPr txBox="1"/>
            <p:nvPr/>
          </p:nvSpPr>
          <p:spPr>
            <a:xfrm>
              <a:off x="1027748" y="3497104"/>
              <a:ext cx="3182523"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pple SD Gothic Neo"/>
                  <a:ea typeface="Malgun Gothic"/>
                  <a:cs typeface="Apple SD Gothic Neo"/>
                </a:rPr>
                <a:t>제언 1 · 노인 남성 자살 예방 프로그램 최우선 강화</a:t>
              </a:r>
            </a:p>
          </p:txBody>
        </p:sp>
        <p:sp>
          <p:nvSpPr>
            <p:cNvPr id="14" name="TextBox 14"/>
            <p:cNvSpPr txBox="1"/>
            <p:nvPr/>
          </p:nvSpPr>
          <p:spPr>
            <a:xfrm>
              <a:off x="1033462" y="3821906"/>
              <a:ext cx="2541389" cy="228600"/>
            </a:xfrm>
            <a:prstGeom prst="rect">
              <a:avLst/>
            </a:prstGeom>
            <a:noFill/>
            <a:ln>
              <a:noFill/>
            </a:ln>
          </p:spPr>
          <p:txBody>
            <a:bodyPr wrap="none" lIns="0" tIns="0" rIns="0" bIns="0" anchor="t" anchorCtr="0">
              <a:spAutoFit/>
            </a:bodyPr>
            <a:lstStyle/>
            <a:p>
              <a:pPr algn="l"/>
              <a:r>
                <a:rPr lang="zh-CN" sz="1125" dirty="0">
                  <a:solidFill>
                    <a:srgbClr val="8DA3BB"/>
                  </a:solidFill>
                  <a:latin typeface="Apple SD Gothic Neo"/>
                  <a:ea typeface="Malgun Gothic"/>
                  <a:cs typeface="Apple SD Gothic Neo"/>
                </a:rPr>
                <a:t>75세 이상 남성은 전체 평균의 3배 — 가장 확실한 개입 지점</a:t>
              </a:r>
            </a:p>
          </p:txBody>
        </p:sp>
      </p:grpSp>
      <p:grpSp>
        <p:nvGrpSpPr>
          <p:cNvPr id="19" name="Group 19"/>
          <p:cNvGrpSpPr/>
          <p:nvPr/>
        </p:nvGrpSpPr>
        <p:grpSpPr>
          <a:xfrm>
            <a:off x="762000" y="4333875"/>
            <a:ext cx="3812141" cy="621506"/>
            <a:chOff x="762000" y="4333875"/>
            <a:chExt cx="3812141" cy="621506"/>
          </a:xfrm>
        </p:grpSpPr>
        <p:sp>
          <p:nvSpPr>
            <p:cNvPr id="16" name="Line 16"/>
            <p:cNvSpPr/>
            <p:nvPr/>
          </p:nvSpPr>
          <p:spPr>
            <a:xfrm>
              <a:off x="762000" y="4333875"/>
              <a:ext cx="9525" cy="571500"/>
            </a:xfrm>
            <a:custGeom>
              <a:avLst/>
              <a:gdLst/>
              <a:ahLst/>
              <a:cxnLst/>
              <a:rect l="l" t="t" r="r" b="b"/>
              <a:pathLst>
                <a:path w="9525" h="571500">
                  <a:moveTo>
                    <a:pt x="0" y="0"/>
                  </a:moveTo>
                  <a:lnTo>
                    <a:pt x="0" y="571500"/>
                  </a:lnTo>
                </a:path>
              </a:pathLst>
            </a:custGeom>
            <a:noFill/>
            <a:ln w="38100">
              <a:solidFill>
                <a:srgbClr val="457B9D"/>
              </a:solidFill>
            </a:ln>
          </p:spPr>
        </p:sp>
        <p:sp>
          <p:nvSpPr>
            <p:cNvPr id="17" name="TextBox 17"/>
            <p:cNvSpPr txBox="1"/>
            <p:nvPr/>
          </p:nvSpPr>
          <p:spPr>
            <a:xfrm>
              <a:off x="1027748" y="4401979"/>
              <a:ext cx="3546393"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pple SD Gothic Neo"/>
                  <a:ea typeface="Malgun Gothic"/>
                  <a:cs typeface="Apple SD Gothic Neo"/>
                </a:rPr>
                <a:t>제언 2 · 경제 성장과 정신건강 지원은 별도 정책 트랙으로</a:t>
              </a:r>
            </a:p>
          </p:txBody>
        </p:sp>
        <p:sp>
          <p:nvSpPr>
            <p:cNvPr id="18" name="TextBox 18"/>
            <p:cNvSpPr txBox="1"/>
            <p:nvPr/>
          </p:nvSpPr>
          <p:spPr>
            <a:xfrm>
              <a:off x="1033462" y="4726781"/>
              <a:ext cx="2743914" cy="228600"/>
            </a:xfrm>
            <a:prstGeom prst="rect">
              <a:avLst/>
            </a:prstGeom>
            <a:noFill/>
            <a:ln>
              <a:noFill/>
            </a:ln>
          </p:spPr>
          <p:txBody>
            <a:bodyPr wrap="none" lIns="0" tIns="0" rIns="0" bIns="0" anchor="t" anchorCtr="0">
              <a:spAutoFit/>
            </a:bodyPr>
            <a:lstStyle/>
            <a:p>
              <a:pPr algn="l"/>
              <a:r>
                <a:rPr lang="zh-CN" sz="1125" dirty="0">
                  <a:solidFill>
                    <a:srgbClr val="8DA3BB"/>
                  </a:solidFill>
                  <a:latin typeface="Apple SD Gothic Neo"/>
                  <a:ea typeface="Malgun Gothic"/>
                  <a:cs typeface="Apple SD Gothic Neo"/>
                </a:rPr>
                <a:t>HDI가 높을수록 자살률 상승 — 성장이 정신건강을 대신하지 못한다</a:t>
              </a:r>
            </a:p>
          </p:txBody>
        </p:sp>
      </p:grpSp>
      <p:grpSp>
        <p:nvGrpSpPr>
          <p:cNvPr id="23" name="Group 23"/>
          <p:cNvGrpSpPr/>
          <p:nvPr/>
        </p:nvGrpSpPr>
        <p:grpSpPr>
          <a:xfrm>
            <a:off x="762000" y="5238750"/>
            <a:ext cx="3823168" cy="621506"/>
            <a:chOff x="762000" y="5238750"/>
            <a:chExt cx="3823168" cy="621506"/>
          </a:xfrm>
        </p:grpSpPr>
        <p:sp>
          <p:nvSpPr>
            <p:cNvPr id="20" name="Line 20"/>
            <p:cNvSpPr/>
            <p:nvPr/>
          </p:nvSpPr>
          <p:spPr>
            <a:xfrm>
              <a:off x="762000" y="5238750"/>
              <a:ext cx="9525" cy="571500"/>
            </a:xfrm>
            <a:custGeom>
              <a:avLst/>
              <a:gdLst/>
              <a:ahLst/>
              <a:cxnLst/>
              <a:rect l="l" t="t" r="r" b="b"/>
              <a:pathLst>
                <a:path w="9525" h="571500">
                  <a:moveTo>
                    <a:pt x="0" y="0"/>
                  </a:moveTo>
                  <a:lnTo>
                    <a:pt x="0" y="571500"/>
                  </a:lnTo>
                </a:path>
              </a:pathLst>
            </a:custGeom>
            <a:noFill/>
            <a:ln w="38100">
              <a:solidFill>
                <a:srgbClr val="2A9D8F"/>
              </a:solidFill>
            </a:ln>
          </p:spPr>
        </p:sp>
        <p:sp>
          <p:nvSpPr>
            <p:cNvPr id="21" name="TextBox 21"/>
            <p:cNvSpPr txBox="1"/>
            <p:nvPr/>
          </p:nvSpPr>
          <p:spPr>
            <a:xfrm>
              <a:off x="1027748" y="5306854"/>
              <a:ext cx="3557420"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pple SD Gothic Neo"/>
                  <a:ea typeface="Malgun Gothic"/>
                  <a:cs typeface="Apple SD Gothic Neo"/>
                </a:rPr>
                <a:t>제언 3 · 국가별 맞춤 자살 예방 지표 수립에 본 분석 활용</a:t>
              </a:r>
            </a:p>
          </p:txBody>
        </p:sp>
        <p:sp>
          <p:nvSpPr>
            <p:cNvPr id="22" name="TextBox 22"/>
            <p:cNvSpPr txBox="1"/>
            <p:nvPr/>
          </p:nvSpPr>
          <p:spPr>
            <a:xfrm>
              <a:off x="1033462" y="5631656"/>
              <a:ext cx="1993821" cy="228600"/>
            </a:xfrm>
            <a:prstGeom prst="rect">
              <a:avLst/>
            </a:prstGeom>
            <a:noFill/>
            <a:ln>
              <a:noFill/>
            </a:ln>
          </p:spPr>
          <p:txBody>
            <a:bodyPr wrap="none" lIns="0" tIns="0" rIns="0" bIns="0" anchor="t" anchorCtr="0">
              <a:spAutoFit/>
            </a:bodyPr>
            <a:lstStyle/>
            <a:p>
              <a:pPr algn="l"/>
              <a:r>
                <a:rPr lang="zh-CN" sz="1125" dirty="0">
                  <a:solidFill>
                    <a:srgbClr val="8DA3BB"/>
                  </a:solidFill>
                  <a:latin typeface="Apple SD Gothic Neo"/>
                  <a:ea typeface="Malgun Gothic"/>
                  <a:cs typeface="Apple SD Gothic Neo"/>
                </a:rPr>
                <a:t>3개 위험 군집 — 나라마다 다른 처방이 필요하다</a:t>
              </a:r>
            </a:p>
          </p:txBody>
        </p:sp>
      </p:grpSp>
      <p:grpSp>
        <p:nvGrpSpPr>
          <p:cNvPr id="27" name="Group 27"/>
          <p:cNvGrpSpPr/>
          <p:nvPr/>
        </p:nvGrpSpPr>
        <p:grpSpPr>
          <a:xfrm>
            <a:off x="748665" y="6238875"/>
            <a:ext cx="10691812" cy="452437"/>
            <a:chOff x="748665" y="6238875"/>
            <a:chExt cx="10691812" cy="452437"/>
          </a:xfrm>
        </p:grpSpPr>
        <p:sp>
          <p:nvSpPr>
            <p:cNvPr id="24" name="Line 24"/>
            <p:cNvSpPr/>
            <p:nvPr/>
          </p:nvSpPr>
          <p:spPr>
            <a:xfrm>
              <a:off x="762000" y="6238875"/>
              <a:ext cx="10668000" cy="9525"/>
            </a:xfrm>
            <a:custGeom>
              <a:avLst/>
              <a:gdLst/>
              <a:ahLst/>
              <a:cxnLst/>
              <a:rect l="l" t="t" r="r" b="b"/>
              <a:pathLst>
                <a:path w="10668000" h="9525">
                  <a:moveTo>
                    <a:pt x="0" y="0"/>
                  </a:moveTo>
                  <a:lnTo>
                    <a:pt x="10668000" y="0"/>
                  </a:lnTo>
                </a:path>
              </a:pathLst>
            </a:custGeom>
            <a:noFill/>
            <a:ln w="9525">
              <a:solidFill>
                <a:srgbClr val="FFFFFF">
                  <a:alpha val="12000"/>
                </a:srgbClr>
              </a:solidFill>
            </a:ln>
          </p:spPr>
        </p:sp>
        <p:sp>
          <p:nvSpPr>
            <p:cNvPr id="25" name="TextBox 25"/>
            <p:cNvSpPr txBox="1"/>
            <p:nvPr/>
          </p:nvSpPr>
          <p:spPr>
            <a:xfrm>
              <a:off x="748665" y="6477952"/>
              <a:ext cx="1545860" cy="213360"/>
            </a:xfrm>
            <a:prstGeom prst="rect">
              <a:avLst/>
            </a:prstGeom>
            <a:noFill/>
            <a:ln>
              <a:noFill/>
            </a:ln>
          </p:spPr>
          <p:txBody>
            <a:bodyPr wrap="none" lIns="0" tIns="0" rIns="0" bIns="0" anchor="t" anchorCtr="0">
              <a:spAutoFit/>
            </a:bodyPr>
            <a:lstStyle/>
            <a:p>
              <a:pPr algn="l"/>
              <a:r>
                <a:rPr lang="zh-CN" sz="1050" dirty="0">
                  <a:solidFill>
                    <a:srgbClr val="8DA3BB"/>
                  </a:solidFill>
                  <a:latin typeface="Apple SD Gothic Neo"/>
                  <a:ea typeface="Malgun Gothic"/>
                  <a:cs typeface="Apple SD Gothic Neo"/>
                </a:rPr>
                <a:t>감사합니다 · 데이터 분석 프로젝트 발표</a:t>
              </a:r>
            </a:p>
          </p:txBody>
        </p:sp>
        <p:sp>
          <p:nvSpPr>
            <p:cNvPr id="26" name="TextBox 26"/>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5C6470"/>
                  </a:solidFill>
                  <a:latin typeface="Apple SD Gothic Neo"/>
                  <a:ea typeface="Malgun Gothic"/>
                  <a:cs typeface="Apple SD Gothic Neo"/>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400"/>
                                        <p:tgtEl>
                                          <p:spTgt spid="15"/>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image">
                                      <p:cBhvr>
                                        <p:cTn id="15" dur="400"/>
                                        <p:tgtEl>
                                          <p:spTgt spid="1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9" grpId="0"/>
      <p:bldP spid="2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2026-06-11T02:56:50Z</dcterms:created>
  <dcterms:modified xsi:type="dcterms:W3CDTF">2026-06-11T02:56:50Z</dcterms:modified>
  <cp:category/>
  <cp:contentStatus/>
</cp:coreProperties>
</file>